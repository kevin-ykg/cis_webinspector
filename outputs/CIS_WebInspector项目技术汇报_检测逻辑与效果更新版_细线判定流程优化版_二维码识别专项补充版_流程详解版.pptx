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e48de256f743a3" /><Relationship Type="http://schemas.openxmlformats.org/officeDocument/2006/relationships/extended-properties" Target="/docProps/app.xml" Id="R28a6523d747448a6" /><Relationship Type="http://schemas.openxmlformats.org/officeDocument/2006/relationships/officeDocument" Target="/ppt/presentation.xml" Id="R9a0d60f09ab0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4b666195ff4452"/>
  </p:sldMasterIdLst>
  <p:notesMasterIdLst>
    <p:notesMasterId xmlns:r="http://schemas.openxmlformats.org/officeDocument/2006/relationships" r:id="Rbeb3be6ca6e34e37"/>
  </p:notesMasterIdLst>
  <p:sldIdLst>
    <p:sldId xmlns:r="http://schemas.openxmlformats.org/officeDocument/2006/relationships" id="256" r:id="R3fc95bb28e544af5"/>
    <p:sldId xmlns:r="http://schemas.openxmlformats.org/officeDocument/2006/relationships" id="257" r:id="Re51f8197cf6740ad"/>
    <p:sldId xmlns:r="http://schemas.openxmlformats.org/officeDocument/2006/relationships" id="258" r:id="R6567bd4ef3da4bf8"/>
    <p:sldId xmlns:r="http://schemas.openxmlformats.org/officeDocument/2006/relationships" id="259" r:id="R55c44b594cd643e7"/>
    <p:sldId xmlns:r="http://schemas.openxmlformats.org/officeDocument/2006/relationships" id="260" r:id="R365bfe4670b44a3e"/>
    <p:sldId xmlns:r="http://schemas.openxmlformats.org/officeDocument/2006/relationships" id="261" r:id="R9a2cc1c00f034fc2"/>
    <p:sldId xmlns:r="http://schemas.openxmlformats.org/officeDocument/2006/relationships" id="262" r:id="Rd8df355accfa427d"/>
    <p:sldId xmlns:r="http://schemas.openxmlformats.org/officeDocument/2006/relationships" id="263" r:id="R13536b29da074a94"/>
    <p:sldId xmlns:r="http://schemas.openxmlformats.org/officeDocument/2006/relationships" id="264" r:id="R7ac1d9a77f964218"/>
    <p:sldId xmlns:r="http://schemas.openxmlformats.org/officeDocument/2006/relationships" id="265" r:id="R313cf1fd1f174868"/>
    <p:sldId xmlns:r="http://schemas.openxmlformats.org/officeDocument/2006/relationships" id="266" r:id="Rf225db8f574b41ed"/>
    <p:sldId xmlns:r="http://schemas.openxmlformats.org/officeDocument/2006/relationships" id="267" r:id="Rb44fae884caf4297"/>
    <p:sldId xmlns:r="http://schemas.openxmlformats.org/officeDocument/2006/relationships" id="268" r:id="Rbcf807750665447e"/>
    <p:sldId xmlns:r="http://schemas.openxmlformats.org/officeDocument/2006/relationships" id="269" r:id="Rdce9e120e3e14f5e"/>
    <p:sldId xmlns:r="http://schemas.openxmlformats.org/officeDocument/2006/relationships" id="270" r:id="R874b532738bd4eee"/>
    <p:sldId xmlns:r="http://schemas.openxmlformats.org/officeDocument/2006/relationships" id="271" r:id="Redbd593d275047a8"/>
    <p:sldId xmlns:r="http://schemas.openxmlformats.org/officeDocument/2006/relationships" id="272" r:id="R40c88900fdd5417d"/>
    <p:sldId xmlns:r="http://schemas.openxmlformats.org/officeDocument/2006/relationships" id="273" r:id="Re9695c1f352b45ad"/>
    <p:sldId xmlns:r="http://schemas.openxmlformats.org/officeDocument/2006/relationships" id="274" r:id="R55dd0c3d1f8248cb"/>
    <p:sldId xmlns:r="http://schemas.openxmlformats.org/officeDocument/2006/relationships" id="275" r:id="R7f642294390b435c"/>
    <p:sldId xmlns:r="http://schemas.openxmlformats.org/officeDocument/2006/relationships" id="276" r:id="R518e0d6e37764c88"/>
    <p:sldId xmlns:r="http://schemas.openxmlformats.org/officeDocument/2006/relationships" id="277" r:id="R487936f8c7da4e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31b51bb1a4cc2" /><Relationship Type="http://schemas.openxmlformats.org/officeDocument/2006/relationships/slideMaster" Target="/ppt/slideMasters/slideMaster1.xml" Id="R744b666195ff4452" /><Relationship Type="http://schemas.openxmlformats.org/officeDocument/2006/relationships/notesMaster" Target="/ppt/notesMasters/notesMaster1.xml" Id="Rbeb3be6ca6e34e37" /><Relationship Type="http://schemas.openxmlformats.org/officeDocument/2006/relationships/presProps" Target="/ppt/presProps.xml" Id="R9715e51270c54d2d" /><Relationship Type="http://schemas.openxmlformats.org/officeDocument/2006/relationships/tableStyles" Target="/ppt/tableStyles.xml" Id="R521dd962ae1041b5" /><Relationship Type="http://schemas.openxmlformats.org/officeDocument/2006/relationships/slide" Target="/ppt/slides/slide1.xml" Id="R3fc95bb28e544af5" /><Relationship Type="http://schemas.openxmlformats.org/officeDocument/2006/relationships/slide" Target="/ppt/slides/slide2.xml" Id="Re51f8197cf6740ad" /><Relationship Type="http://schemas.openxmlformats.org/officeDocument/2006/relationships/slide" Target="/ppt/slides/slide3.xml" Id="R6567bd4ef3da4bf8" /><Relationship Type="http://schemas.openxmlformats.org/officeDocument/2006/relationships/slide" Target="/ppt/slides/slide4.xml" Id="R55c44b594cd643e7" /><Relationship Type="http://schemas.openxmlformats.org/officeDocument/2006/relationships/slide" Target="/ppt/slides/slide5.xml" Id="R365bfe4670b44a3e" /><Relationship Type="http://schemas.openxmlformats.org/officeDocument/2006/relationships/slide" Target="/ppt/slides/slide6.xml" Id="R9a2cc1c00f034fc2" /><Relationship Type="http://schemas.openxmlformats.org/officeDocument/2006/relationships/slide" Target="/ppt/slides/slide7.xml" Id="Rd8df355accfa427d" /><Relationship Type="http://schemas.openxmlformats.org/officeDocument/2006/relationships/slide" Target="/ppt/slides/slide8.xml" Id="R13536b29da074a94" /><Relationship Type="http://schemas.openxmlformats.org/officeDocument/2006/relationships/slide" Target="/ppt/slides/slide9.xml" Id="R7ac1d9a77f964218" /><Relationship Type="http://schemas.openxmlformats.org/officeDocument/2006/relationships/slide" Target="/ppt/slides/slide10.xml" Id="R313cf1fd1f174868" /><Relationship Type="http://schemas.openxmlformats.org/officeDocument/2006/relationships/slide" Target="/ppt/slides/slide11.xml" Id="Rf225db8f574b41ed" /><Relationship Type="http://schemas.openxmlformats.org/officeDocument/2006/relationships/slide" Target="/ppt/slides/slide12.xml" Id="Rb44fae884caf4297" /><Relationship Type="http://schemas.openxmlformats.org/officeDocument/2006/relationships/slide" Target="/ppt/slides/slide13.xml" Id="Rbcf807750665447e" /><Relationship Type="http://schemas.openxmlformats.org/officeDocument/2006/relationships/slide" Target="/ppt/slides/slide14.xml" Id="Rdce9e120e3e14f5e" /><Relationship Type="http://schemas.openxmlformats.org/officeDocument/2006/relationships/slide" Target="/ppt/slides/slide15.xml" Id="R874b532738bd4eee" /><Relationship Type="http://schemas.openxmlformats.org/officeDocument/2006/relationships/slide" Target="/ppt/slides/slide16.xml" Id="Redbd593d275047a8" /><Relationship Type="http://schemas.openxmlformats.org/officeDocument/2006/relationships/slide" Target="/ppt/slides/slide17.xml" Id="R40c88900fdd5417d" /><Relationship Type="http://schemas.openxmlformats.org/officeDocument/2006/relationships/slide" Target="/ppt/slides/slide18.xml" Id="Re9695c1f352b45ad" /><Relationship Type="http://schemas.openxmlformats.org/officeDocument/2006/relationships/slide" Target="/ppt/slides/slide19.xml" Id="R55dd0c3d1f8248cb" /><Relationship Type="http://schemas.openxmlformats.org/officeDocument/2006/relationships/slide" Target="/ppt/slides/slide20.xml" Id="R7f642294390b435c" /><Relationship Type="http://schemas.openxmlformats.org/officeDocument/2006/relationships/slide" Target="/ppt/slides/slide21.xml" Id="R518e0d6e37764c88" /><Relationship Type="http://schemas.openxmlformats.org/officeDocument/2006/relationships/slide" Target="/ppt/slides/slide22.xml" Id="R487936f8c7da4e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963209599d46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24e0fadf684507" /><Relationship Type="http://schemas.openxmlformats.org/officeDocument/2006/relationships/notesMaster" Target="/ppt/notesMasters/notesMaster1.xml" Id="R01d96e2e17804b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597f2cb1bb4080" /><Relationship Type="http://schemas.openxmlformats.org/officeDocument/2006/relationships/notesMaster" Target="/ppt/notesMasters/notesMaster1.xml" Id="R58696a6d9ed345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787317c394123" /><Relationship Type="http://schemas.openxmlformats.org/officeDocument/2006/relationships/notesMaster" Target="/ppt/notesMasters/notesMaster1.xml" Id="R3c66f0256576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cc09603a724c1d" /><Relationship Type="http://schemas.openxmlformats.org/officeDocument/2006/relationships/notesMaster" Target="/ppt/notesMasters/notesMaster1.xml" Id="Rab11a4263ad5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41c398aabe44b3" /><Relationship Type="http://schemas.openxmlformats.org/officeDocument/2006/relationships/notesMaster" Target="/ppt/notesMasters/notesMaster1.xml" Id="Rc4276796b8db45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138a4ab59b4eb5" /><Relationship Type="http://schemas.openxmlformats.org/officeDocument/2006/relationships/notesMaster" Target="/ppt/notesMasters/notesMaster1.xml" Id="R5347cb9042df4e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204d684b7b4d63" /><Relationship Type="http://schemas.openxmlformats.org/officeDocument/2006/relationships/notesMaster" Target="/ppt/notesMasters/notesMaster1.xml" Id="R4fbd15ab38c143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20ab8c86c24ad9" /><Relationship Type="http://schemas.openxmlformats.org/officeDocument/2006/relationships/notesMaster" Target="/ppt/notesMasters/notesMaster1.xml" Id="R83d8b8d5ec944f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4575665bc8418f" /><Relationship Type="http://schemas.openxmlformats.org/officeDocument/2006/relationships/notesMaster" Target="/ppt/notesMasters/notesMaster1.xml" Id="Re1b3517f683844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5183fe225a4dbb" /><Relationship Type="http://schemas.openxmlformats.org/officeDocument/2006/relationships/notesMaster" Target="/ppt/notesMasters/notesMaster1.xml" Id="Rbfd5388f036649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2e3ecceb244537" /><Relationship Type="http://schemas.openxmlformats.org/officeDocument/2006/relationships/notesMaster" Target="/ppt/notesMasters/notesMaster1.xml" Id="R5c538ab3882d43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7bd164c5c948e1" /><Relationship Type="http://schemas.openxmlformats.org/officeDocument/2006/relationships/notesMaster" Target="/ppt/notesMasters/notesMaster1.xml" Id="R24f87a5e0d5045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5022bb033d4bf8" /><Relationship Type="http://schemas.openxmlformats.org/officeDocument/2006/relationships/notesMaster" Target="/ppt/notesMasters/notesMaster1.xml" Id="R9f646f7026c842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3bbb4aad224288" /><Relationship Type="http://schemas.openxmlformats.org/officeDocument/2006/relationships/notesMaster" Target="/ppt/notesMasters/notesMaster1.xml" Id="Rc659b80d043c47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87e437725d4779" /><Relationship Type="http://schemas.openxmlformats.org/officeDocument/2006/relationships/notesMaster" Target="/ppt/notesMasters/notesMaster1.xml" Id="Re031746393be48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692398056e462e" /><Relationship Type="http://schemas.openxmlformats.org/officeDocument/2006/relationships/notesMaster" Target="/ppt/notesMasters/notesMaster1.xml" Id="Rd4a957afcd2344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0204382d1d434e" /><Relationship Type="http://schemas.openxmlformats.org/officeDocument/2006/relationships/notesMaster" Target="/ppt/notesMasters/notesMaster1.xml" Id="Rec01d8983aba4b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65c18305c54db4" /><Relationship Type="http://schemas.openxmlformats.org/officeDocument/2006/relationships/notesMaster" Target="/ppt/notesMasters/notesMaster1.xml" Id="R294855c1fe1f41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d360c66d19465b" /><Relationship Type="http://schemas.openxmlformats.org/officeDocument/2006/relationships/notesMaster" Target="/ppt/notesMasters/notesMaster1.xml" Id="R8de21d770fa54b1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ae5d8703f64146" /><Relationship Type="http://schemas.openxmlformats.org/officeDocument/2006/relationships/notesMaster" Target="/ppt/notesMasters/notesMaster1.xml" Id="R199d2bb1ace145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eaed179d7b4a64" /><Relationship Type="http://schemas.openxmlformats.org/officeDocument/2006/relationships/notesMaster" Target="/ppt/notesMasters/notesMaster1.xml" Id="R1716d8c46c8c41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c60ece1c8f420d" /><Relationship Type="http://schemas.openxmlformats.org/officeDocument/2006/relationships/notesMaster" Target="/ppt/notesMasters/notesMaster1.xml" Id="R61fe18691b13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本次汇报不展开代码，而是回答四个管理问题：项目解决什么场景、为什么选择当前技术路径、真实数据上达到了什么效果、下一阶段怎样形成长期价值。所有效果图均来自项目实际输入与输出。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系统的输入不是一张完整照片，而是连续线扫帧。软件自动确定一个材料段、拼成大图、对齐到设计空间，再按排版逐件给出检测证据。管理价值在于减少人工串联步骤，并让每个结论都能回看。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这个场景的难点不是单一算法，而是多个坐标体系和多个误差来源叠加。只有把成段、对准、裁切和判定连成闭环，差分结果才有业务意义。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项目价值可以分成质量、效率和长期能力三层。当前已经具备自动处理和结果证据，下一步通过真值数据和在线闭环，把一次性算法能力变成持续运营的质量能力。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这页是全场主线。二维码解决成段，Mark解决大图坐标，SIFT解决零件残余偏差，差分与细线通道解决缺陷判断，最后把结果组织成可复核证据。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选择传统视觉为主不是保守，而是利用项目已有的设计图和物理标记。它的数据成本低、原因可解释、现场调试直接。深度学习可以作为后续补充，但应由标注数据和难例收益驱动。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手机扫码体验说明鲁棒二维码识别是可以实现的。项目已经把 WeChatQRCode 作为主识别器，并针对线扫压缩拉伸和极性做适配。二维码不仅给出文本，还提供分段位置和像素尺度。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全局对准的目标不是一次解决所有形变，而是把 CIS 稳定送入 TIFF 坐标系。上下两排大 Mark 信号强、位置确定，RANSAC 能排除少量误检，因此适合作为默认粗对准。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侧边 Mark 是能力储备，不是默认必选项。对比测试显示它并非所有批次都带来提升，所以当前遵循简单稳定原则：主流程使用 H0，只有证据证明收益时再开启非线性校正。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差分算法对一两个像素的轮廓偏差非常敏感。全局对准只保证大图整体正确，零件级 SIFT 会在每个 ROI 内再消除残差。项目曾尝试更复杂的约束模型，但真实对比显示原路线更稳，因此当前保留效果优先。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普通差分把少印和多印分开处理，便于解释和参数管理。轮廓容差负责降低错位误报，但它也带来细线断裂可能被遮住的问题，下一页解释这次最新优化。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理解为两次检查：第一次处理“假报警”——把因轻微错位产生的边缘轮廓屏蔽掉；第二次处理“真断线”——只检查设计图中原本就存在的细线，看实拍中是否断开。这样不用放开整个边缘区域，也能把藏在屏蔽区里的真实断裂找回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实现逻辑可分为五步。第一，只在原有边缘屏蔽区内检查 TIFF 设计中的细线，不放开普通差分的屏蔽规则。第二，缺口定义为：TIFF 二值图本应有线，而 CIS 细线前景沿模板线方向连续缺失；默认连续长度至少 0.5 mm，模板线宽不超过 2 mm。小于 1 mm 的短缺口还要求存在明显深色核心，降低灰度波动误报。第三，在缺口两侧沿同一条模板骨架寻找方向相反的两段线作为锚点；两侧 CIS 附近前景覆盖率都要达到 40%，表示缺的是中间一段，而不是整条线没有印出、裁切越界或附近恰好为空。第四，尝试用同一个局部平移同时解释缺口和两侧线段；若可以解释，则视为对齐偏差而不报。第五，在模板线周围的窄走廊内检查 CIS 是否仍存在连接两侧的连续路径；若仍连通，也不报。只有缺口长度和线宽达标、两侧线段存在，并且既不能用平移解释、也没有连续连接路径时，才输出细线断裂框。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这组数据完整覆盖了项目主链路。左侧是6张连续帧，右侧是拼接、对准、裁切和检测后的全局结果。它同时包含人工制造的明显缺陷和自然出现的细小断线，适合做当前阶段回归样本。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291是用户明确指出的真实细线断裂。它颜色不如人工缺口那么黑，而且恰好在边缘屏蔽带内。新版通过连续性和两端支撑判断把它检出，紫色框表示来自细线专用通道。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3c5和520在与291相近的位置也出现类似断线。三个零件都被同一正式逻辑检出，说明新通道不是只对一个样本做特例。仍需强调，这只是功能覆盖证据，不是统计准确率。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当前性能数据已经能追踪，但还不是产线承诺。9件、并行8的Debug记录为1.81到2.64秒，且包含单件图像保存。下一步要固定数据、保存策略和Release环境，分开统计SIFT、细线检测与I/O耗时。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管理层可以把这套软件理解成现场质量工作台，而不是算法演示程序。在线和离线共用一套检测逻辑，结果既能在界面展示，也能通过文件和日志留存。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目前最重要的判断是：核心链路和关键难例已经跑通，但还不能把样例成功直接换算为量产准确率。下一阶段的重点应是建立标注真值、固定性能基准和24小时在线长稳。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建议下一阶段按数据、闭环、性能、算法四条线推进。优先级仍然是先有真值、再有稳定节拍、再完成在线交付，最后才用数据判断是否需要更复杂模型。这样能把研发投入转化为可复制的长期质量能力。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 01 到 09 说明当前二维码识别链路。第一阶段先保证看得到二维码：优先检查完整单帧，失败后补齐跨帧视野，并给固定 ROI 留出受限横向保护带。第二阶段处理大多数常规样本：统一灰度和明暗条件，尝试常用纵向尺度；如果仍未解码，再确认图中是否真的存在二维码定位框特征。第三阶段只对有证据的困难样本启动：裁取局部码区，动态处理形变、边缘缺失和低对比黑码，最后把文本、中心和尺寸还原到全图坐标，完成去重与材料分段拼接。任一步识别成功都会立即返回，避免无意义的重复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Services/QrCodeDetector.cs</a:t>
            </a:r>
          </a:p>
          <a:p xmlns:a="http://schemas.openxmlformats.org/drawingml/2006/main">
            <a:r>
              <a:t>- Services/ImageStitcher.cs</a:t>
            </a:r>
          </a:p>
          <a:p xmlns:a="http://schemas.openxmlformats.org/drawingml/2006/main">
            <a:r>
              <a:t>- Models/AppConfig.cs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片均来自项目真实离线图库。左侧样本跨越相邻帧并带有随机形变，通过上一帧尾部和当前帧头部组合后识别；中间样本贴近图像边缘且存在模糊和少量缺失，通过横向保护带、补静区和局部动态尺寸恢复；右侧样本在关闭白墨后变为低对比黑码，通过反极性定位并从原灰度局部图完成解码。这里展示的是当前真实样本回归结果，不将有限样本扩大为整体识别率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C:\Users\EDY\Desktop\二维码无法识别\8</a:t>
            </a:r>
          </a:p>
          <a:p xmlns:a="http://schemas.openxmlformats.org/drawingml/2006/main">
            <a:r>
              <a:t>- C:\Users\EDY\Desktop\白墨关闭</a:t>
            </a:r>
          </a:p>
          <a:p xmlns:a="http://schemas.openxmlformats.org/drawingml/2006/main">
            <a:r>
              <a:t>- Services/QrCodeDetector.cs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274b74964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ed6e64694a47bf" /><Relationship Type="http://schemas.openxmlformats.org/officeDocument/2006/relationships/slideLayout" Target="/ppt/slideLayouts/slideLayout1.xml" Id="R6017e7d2b385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7e7d2b385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b7ab3c2524af1" /><Relationship Type="http://schemas.openxmlformats.org/officeDocument/2006/relationships/image" Target="/ppt/media/image.jpeg" Id="Rb40c3c0d08ad4128" /><Relationship Type="http://schemas.openxmlformats.org/officeDocument/2006/relationships/notesSlide" Target="/ppt/notesSlides/notesSlide1.xml" Id="Rffcfec0c355743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905ce87ed4fe1" /><Relationship Type="http://schemas.openxmlformats.org/officeDocument/2006/relationships/image" Target="/ppt/media/image.png" Id="Rbaf24f91f5da4e1d" /><Relationship Type="http://schemas.openxmlformats.org/officeDocument/2006/relationships/image" Target="/ppt/media/image2.jpeg" Id="R89a0505b788f482b" /><Relationship Type="http://schemas.openxmlformats.org/officeDocument/2006/relationships/notesSlide" Target="/ppt/notesSlides/notesSlide2.xml" Id="R885f2ab903e040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f3c01f5c243b2" /><Relationship Type="http://schemas.openxmlformats.org/officeDocument/2006/relationships/image" Target="/ppt/media/image3.jpeg" Id="R4f8e6068802445ab" /><Relationship Type="http://schemas.openxmlformats.org/officeDocument/2006/relationships/notesSlide" Target="/ppt/notesSlides/notesSlide3.xml" Id="Rbdd5e872d7d84d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97ac07a6543d4" /><Relationship Type="http://schemas.openxmlformats.org/officeDocument/2006/relationships/notesSlide" Target="/ppt/notesSlides/notesSlide4.xml" Id="Rc3e22f4b1b8d4b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23452e61d42ba" /><Relationship Type="http://schemas.openxmlformats.org/officeDocument/2006/relationships/notesSlide" Target="/ppt/notesSlides/notesSlide5.xml" Id="R93578583b5184e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8fe8cfc5a4fe2" /><Relationship Type="http://schemas.openxmlformats.org/officeDocument/2006/relationships/notesSlide" Target="/ppt/notesSlides/notesSlide6.xml" Id="R356690edb2ea48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bdcb5d31d4228" /><Relationship Type="http://schemas.openxmlformats.org/officeDocument/2006/relationships/image" Target="/ppt/media/image4.jpeg" Id="R5887fbebd6b447a5" /><Relationship Type="http://schemas.openxmlformats.org/officeDocument/2006/relationships/notesSlide" Target="/ppt/notesSlides/notesSlide7.xml" Id="Rf474951d457b46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db6b57c924599" /><Relationship Type="http://schemas.openxmlformats.org/officeDocument/2006/relationships/image" Target="/ppt/media/image5.jpeg" Id="Rbcc37935711a4568" /><Relationship Type="http://schemas.openxmlformats.org/officeDocument/2006/relationships/notesSlide" Target="/ppt/notesSlides/notesSlide8.xml" Id="R16b8a31790cc4c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133cc86a04792" /><Relationship Type="http://schemas.openxmlformats.org/officeDocument/2006/relationships/image" Target="/ppt/media/image6.jpeg" Id="R6574e34dfcee49b7" /><Relationship Type="http://schemas.openxmlformats.org/officeDocument/2006/relationships/notesSlide" Target="/ppt/notesSlides/notesSlide9.xml" Id="R1d319267413848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9efbcffcb4137" /><Relationship Type="http://schemas.openxmlformats.org/officeDocument/2006/relationships/image" Target="/ppt/media/image7.jpeg" Id="R75054392d4da4703" /><Relationship Type="http://schemas.openxmlformats.org/officeDocument/2006/relationships/image" Target="/ppt/media/image8.jpeg" Id="R39f228d1370547f8" /><Relationship Type="http://schemas.openxmlformats.org/officeDocument/2006/relationships/notesSlide" Target="/ppt/notesSlides/notesSlide10.xml" Id="Rb8a898fee34e43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5c1a862b14bc7" /><Relationship Type="http://schemas.openxmlformats.org/officeDocument/2006/relationships/image" Target="/ppt/media/image9.jpeg" Id="R1d3c7ad4b32a4b03" /><Relationship Type="http://schemas.openxmlformats.org/officeDocument/2006/relationships/notesSlide" Target="/ppt/notesSlides/notesSlide11.xml" Id="R5df3fde6da2147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ab118f2444711" /><Relationship Type="http://schemas.openxmlformats.org/officeDocument/2006/relationships/image" Target="/ppt/media/image3.jpeg" Id="R355c6d1e7c6546be" /><Relationship Type="http://schemas.openxmlformats.org/officeDocument/2006/relationships/notesSlide" Target="/ppt/notesSlides/notesSlide12.xml" Id="Rdb0340f54a664f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9ede76f2f472b" /><Relationship Type="http://schemas.openxmlformats.org/officeDocument/2006/relationships/image" Target="/ppt/media/image7.jpeg" Id="Ra7d0d3d50ac94c4f" /><Relationship Type="http://schemas.openxmlformats.org/officeDocument/2006/relationships/image" Target="/ppt/media/image8.jpeg" Id="R163e0fa668c24e54" /><Relationship Type="http://schemas.openxmlformats.org/officeDocument/2006/relationships/notesSlide" Target="/ppt/notesSlides/notesSlide13.xml" Id="R0ad1284eb92e42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29cc1c246403e" /><Relationship Type="http://schemas.openxmlformats.org/officeDocument/2006/relationships/image" Target="/ppt/media/image.png" Id="R73688f8c3bf0431a" /><Relationship Type="http://schemas.openxmlformats.org/officeDocument/2006/relationships/image" Target="/ppt/media/image2.jpeg" Id="Ra25cbf9a76d343b0" /><Relationship Type="http://schemas.openxmlformats.org/officeDocument/2006/relationships/notesSlide" Target="/ppt/notesSlides/notesSlide14.xml" Id="Rc1f5d5c4c6f54e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809bee2c14669" /><Relationship Type="http://schemas.openxmlformats.org/officeDocument/2006/relationships/image" Target="/ppt/media/image7.jpeg" Id="R2765f5ae3b9c45ea" /><Relationship Type="http://schemas.openxmlformats.org/officeDocument/2006/relationships/image" Target="/ppt/media/image8.jpeg" Id="Rb555f3a78c6f49c3" /><Relationship Type="http://schemas.openxmlformats.org/officeDocument/2006/relationships/notesSlide" Target="/ppt/notesSlides/notesSlide15.xml" Id="Rd5181d0830b44d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0258d3ba144c3" /><Relationship Type="http://schemas.openxmlformats.org/officeDocument/2006/relationships/image" Target="/ppt/media/image7.jpeg" Id="Ra859a5ca57c5478f" /><Relationship Type="http://schemas.openxmlformats.org/officeDocument/2006/relationships/image" Target="/ppt/media/image8.jpeg" Id="R451c0bfe917c4a4b" /><Relationship Type="http://schemas.openxmlformats.org/officeDocument/2006/relationships/notesSlide" Target="/ppt/notesSlides/notesSlide16.xml" Id="Rd34d9a81b46a46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b8f1a8523462c" /><Relationship Type="http://schemas.openxmlformats.org/officeDocument/2006/relationships/notesSlide" Target="/ppt/notesSlides/notesSlide17.xml" Id="Ref0a188cdd9840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41f4c47224b4e" /><Relationship Type="http://schemas.openxmlformats.org/officeDocument/2006/relationships/notesSlide" Target="/ppt/notesSlides/notesSlide18.xml" Id="R68aaf791234b49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e6313597e4b3e" /><Relationship Type="http://schemas.openxmlformats.org/officeDocument/2006/relationships/notesSlide" Target="/ppt/notesSlides/notesSlide19.xml" Id="R73f4c37334d74b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24ca21be24fe8" /><Relationship Type="http://schemas.openxmlformats.org/officeDocument/2006/relationships/notesSlide" Target="/ppt/notesSlides/notesSlide20.xml" Id="Rc08f0be0ccfa4db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0d4db6bd94e37" /><Relationship Type="http://schemas.openxmlformats.org/officeDocument/2006/relationships/notesSlide" Target="/ppt/notesSlides/notesSlide21.xml" Id="R7c35b12d5dc04f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a3b4b74a5421c" /><Relationship Type="http://schemas.openxmlformats.org/officeDocument/2006/relationships/image" Target="/ppt/media/image2.png" Id="R845be1d5a6154aa4" /><Relationship Type="http://schemas.openxmlformats.org/officeDocument/2006/relationships/image" Target="/ppt/media/image3.png" Id="R5381c7c15db24e3f" /><Relationship Type="http://schemas.openxmlformats.org/officeDocument/2006/relationships/image" Target="/ppt/media/image4.png" Id="R71de1fdb811040f5" /><Relationship Type="http://schemas.openxmlformats.org/officeDocument/2006/relationships/notesSlide" Target="/ppt/notesSlides/notesSlide22.xml" Id="Ra5f01dade53644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c3c0d08ad4128"/>
          <a:srcRect xmlns:a="http://schemas.openxmlformats.org/drawingml/2006/main" l="0" t="800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4000500"/>
            <a:ext cx="12192000" cy="28575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E41F-EF80-4F2B-9506-5BAE8F0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D4447-C209-4163-A037-5002A05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62725"/>
            <a:ext cx="1203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 · 真实 CIS 输入帧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3A93-C23B-457E-B944-8B7DF2A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470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D244-1384-45AB-B22D-3304B36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DD7BB-93F5-46BA-839B-882976FA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88323-7482-40BF-A955-98FDF80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项目阶段汇报 · 管理层版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1279-6E10-45A5-ABAE-D67765E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线扫膜片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缺陷检测系统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3AB1-C4A7-4114-8524-82FC0C8D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从连续采集、自动对准到细小轮廓断裂检出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CF9CA-848F-4510-B92E-5FC1268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1E2AE-C96D-4A75-A956-6B36017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BED3F-EEF5-469B-8AC7-10B70444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912D-36BE-45F0-BFD1-11E48A9F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402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整体检测逻辑、技术路径选择、真实效果与长期迭代价值。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BC256-7C3E-4D1A-95F9-899E64A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真实数据：moreMarks\6 · 当前版本：2026-07-20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CBFC9-F8B3-435D-B280-8461E0A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0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2026-07-20</a:t>
            </a:r>
          </a:p>
        </p:txBody>
      </p:sp>
    </p:spTree>
    <p:extLst>
      <p:ext uri="{BB962C8B-B14F-4D97-AF65-F5344CB8AC3E}">
        <p14:creationId xmlns:p14="http://schemas.microsoft.com/office/powerpoint/2010/main" val="146062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系统已经形成可运行的检测闭环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来源：moreMarks\6、当前检测流程与真实输出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24f91f5da4e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自动检测主线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0505b788f48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零件级检测结果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逐件缺陷框、全局结果图、设计/实拍/差异证据，以及可追溯日志。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传统人工与单帧算法难以覆盖连续膜片检测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真实帧与当前检测流程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e6068802445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单帧只能看到连续材料的一段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连续材料不是静态图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必须从多帧中恢复二维码之间的完整材料段，才能进入排版检测。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设计与实拍坐标不同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扫描倾斜、尺度和材料形变，使 CIS 实拍无法直接与 TIFF 做差分。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轮廓细、缺陷小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真实断线可能落在轮廓边缘，既容易被错位误报淹没，也容易被屏蔽漏掉。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结果必须可追溯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不仅要给出 Pass/Fail，还要定位到零件并保留设计、实拍和差异证据。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项目目标：稳定完成质量闭环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来源：当前功能、真实运行结果与现场需求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检出真实缺陷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覆盖断墨、漏印、多印、脏污与细小轮廓断裂。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压低轮廓误报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全局与零件级对准配合形态学容差，吸收残余错位。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保留复核证据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逐件保存设计、实拍、差异与缺陷框，支持追溯。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效率价值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连续帧自动成段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二维码定义开始与结束，自动拼出完整检测段。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批量零件自动处理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按排版坐标裁切零件，并行执行精对准与检测。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性能持续可测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批次记录耗时、P50/P95、缓存命中与内存变化。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参数化适配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适配不同图库、排版、检测尺度与工艺参数。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数据资产沉淀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持续积累真实缺陷、正常样本、配置与运行基线。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未来可扩展新图案、新材料和数据驱动算法。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项目价值不止一次检测，而是形成可复制、可追溯、可持续优化的质量平台。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检测逻辑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一条流水线完成从连续帧到缺陷结论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来源：当前完整检测作业流程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 / 回放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QR 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分段锚点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段拼接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完整大图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排版与 Alpha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8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粗对准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H0 全局空间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零件裁切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 ROI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精对准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逐件仿射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4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 + 细线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内外缺陷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汇总 / 保存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全局与逐件证据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1087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质量控制原则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EC5E37-9025-44E1-AFBD-CB033714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76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422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关键节点记录状态；增强功能失败明确降级；不在证据不足时静默给出高置信结论。</a:t>
            </a:r>
          </a:p>
        </p:txBody>
      </p:sp>
    </p:spTree>
    <p:extLst>
      <p:ext uri="{BB962C8B-B14F-4D97-AF65-F5344CB8AC3E}">
        <p14:creationId xmlns:p14="http://schemas.microsoft.com/office/powerpoint/2010/main" val="127731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7AB55-1A1D-4142-84F3-ED83BCE3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445D9-738B-4525-A133-5461AD8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854C-E436-471D-B6F0-FD948B9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技术路径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6C8C-E6E2-49A7-B115-CDB8C73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技术选择以可解释、可落地、可迭代为原则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E2890-A082-47FE-A0F2-01CC94AC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94B2B-B9E6-45D2-BA0E-B8CC431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来源：项目现状、对比试验与工程约束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9310E-8DCD-4B31-A91B-C21A7E2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8ACDE-89D8-486A-8392-A22C42E7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335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EA6A0-AB1C-4037-BCD0-A944B93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C2DAA-1581-4D39-B06E-0033A3B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718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24DAD-06E3-4D9C-853B-4B6463D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910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9FE33-8127-47BF-B1B4-48676BF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1CF6-B6E2-46E0-BD6C-2F4AB65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97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472BC-092E-47C2-9A1C-F4AEBCF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业务锚点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C56C4-320A-456F-920A-B66303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002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二维码与物理 Mark 把连续材料转成有边界、有尺度的检测段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A1ADA-A3A5-41C6-8E25-65419D1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E6A29-37B7-46F6-A1C4-E6E4E697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6B31A-3DF2-48CC-A33A-67AA818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全局几何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15E5E-8867-4CF8-BD63-89A8941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RANSAC Homography 解决位置、旋转、尺度与透视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B0A31-92CC-4939-A54D-35F6916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753CF-C464-4B8D-86F6-C8BB733B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D7295-EBAE-4357-B478-7BA02DC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局部精配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AE8B1-C462-466D-B4B0-B8D5B96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SIFT + RANSAC + 仿射吸收零件级残余偏差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5EC63-0268-4D20-9F1E-B0FB332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3B95B-5014-4B3D-81CA-B0F3806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B0BBB-76DF-4F9A-ABF7-90222A47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464F1-83A0-4257-AEE9-0883DE4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普通差分控制少印/多印，独立连续性通道保护细线断裂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6FABC-D0FD-48AC-A42B-9F1C530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06D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6828C-7908-41C5-8D2D-5F9FD5A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40958-768E-4642-80F7-5DA7321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工程保障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CD232-C96E-4F66-BBFC-D7ABA1D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参数、日志、图像证据与性能基线支撑复现和迭代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58CDF-85CA-47A6-9E44-F88ACB6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当前不以纯深度学习为主：标注数据不足，而 TIFF 设计图提供了高价值、可解释的先验。</a:t>
            </a:r>
          </a:p>
        </p:txBody>
      </p:sp>
    </p:spTree>
    <p:extLst>
      <p:ext uri="{BB962C8B-B14F-4D97-AF65-F5344CB8AC3E}">
        <p14:creationId xmlns:p14="http://schemas.microsoft.com/office/powerpoint/2010/main" val="1109635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AE2FC-94D0-4AEC-A33D-DF27BB0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6419-9BD0-47E1-BA03-917C392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C2885-89F6-447F-886D-CFBD373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2AB52-0240-46AC-BB34-75C7BB2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二维码是分段锚点，鲁棒性优先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47DDF-080F-4F28-8518-47D6817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2B897-313A-4E22-A66F-7C37626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真实帧与当前二维码模块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5FA82-3A3D-4FD5-95EA-565771A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D207-C238-41C9-B51F-5CFAEED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478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5C64-9942-4D90-AED2-A408A7E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D385D-95D4-499A-A789-AF038DA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FAF7C-7F86-445C-A9A8-C6F3FCC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EBCF2-AF82-44DD-99A6-C7153DBF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28D68-130A-43BC-912C-F6286E1F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06031-E46A-42CF-AC97-EFC56B3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1. 固定检测区域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41F25-D0C8-409D-90B3-14A488F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减少背景干扰与无效计算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7FED5-E270-4187-B84C-08AE4AB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833E6-3242-447E-A94D-C4919F2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C143F-2DE2-4CA9-BF24-BCC7823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2. 灰度与极性适配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401EA-3492-46D2-86A0-63B4DA7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兼容亮码、暗码和灰底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7FCFA-C358-47A8-BFC4-6690017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D412F-E6AA-4EC1-8B88-FCCD270D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18E73-C83C-4BC1-84D6-A75CFFB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3. 压缩拉伸候选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6E26-38EC-4027-8377-CA1259D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覆盖线扫方向几何形变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2BF50-6135-4869-98E0-49C0734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02E90-E7BE-489A-A8D8-3DAF587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38680-0229-491A-9AF6-4A47BC6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4. WeChatQRCode 解码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9E885-91E2-4807-AD67-642E4E9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直接作为主识别器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AF7A1-4A15-4B72-B6F5-1F365E6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0FF8B-AFD6-4B70-BC7C-5EAA9A0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574AD-DCA7-4BDA-8BE8-59ADC42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5. 映射回全图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EA39D-23F2-4015-AB13-1D5C3D4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输出中心、宽高与全局位置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7fbebd6b447a5"/>
          <a:srcRect xmlns:a="http://schemas.openxmlformats.org/drawingml/2006/main" l="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38550" y="1428750"/>
            <a:ext cx="4762500" cy="2952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7B987-4B11-4FFE-8B92-672BFF7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4812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6DAF1-72B3-4639-9024-944C765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真实帧：二维码同时承担段边界和尺度锚点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C4A3A-78CE-4A21-8686-0709DEE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5D502-3A21-4086-BC86-E90A7EA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430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 个二维码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076AC9-C18C-4B91-B79E-E49C50F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定义完整材料段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320EC9-9AA1-4A70-A978-9238E7B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EF0D7-B488-40DA-8054-DA745EB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多组候选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CB66D-72AF-4FE7-96B6-82EA14E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覆盖压缩与拉伸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C7521-A91F-40F6-976C-C159407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AC801F-A136-441E-8FAB-43688EC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主识别器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BD2C2C-3355-4CB3-A164-9A9B652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不作为失败后备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BB98DE-5153-4282-A0F2-439B7A0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77533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28BF0A-E0C9-4B86-95B5-B521CB9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7CA60-D4B1-487F-9118-6D36379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96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CFBB9-528A-4F88-A3A0-7F5F704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9112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不采用“其他识别器失败后再调用”的重复路径：无二维码帧直接返回，流程更简单，结果口径更统一。</a:t>
            </a:r>
          </a:p>
        </p:txBody>
      </p:sp>
    </p:spTree>
    <p:extLst>
      <p:ext uri="{BB962C8B-B14F-4D97-AF65-F5344CB8AC3E}">
        <p14:creationId xmlns:p14="http://schemas.microsoft.com/office/powerpoint/2010/main" val="1486998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867A3-2DB9-40F6-BA1C-A4BD1F6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B5EED-5C9B-4F27-BCC2-9CDE2EA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1658-EAE6-4570-823F-4A5570F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F6FD3-8CFD-4D96-BF89-A6EE9EF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全局对准先解决“大方向正确”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B62D-D6CE-4D9F-92E0-62D6901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F4CD8-4846-404F-8678-A59CD5D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来源：上下两排 20 mm Mark 与当前 H0 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4EB1-7DEC-4BC6-868B-2E8967C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37935711a4568"/>
          <a:stretch xmlns:a="http://schemas.openxmlformats.org/drawingml/2006/main"/>
        </p:blipFill>
        <p:spPr>
          <a:xfrm xmlns:a="http://schemas.openxmlformats.org/drawingml/2006/main">
            <a:off x="1613365" y="1428750"/>
            <a:ext cx="2545421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63998-7D76-4FD9-B5E4-313D692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4667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F019E-38E0-4D91-B9EB-39826C1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变换后的真实 CIS 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0AE8-9D86-4E1B-9C4A-8C65296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686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4C4C-8EAD-44F2-BB65-F12E5DB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2C55B-8C94-4583-9218-65597BD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81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物理基准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3F2A0-E849-4891-AAA4-295CF552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Y = 50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Y = 970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Mark 直径 = 20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pxPerMm = 300 / 25.4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41802-3188-4C1F-8F41-B96C46B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2E11C-A6EC-4890-9F68-2B1EF24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338C-5B27-4EEF-98A0-E8A1A69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扫描基准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BFD8A-1CDB-4214-B534-5B1D4C94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876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= 第二个 QR 在拼接段内的 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= 下排 − 920 × (QR高/60)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31C90-0C37-4FA6-AC0A-7FDF043F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567D7-D3D7-4D31-8281-417E751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427B1-2892-49BF-932A-24CCFFF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BF101-BE45-498E-92CE-A82168C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5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预测 Mark 区域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88821-92C4-4A7B-9E92-56A1D25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只在有规律的位置检测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377EB-7D6A-4AC8-A4D7-96D893C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171F-07A7-44E4-8550-3163744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826F7-0C18-4CD5-9B24-721EBC3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D508B-28B2-452A-9EA3-F29C4865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识别并配对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2CEA8-C532-42A5-BEBC-EF38102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圆度、直径与排列关系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36FBE-1EE7-489D-A8C2-975F371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866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3E61C-4549-42EB-9596-0ED66B0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69707-11B6-4619-B2D3-7504831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23A52-CEB4-4A90-9FBD-9228398E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3380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6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H0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796AD-DF95-41DE-B464-C80A295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814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剔除异常点后拟合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1D30C1-6CE5-4D79-8145-EDFC4BC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21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93E2B-237C-4035-9E4A-C9F01E1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863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对准失败必须有明确状态，不用错误矩阵继续检测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BAF04-C1AE-482F-AA50-72C5E09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10200"/>
            <a:ext cx="598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H0 稳定、解释清楚，是当前默认全局模型；局部残差交给零件级精对准处理。</a:t>
            </a:r>
          </a:p>
        </p:txBody>
      </p:sp>
    </p:spTree>
    <p:extLst>
      <p:ext uri="{BB962C8B-B14F-4D97-AF65-F5344CB8AC3E}">
        <p14:creationId xmlns:p14="http://schemas.microsoft.com/office/powerpoint/2010/main" val="1585955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D66DD9-EFA8-40AB-876B-FBD3B37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9F77C-3284-4B32-8ED9-299C2D8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3CB9-8AD5-4158-9614-A513A52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可选增强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BCB4-A283-4274-84E0-72FA1D3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9 对 Mark：保留能力，默认关闭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94E73-2723-4AFB-93B4-4F36B1C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D588C-3328-47D1-9E72-30B5D9E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来源：当前侧边 Mark 实现、对比测试与配置开关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D866-CE03-44F9-801B-39C1FA6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4e34dfcee49b7"/>
          <a:stretch xmlns:a="http://schemas.openxmlformats.org/drawingml/2006/main"/>
        </p:blipFill>
        <p:spPr>
          <a:xfrm xmlns:a="http://schemas.openxmlformats.org/drawingml/2006/main">
            <a:off x="1383990" y="1428750"/>
            <a:ext cx="309942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7FCC8-90DE-4401-82D9-6FC5C00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D1F73-72F1-4512-AE97-A67DA3E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 CIS 侧边 Mark 与控制网格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CA4C6-A0F8-4E7C-8F14-45E59A0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F70B-6B41-44B5-A311-9CF7145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52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ED75-4293-48F8-8F76-05259CC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35EBF-AAD2-43CF-9F30-94F4535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050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1BCF-AC9C-4824-9ECD-54B51AB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6198D-BBF0-4706-938C-A32E673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37C0A-6EE4-4B65-9063-F390257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4204E-F1E4-4969-8AC6-BFA5C6E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99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60A7C-189F-4135-A7C2-48D1CCE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8704-B65C-49DD-AAE3-F65CD4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624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FAFFF-0691-48BD-8116-395116F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386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80EEE-7741-4244-AADD-F77228D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B7C80-8B9D-427E-9E3D-97362BF7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8FACA-EFC6-46EF-A342-5C0F0B5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9D021-8852-4913-895D-09587B8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左侧实测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747E6-36D3-442F-A973-F217792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14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中心保持 H0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C0F0C-6434-495D-9140-FCDC5B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右侧实测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5E7B9-C645-405F-B36B-9D60BFC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6955E-BAE6-433E-B971-716519E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F12BC-BA27-4D87-9155-9F84597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03124-F956-4DFF-A7BA-5027219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膜片边缘热胀冷缩明显、且多层小 Mark 检测稳定时，用于描述边缘非线性残差。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17A2C-ED0E-4718-BA1B-D6E33B3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FF61A-F9E0-458F-B167-7B6E60F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4DC34-CBE4-4D94-9A42-6975098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校正机制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78E73-D8E3-4497-9346-32944B0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左右残差向中心平滑衰减；中心区域继续沿用 H0，避免用边缘形变猜测中部。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1423E-7F6C-4AE3-9341-29EB8EE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724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164C2-D261-4D86-B33F-33FDED4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BCA4A6-EF86-4A02-A166-617D61D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门控与降级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8C3A22-47AB-4169-9357-CBAB5A7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81625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有效点不足、网格不平滑或存在翻折时，明确回退 H0，不让增强功能降低稳定性。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7211E-87D8-4EDB-836A-04AE5F3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2952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0C3BE-7899-4362-AF8B-B7C20F6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4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实测提升并不稳定：当前默认关闭，通过开关保留后续数据化评估能力</a:t>
            </a:r>
          </a:p>
        </p:txBody>
      </p:sp>
    </p:spTree>
    <p:extLst>
      <p:ext uri="{BB962C8B-B14F-4D97-AF65-F5344CB8AC3E}">
        <p14:creationId xmlns:p14="http://schemas.microsoft.com/office/powerpoint/2010/main" val="2143640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 SIFT 精对准，决定差分质量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零件模板、CIS 实拍与对比验证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54392d4da47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设计零件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228d1370547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后 CIS 零件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统一尺度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控制计算量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提取特征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设计 / 实拍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匹配筛选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去除弱匹配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Lowe 0.6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剔错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排除错误对应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仿射对齐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消除局部残差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Cubic Warp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为什么有效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 H0 后仍会残留零件级平移、旋转和轻微尺度差；逐件精对准能显著减小轮廓差分。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为什么保留原路线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多轮对比表明原 SIFT + RANSAC + 仿射路径更稳定；优化重点转向缓存、并行和资源释放。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技术选择：不为了“算法更新”牺牲已验证的对准效果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AC184-EA64-494B-9C35-029AE19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BCD84-3C21-4D39-8F24-9AD5E07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B7D2B-8E04-488A-A671-41471DD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72BBE-BF0F-475E-8A05-97A8940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差分检测同时处理“少印”和“多印”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DC16-CD4A-4B1A-8B6C-8FAC59F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BA1AB-87C2-40C2-84A1-776C459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真实零件三联结果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61B19-0326-43EB-A5C4-DC8F819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c7ad4b32a4b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2450" y="2056139"/>
            <a:ext cx="6286500" cy="2117071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00404-79B3-4A0F-938B-CF51FE7C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628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D127D-3260-438E-B6AF-42135BE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613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真实证据链：设计二值图 / CIS 判定图 / 差分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C8638-05D1-4526-9959-BE5EE52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1FEB1-3E49-4406-B332-88515CA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869AC-F76E-4B44-ACC1-1FBCD8F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内部缺失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B6B69-CF02-4EC6-B865-E772BFD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dilate(CIS)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Alpha − CISdilate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断墨 / 漏印候选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1715D-73B3-4D54-8452-CAC8A2C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2152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F680C-1154-49E0-BC37-5F5BD085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A836-7FCE-4B09-BE95-7B8E85E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81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外部多余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E764B-FF24-4152-9FDB-FF24E6A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5262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dilate(Alpha)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− Alphadilate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飞墨 / 脏污候选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00F99-520C-47CF-9ED7-69BBA7E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419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97636-3C84-43EF-B3EF-DCC65F1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88BD1-5189-4711-B4B0-8A2836A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轮廓容差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E33DD-0D0A-4D71-826D-D0BA4F82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67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对设计轮廓设置内外容差，吸收无法完全消除的重采样和配准误差。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FF063-6A7E-4AEA-B9FD-3EAB66C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4419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48B22-4799-45BE-B9B5-FF8AE304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35F9C-8CDB-47B8-8958-BF99782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D936C-46C8-485E-B31E-76B96B6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387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输出候选位置、面积和数量，并在同一张图中保留缺陷框与差异证据。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531D2-3B94-4790-B52C-DB5FADC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600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6C2F33-8815-4E91-ADC9-A97161D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普通差分通道负责稳定控制大多数少印、多印与脏污缺陷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0ACC4-BA50-424C-BC0A-AECC1FE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细小轮廓断裂由独立连续性通道补充，避免与普通面积规则相互牵制</a:t>
            </a:r>
          </a:p>
        </p:txBody>
      </p:sp>
    </p:spTree>
    <p:extLst>
      <p:ext uri="{BB962C8B-B14F-4D97-AF65-F5344CB8AC3E}">
        <p14:creationId xmlns:p14="http://schemas.microsoft.com/office/powerpoint/2010/main" val="1149236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既要抑制轮廓误报，也不能漏掉真实断线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真实细线断裂样例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c6d1e7c6546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左：TIFF 设计细线｜右：CIS 实拍断裂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误报来自轮廓错位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即使完成二次配准，重采样和轻微形变仍可能在边缘留下细轮廓。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传统措施是边缘屏蔽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内外轮廓容差能显著压低误报，是普通差分稳定运行的基础。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新风险是遮住真断线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原图案本身很细，断裂恰好位于屏蔽带内时，普通差分会被清零。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先减误报，再查断线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先屏蔽边缘假轮廓，减少误报；再单独检查设计细线是否断开，补回真实缺陷。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最新优化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细线断裂的判定：中间缺一段，两侧仍有线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来源：FineLineFolder6Probe 与正式检测结果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0d3d50ac94c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假缺口：错位后仍然连通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e0fa668c24e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真断裂：中间确实缺一段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只看屏蔽区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内的设计细线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定义缺口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有线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连续缺失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确认尺寸门槛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长度≥0.5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线宽≤2 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确认两侧线段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缺口前后
都有同一条线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排除假断线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平移或连通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则不报缺陷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缺口的具体定义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本应有细线，而 CIS 沿线方向连续少了一段；该段达到最小长度，并且属于细线范围。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“两侧仍有线”是什么意思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沿同一条设计线，缺口前后都还有线段，CIS 两侧也能看到对应线条；说明只是中间断开，不是整条线消失。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最终判定：缺口达标 + 两侧线段存在 + 无法用平移或绕行连接解释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moreMarks\6：用真实连续帧验证完整链路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来源：E:\南京爱速智\CIS\moreMarks\6 与 20260720_102208 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88f8c3bf043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6 张 CIS 连续帧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完整处理链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cbf9a76d343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全局结果图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 张全局结果、9 个零件结果，以及逐件 TIFF / CIS / Alpha / 差分证据。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291：右侧细线断裂被定位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291c1994cb7048d0a3ff72fffc3c15c4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5f5ae3b9c45ea"/>
          <a:srcRect xmlns:a="http://schemas.openxmlformats.org/drawingml/2006/main" l="92500" t="43000" r="500" b="4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原图断裂近景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5f3a78c6f49c3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正式检测框选结果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真实断裂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局部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位于右侧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与设计细线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落在边缘带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易漏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连续性复核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缺口两端仍连通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输出坐标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进入缺陷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检出意义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该缺口位于原轮廓屏蔽区域，过去可能被清零；现在由独立细线通道补回。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不是只看灰度深浅，而是同时检查设计细线、连续缺口长度和两端结构支撑。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紫色框：细线断裂通道输出｜样例来源：moreMarks\6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相近位置断裂，在多个零件中一致检出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3c5cf1e3... 与 52097092...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9a5ca57c5478f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3c5 零件右侧断裂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c0bfe917c4a4b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520 零件右侧断裂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 个零件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含前页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右侧中部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轮廓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相同类型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细线连续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均进入细线通道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紫色框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一致性观察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291、3c5、520 在相近位置出现类似断线，正式检测结果均给出细线断裂框。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业务意义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跨零件重复出现的同类缺口，比单个孤立像素更值得质量人员重点复核。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当前结论只证明这些样例被覆盖，不等同于整体准确率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07C7F8-856C-40FF-8A37-983370C2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45CA0-05A1-48E4-85C8-7DB2F3B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5D6A7-26E9-4ED6-B8E0-1BD47A10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AB82-FE0B-4CB9-8703-C72DD13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性能已经可量化，下一步是收敛现场节拍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87DF1-B32E-46DF-9D98-4B20C4D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4BE7-681A-4560-876B-9A1ED17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来源：PerformanceBaselines.csv 与 2026-07-20 构建验证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5EB86-1B79-4B25-AABF-8A558D4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4F87F-1390-4B27-97BE-136512F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413F-8768-4B5F-98E6-5B071D7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81520-CEB8-460C-B86C-3B314DE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728F-D012-4F07-BE4B-D3B4A10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C512A-2624-4B9A-9330-E0138C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零件并行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CCD6C-2C41-44F1-BCC9-DEAA7237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AFF6A-5D3E-4730-9B4E-25878CA9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SIFT 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7FA07-CBD0-4753-9E33-30E2078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9F1CD-82B2-4307-B2B4-5DEF7A9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5AFC5-C2AF-40A6-8D4F-92545198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8750"/>
            <a:ext cx="1600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E5903-AD68-4E71-B095-2E00910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38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结果保存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5087C-F0D5-403A-A4D2-38E690B1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3709D-224F-439B-A5A1-5AEBB8C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0FAC-7CC3-4709-B5F4-0FAC694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待检零件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73D13-6F55-4507-9D48-6A546D3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8288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 ROI 分配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20B8-8596-4435-9F0C-CD3779A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E6B9E-D130-4288-9F9B-FE6A1DE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1EF08-23C4-4B4E-8884-176EF99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模板特征复用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62196-0386-421C-9AAF-61FD035C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减少重复计算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6B2E6-DC98-4C91-9F7C-3297667A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39E7E-202D-40FB-8E41-0A667E3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86F5-F84A-4213-9D33-E3F63FB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普通差分 + 细线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593ED-4430-4E8D-8F22-AD38B16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逐件独立执行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55FD38-F551-4617-AF2D-1BF48A6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799E2-F0B0-4F06-85BB-489E55D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43411-DFA6-49AC-A5BA-C57E418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编码与落盘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83981-5BF7-4EFF-90D3-8D02F0B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81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当前含图像保存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49332-4BBA-46F3-AB08-923E267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8C00B-97E7-46DA-95FD-DE0FFF0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7817C4-5C8D-4A11-AA79-90317C76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阶段计时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92219-516D-45ED-AAA0-03919B5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并行度：自动 / 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P50 / P95 写入 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91036C-C9E4-4BF8-A915-7F931CC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BAC9A0-AE31-4BF9-B040-429D3DDD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8A50-BBCB-4FCE-B7CD-8DE7EEC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并行度可配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FC7F5C-9405-47F6-8EFB-F45F803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0 自动或显式设置
当前测试为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0BF53B-5BC2-43D8-AF3F-5A9F35B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CB4A5-3B24-40DF-B506-CD332D2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构建通过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F05A53-7BE8-480B-96CF-783F02E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3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Debug / Release x64：0 警告、0 错误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CA73F4-4AEB-42C8-8612-682B991D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C00CE1-F867-4BD0-9E55-199C4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1.81–2.64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76812-A9E7-4B80-91DE-A667CE8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 · 并行 8 · Debug 记录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1A1F2-F0B3-444E-93E3-C749083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587E39-A07F-4BC4-BAFA-47CDA7B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7 /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CA200B-2B16-4315-8E9C-F3F3C8F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重复模板缓存命中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7F70AD-F2C4-4585-94AA-FAB161C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4EB3B4-BC97-43CE-8B76-43E8DD7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P50 1.32 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93E86-2DDB-482D-B9A8-DA50A00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最新单批的单件中位数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A1F856-D8E0-4F4D-808A-46F78B0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05400"/>
            <a:ext cx="1943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7E4359-63D4-40AC-99EC-A6CA832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rPr>
              <a:t>仍需 24h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021543-66AE-41AF-8188-6F03830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1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Release 固定条件与硬件长稳</a:t>
            </a:r>
          </a:p>
        </p:txBody>
      </p:sp>
    </p:spTree>
    <p:extLst>
      <p:ext uri="{BB962C8B-B14F-4D97-AF65-F5344CB8AC3E}">
        <p14:creationId xmlns:p14="http://schemas.microsoft.com/office/powerpoint/2010/main" val="12189105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8910D4-738D-44F5-9660-0F6DCF10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EFD8-496D-4395-9345-E0ABF92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B310-3EB6-445E-92D9-047BE06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现场使用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CB2D-5ED5-4B65-8BAB-405C9ABD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一个工作台覆盖采集、参数、结果与复核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373EC-EB01-4DC9-8CF0-6253ECD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73CBC-AC11-4949-893B-E684BDB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 WPF 工作台与参数设置流程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DDA8B-76BA-4896-B6FE-7FBE607D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18A84-4A0D-41FE-A6B5-E8B071D9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524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41A2A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716A-D1A6-4309-BB6B-610501C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3D82-9BB5-454D-9D6B-4D8636B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94B1-FFF5-4D07-AC5D-9012DD8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7B61D9"/>
          </a:solidFill>
          <a:ln xmlns:a="http://schemas.openxmlformats.org/drawingml/2006/main" w="0">
            <a:solidFill>
              <a:srgbClr val="7B6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4362-D90D-47DF-891C-822A2F4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离线图库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2833A-9BD3-42E0-A1D4-3360BF7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B3DC-F129-4A40-9D35-AD92586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开始采集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06350-2BA8-4B06-8807-1B8A038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7BA2E-E1B3-4E55-8EF5-4BB19B1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F42C6-D3DF-458D-B359-AB9C2F7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A175-0375-4937-B55E-B886222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0ED5A-54C5-4F98-B9CE-CDC8DB3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C63ACD"/>
          </a:solidFill>
          <a:ln xmlns:a="http://schemas.openxmlformats.org/drawingml/2006/main" w="0">
            <a:solidFill>
              <a:srgbClr val="C63A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DDCA-C88C-4CFD-A3F1-8A5FD74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57FA-8963-4001-A1B4-C810CAD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3F2D7-B63B-4DA1-A0E4-05421EF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97132-3A26-4F58-AA3B-021E09D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9F8A5-50BE-4131-BDCB-B566C89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EBCC0-04E8-417B-BFCD-93300D4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4099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93432-5AF6-4F13-B248-A32A2E3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实时采集预览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C4749-28A5-4DE4-926C-7DDCD9B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5242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5F889-35EE-4ADD-AC81-1D7AB5E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拼接结果  |  全局缺陷图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F0222-EA1C-4DFA-8710-77F5F45A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7124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E3F2E-84CC-4B4A-A34A-6FAAE02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实时日志与状态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0887A-7ECA-4A91-AB15-7798E72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帧数 / 丢帧 / 当前阶段 / 对准模式 / 检测结果 / 输出目录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7C193-40D2-45C9-8365-C29E8D3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现场人员在同一界面完成操作、观察和结果复核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42EC8-09E5-43BC-BBF3-73626B0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32194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2ED28-6210-41C9-BA64-7029C38C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D8C29-AC76-4748-A585-76EE208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621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操作主线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3572D-89B0-4D2B-9BF3-593BFEB4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1. 加载在线配置或离线目录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2. 开始采集并观察实时预览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3. 自动形成拼接段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4. 离线模式后台生成检测结果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5. 在结果页和日志中复核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89E7B-E10E-48A6-8CA1-78A5EBD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E4C20-B61A-4A8C-B530-1EC449A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DEE64-0CE5-4E8C-8225-E572E2C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参数结构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F5D54-2A8B-4B98-8F69-23D0B1F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基础与目录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拼接与排版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标志点配准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缺陷检测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图像保存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A94470-ECBA-4A29-8C33-294695A3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82CE5-8A6E-4578-B732-58B7719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E387CA-981E-4ECC-BC0B-372E1D5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下一步体验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C5319-9B66-410A-A95D-4037DC1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参数基础/高级分层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增加单位与范围校验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保存前联动检查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输出目录权限提示</a:t>
            </a:r>
          </a:p>
        </p:txBody>
      </p:sp>
    </p:spTree>
    <p:extLst>
      <p:ext uri="{BB962C8B-B14F-4D97-AF65-F5344CB8AC3E}">
        <p14:creationId xmlns:p14="http://schemas.microsoft.com/office/powerpoint/2010/main" val="991829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已证明能运行、能检出、能追溯；规模化证据仍需补齐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来源：当前代码、moreMarks\6 样例、构建与性能记录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离线闭环可运行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连续帧可完成分段、拼接、对准、裁切、检测与结果保存。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关键难例已覆盖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moreMarks\6 中多处细小轮廓断裂已进入正式检测逻辑。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工程版本可构建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2026-07-20 Debug / Release x64 均 0 警告、0 错误。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正在优化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节拍与资源占用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继续拆分 SIFT、细线检测和图像保存耗时，寻找无损提速空间。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参数使用体验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减少高级参数暴露，补充并行度入口、单位说明和范围校验。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增强算法择优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侧边非线性校正继续保留开关，用固定回归数据决定是否启用。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尚需验证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人工标注真值集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建立准确率、召回率、误报率和最小可检尺寸的正式口径。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24 小时硬件长稳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验证相机、采集卡、驱动、非托管内存与异常恢复。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在线闭环与下发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完成在线作业触发、结果下发、PLC/设备联动和版本追溯。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不把样例检出等同于量产准确率；下一阶段用标注和长稳数据补齐证据。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路线与总结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长期价值：从算法验证走向可复制的质量平台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来源：当前能力、证据缺口与业务演进目标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1｜沉淀数据资产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标注正常/缺陷/边界样本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固化二维码、对准、零件与差分回归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定义准确率、误报率与节拍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2｜完成产线闭环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已完成：有界队列 / 作业抽离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已完成：结果对象 / 过期取消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待完成：在线/离线统一状态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6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3｜收敛节拍与长稳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已完成：并行度可配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已完成：缓存/帧复制治理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待验证：现场最优值与长稳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23431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81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7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4｜扩展检测能力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2019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以标注数据决定侧边 Remap 收益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保留原 SIFT 路线做只拒绝门控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再评估模型化缺陷检测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087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25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项目的核心价值，是把“采集—拼接—排版—对准—裁切—检测—可视化”整合为可运行的离线闭环。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下一步应先完成在线作业闭环、真值基线和原生稳定性，再用数据决定复杂算法是否值得上线。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5638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62625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下一阶段建议：先完成真值数据与固定节拍，再推进在线闭环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专项补充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完善后的二维码整体识别处理逻辑（九步）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来源：QrCodeDetector、ImageStitcher 与真实样本回归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输入与覆盖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当前帧优先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先查完整单帧；命中后直接输出结果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跨帧补齐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未命中时，拼接上一帧尾和当前帧头再识别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横向保护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6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扩展固定 ROI 两侧，避免贴边二维码被裁掉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常规识别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灰度与明暗适配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统一转灰度，适配白码、暗底和常见明暗变化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05 常规快速解码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尝试常用纵向尺度，普通样本快速返回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06 二维码特征确认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查找定位框结构；没有可靠特征就停止增强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困难恢复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07 局部码区提取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只裁取有效码区，提高二维码在输入图中的占比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08 困难样本恢复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按证据调整尺寸形变，处理边缘缺失和低对比黑码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09 坐标还原与拼接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还原全图坐标，完成去重并触发分段拼接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按 01→09 顺序执行；任一步识别成功即返回，困难恢复只在发现二维码特征时启动。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三类真实难样本已进入识别链路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来源：用户提供的离线图库真实样本与当前版本回归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 + 形变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跨帧组合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识别成功｜补齐上下两帧后再解码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贴边 + 模糊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边缘恢复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识别成功｜保护带、补静区、动态尺寸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低对比黑码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黑码适配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识别成功｜反极性定位、原灰度解码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当前结论：三类真实困难样本已覆盖；后续持续扩充回归图库，用数据衡量整体识别率与处理节拍。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be1d5a6154aa4"/>
          <a:stretch xmlns:a="http://schemas.openxmlformats.org/drawingml/2006/main"/>
        </p:blipFill>
        <p:spPr>
          <a:xfrm xmlns:a="http://schemas.openxmlformats.org/drawingml/2006/main">
            <a:off x="1057391" y="1866900"/>
            <a:ext cx="2361969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1c7c15db24e3f"/>
          <a:stretch xmlns:a="http://schemas.openxmlformats.org/drawingml/2006/main"/>
        </p:blipFill>
        <p:spPr>
          <a:xfrm xmlns:a="http://schemas.openxmlformats.org/drawingml/2006/main">
            <a:off x="5097748" y="1866900"/>
            <a:ext cx="1863154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e1fdb811040f5"/>
          <a:stretch xmlns:a="http://schemas.openxmlformats.org/drawingml/2006/main"/>
        </p:blipFill>
        <p:spPr>
          <a:xfrm xmlns:a="http://schemas.openxmlformats.org/drawingml/2006/main">
            <a:off x="8566344" y="1866900"/>
            <a:ext cx="2641212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2026-07-29T09:00:17.6780000Z</dcterms:created>
  <dcterms:modified xsi:type="dcterms:W3CDTF">2026-07-29T09:00:17.6780000Z</dcterms:modified>
</coreProperties>
</file>