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c356c434ec4ffa" /><Relationship Type="http://schemas.openxmlformats.org/officeDocument/2006/relationships/extended-properties" Target="/docProps/app.xml" Id="Rca30fde4f2194930" /><Relationship Type="http://schemas.openxmlformats.org/officeDocument/2006/relationships/officeDocument" Target="/ppt/presentation.xml" Id="R443a7254130b46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fc6c97c7294ccc"/>
  </p:sldMasterIdLst>
  <p:notesMasterIdLst>
    <p:notesMasterId xmlns:r="http://schemas.openxmlformats.org/officeDocument/2006/relationships" r:id="Rc2c2ccdb3e6e4a08"/>
  </p:notesMasterIdLst>
  <p:sldIdLst>
    <p:sldId xmlns:r="http://schemas.openxmlformats.org/officeDocument/2006/relationships" id="256" r:id="R65c01b95fc3546de"/>
    <p:sldId xmlns:r="http://schemas.openxmlformats.org/officeDocument/2006/relationships" id="257" r:id="Rcc3e3e4787924f35"/>
    <p:sldId xmlns:r="http://schemas.openxmlformats.org/officeDocument/2006/relationships" id="258" r:id="Rd818b9d30b2c4647"/>
    <p:sldId xmlns:r="http://schemas.openxmlformats.org/officeDocument/2006/relationships" id="259" r:id="Rd9839668093e4385"/>
    <p:sldId xmlns:r="http://schemas.openxmlformats.org/officeDocument/2006/relationships" id="260" r:id="R920d1a7b70464c2d"/>
    <p:sldId xmlns:r="http://schemas.openxmlformats.org/officeDocument/2006/relationships" id="261" r:id="Rd4edc98d722b4696"/>
    <p:sldId xmlns:r="http://schemas.openxmlformats.org/officeDocument/2006/relationships" id="262" r:id="R8c807c7f27394f99"/>
    <p:sldId xmlns:r="http://schemas.openxmlformats.org/officeDocument/2006/relationships" id="263" r:id="Rb7abf5687a134d27"/>
    <p:sldId xmlns:r="http://schemas.openxmlformats.org/officeDocument/2006/relationships" id="264" r:id="R7e1e00045adf4dd3"/>
    <p:sldId xmlns:r="http://schemas.openxmlformats.org/officeDocument/2006/relationships" id="265" r:id="R6d5aa5bd4d4c4ad6"/>
    <p:sldId xmlns:r="http://schemas.openxmlformats.org/officeDocument/2006/relationships" id="266" r:id="Rf29f16c6bf9849d1"/>
    <p:sldId xmlns:r="http://schemas.openxmlformats.org/officeDocument/2006/relationships" id="267" r:id="R9b13df74f79e4a75"/>
    <p:sldId xmlns:r="http://schemas.openxmlformats.org/officeDocument/2006/relationships" id="268" r:id="Re2065ae466724551"/>
    <p:sldId xmlns:r="http://schemas.openxmlformats.org/officeDocument/2006/relationships" id="269" r:id="R3d4b42bfd407459b"/>
    <p:sldId xmlns:r="http://schemas.openxmlformats.org/officeDocument/2006/relationships" id="270" r:id="R4748ac479e2a40c0"/>
    <p:sldId xmlns:r="http://schemas.openxmlformats.org/officeDocument/2006/relationships" id="271" r:id="Rcfd4857e833042fe"/>
    <p:sldId xmlns:r="http://schemas.openxmlformats.org/officeDocument/2006/relationships" id="272" r:id="R862f0f8f75ca4ed9"/>
    <p:sldId xmlns:r="http://schemas.openxmlformats.org/officeDocument/2006/relationships" id="273" r:id="Rd12c247242514776"/>
    <p:sldId xmlns:r="http://schemas.openxmlformats.org/officeDocument/2006/relationships" id="274" r:id="Re5b349e3f4d84549"/>
    <p:sldId xmlns:r="http://schemas.openxmlformats.org/officeDocument/2006/relationships" id="275" r:id="R29961b0fb8104ed6"/>
    <p:sldId xmlns:r="http://schemas.openxmlformats.org/officeDocument/2006/relationships" id="276" r:id="R1896c9e0f07a41b2"/>
    <p:sldId xmlns:r="http://schemas.openxmlformats.org/officeDocument/2006/relationships" id="277" r:id="R921141b306a54462"/>
    <p:sldId xmlns:r="http://schemas.openxmlformats.org/officeDocument/2006/relationships" id="278" r:id="Rdf75849cee1042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aa55cddd40495c" /><Relationship Type="http://schemas.openxmlformats.org/officeDocument/2006/relationships/slideMaster" Target="/ppt/slideMasters/slideMaster1.xml" Id="R85fc6c97c7294ccc" /><Relationship Type="http://schemas.openxmlformats.org/officeDocument/2006/relationships/notesMaster" Target="/ppt/notesMasters/notesMaster1.xml" Id="Rc2c2ccdb3e6e4a08" /><Relationship Type="http://schemas.openxmlformats.org/officeDocument/2006/relationships/presProps" Target="/ppt/presProps.xml" Id="R2eba6a9ae96a492e" /><Relationship Type="http://schemas.openxmlformats.org/officeDocument/2006/relationships/tableStyles" Target="/ppt/tableStyles.xml" Id="Ra2db7a8d664a4246" /><Relationship Type="http://schemas.openxmlformats.org/officeDocument/2006/relationships/slide" Target="/ppt/slides/slide1.xml" Id="R65c01b95fc3546de" /><Relationship Type="http://schemas.openxmlformats.org/officeDocument/2006/relationships/slide" Target="/ppt/slides/slide2.xml" Id="Rcc3e3e4787924f35" /><Relationship Type="http://schemas.openxmlformats.org/officeDocument/2006/relationships/slide" Target="/ppt/slides/slide3.xml" Id="Rd818b9d30b2c4647" /><Relationship Type="http://schemas.openxmlformats.org/officeDocument/2006/relationships/slide" Target="/ppt/slides/slide4.xml" Id="Rd9839668093e4385" /><Relationship Type="http://schemas.openxmlformats.org/officeDocument/2006/relationships/slide" Target="/ppt/slides/slide5.xml" Id="R920d1a7b70464c2d" /><Relationship Type="http://schemas.openxmlformats.org/officeDocument/2006/relationships/slide" Target="/ppt/slides/slide6.xml" Id="Rd4edc98d722b4696" /><Relationship Type="http://schemas.openxmlformats.org/officeDocument/2006/relationships/slide" Target="/ppt/slides/slide7.xml" Id="R8c807c7f27394f99" /><Relationship Type="http://schemas.openxmlformats.org/officeDocument/2006/relationships/slide" Target="/ppt/slides/slide8.xml" Id="Rb7abf5687a134d27" /><Relationship Type="http://schemas.openxmlformats.org/officeDocument/2006/relationships/slide" Target="/ppt/slides/slide9.xml" Id="R7e1e00045adf4dd3" /><Relationship Type="http://schemas.openxmlformats.org/officeDocument/2006/relationships/slide" Target="/ppt/slides/slide10.xml" Id="R6d5aa5bd4d4c4ad6" /><Relationship Type="http://schemas.openxmlformats.org/officeDocument/2006/relationships/slide" Target="/ppt/slides/slide11.xml" Id="Rf29f16c6bf9849d1" /><Relationship Type="http://schemas.openxmlformats.org/officeDocument/2006/relationships/slide" Target="/ppt/slides/slide12.xml" Id="R9b13df74f79e4a75" /><Relationship Type="http://schemas.openxmlformats.org/officeDocument/2006/relationships/slide" Target="/ppt/slides/slide13.xml" Id="Re2065ae466724551" /><Relationship Type="http://schemas.openxmlformats.org/officeDocument/2006/relationships/slide" Target="/ppt/slides/slide14.xml" Id="R3d4b42bfd407459b" /><Relationship Type="http://schemas.openxmlformats.org/officeDocument/2006/relationships/slide" Target="/ppt/slides/slide15.xml" Id="R4748ac479e2a40c0" /><Relationship Type="http://schemas.openxmlformats.org/officeDocument/2006/relationships/slide" Target="/ppt/slides/slide16.xml" Id="Rcfd4857e833042fe" /><Relationship Type="http://schemas.openxmlformats.org/officeDocument/2006/relationships/slide" Target="/ppt/slides/slide17.xml" Id="R862f0f8f75ca4ed9" /><Relationship Type="http://schemas.openxmlformats.org/officeDocument/2006/relationships/slide" Target="/ppt/slides/slide18.xml" Id="Rd12c247242514776" /><Relationship Type="http://schemas.openxmlformats.org/officeDocument/2006/relationships/slide" Target="/ppt/slides/slide19.xml" Id="Re5b349e3f4d84549" /><Relationship Type="http://schemas.openxmlformats.org/officeDocument/2006/relationships/slide" Target="/ppt/slides/slide20.xml" Id="R29961b0fb8104ed6" /><Relationship Type="http://schemas.openxmlformats.org/officeDocument/2006/relationships/slide" Target="/ppt/slides/slide21.xml" Id="R1896c9e0f07a41b2" /><Relationship Type="http://schemas.openxmlformats.org/officeDocument/2006/relationships/slide" Target="/ppt/slides/slide22.xml" Id="R921141b306a54462" /><Relationship Type="http://schemas.openxmlformats.org/officeDocument/2006/relationships/slide" Target="/ppt/slides/slide23.xml" Id="Rdf75849cee1042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3129b2226545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a115f52b3944e2" /><Relationship Type="http://schemas.openxmlformats.org/officeDocument/2006/relationships/notesMaster" Target="/ppt/notesMasters/notesMaster1.xml" Id="Race2f0a9685240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7b301b3b674d08" /><Relationship Type="http://schemas.openxmlformats.org/officeDocument/2006/relationships/notesMaster" Target="/ppt/notesMasters/notesMaster1.xml" Id="Rfd909b58805444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08dd9c7c9c4dc4" /><Relationship Type="http://schemas.openxmlformats.org/officeDocument/2006/relationships/notesMaster" Target="/ppt/notesMasters/notesMaster1.xml" Id="R23becfe93a1149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8af5dd1ded4b7e" /><Relationship Type="http://schemas.openxmlformats.org/officeDocument/2006/relationships/notesMaster" Target="/ppt/notesMasters/notesMaster1.xml" Id="R1ab879a6107248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bf465a49354eb6" /><Relationship Type="http://schemas.openxmlformats.org/officeDocument/2006/relationships/notesMaster" Target="/ppt/notesMasters/notesMaster1.xml" Id="R804f0d7140f549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9398d2f83348ed" /><Relationship Type="http://schemas.openxmlformats.org/officeDocument/2006/relationships/notesMaster" Target="/ppt/notesMasters/notesMaster1.xml" Id="Ra62c5b5755a14f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6ee19485fe4a6a" /><Relationship Type="http://schemas.openxmlformats.org/officeDocument/2006/relationships/notesMaster" Target="/ppt/notesMasters/notesMaster1.xml" Id="R07a1330b67324d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b58dbcd4c94e25" /><Relationship Type="http://schemas.openxmlformats.org/officeDocument/2006/relationships/notesMaster" Target="/ppt/notesMasters/notesMaster1.xml" Id="R381809502e9845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1f1902b0b74e29" /><Relationship Type="http://schemas.openxmlformats.org/officeDocument/2006/relationships/notesMaster" Target="/ppt/notesMasters/notesMaster1.xml" Id="R10d838cf906642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89157fde8c43fe" /><Relationship Type="http://schemas.openxmlformats.org/officeDocument/2006/relationships/notesMaster" Target="/ppt/notesMasters/notesMaster1.xml" Id="R43df6217ece749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522bb1781ce4087" /><Relationship Type="http://schemas.openxmlformats.org/officeDocument/2006/relationships/notesMaster" Target="/ppt/notesMasters/notesMaster1.xml" Id="R5c61e0039ea0416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02a0f3e7d143a7" /><Relationship Type="http://schemas.openxmlformats.org/officeDocument/2006/relationships/notesMaster" Target="/ppt/notesMasters/notesMaster1.xml" Id="R0c31af0393184c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ea0a9c87e0482d" /><Relationship Type="http://schemas.openxmlformats.org/officeDocument/2006/relationships/notesMaster" Target="/ppt/notesMasters/notesMaster1.xml" Id="R31d7d7113cca441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457182749e48e9" /><Relationship Type="http://schemas.openxmlformats.org/officeDocument/2006/relationships/notesMaster" Target="/ppt/notesMasters/notesMaster1.xml" Id="R1f6c8aff38fe4ac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4532e1da43d4926" /><Relationship Type="http://schemas.openxmlformats.org/officeDocument/2006/relationships/notesMaster" Target="/ppt/notesMasters/notesMaster1.xml" Id="R396c1df46a0047f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b8a1ed7ad014dd1" /><Relationship Type="http://schemas.openxmlformats.org/officeDocument/2006/relationships/notesMaster" Target="/ppt/notesMasters/notesMaster1.xml" Id="R098986638acf4fa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6bf011a0f1f48be" /><Relationship Type="http://schemas.openxmlformats.org/officeDocument/2006/relationships/notesMaster" Target="/ppt/notesMasters/notesMaster1.xml" Id="Rbb2041e22146483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bdad83b41e14519" /><Relationship Type="http://schemas.openxmlformats.org/officeDocument/2006/relationships/notesMaster" Target="/ppt/notesMasters/notesMaster1.xml" Id="R40bbdb6c27c64c5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9425a6fc9ed4f99" /><Relationship Type="http://schemas.openxmlformats.org/officeDocument/2006/relationships/notesMaster" Target="/ppt/notesMasters/notesMaster1.xml" Id="R65443059212f446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fc4bbd378234f24" /><Relationship Type="http://schemas.openxmlformats.org/officeDocument/2006/relationships/notesMaster" Target="/ppt/notesMasters/notesMaster1.xml" Id="Rf236bdc8edf6471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860091ed5984a57" /><Relationship Type="http://schemas.openxmlformats.org/officeDocument/2006/relationships/notesMaster" Target="/ppt/notesMasters/notesMaster1.xml" Id="R09cc83631b8e4bd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4dace40f8fb4255" /><Relationship Type="http://schemas.openxmlformats.org/officeDocument/2006/relationships/notesMaster" Target="/ppt/notesMasters/notesMaster1.xml" Id="R2fc29aa3e8d44d3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27a8a00ed0c4718" /><Relationship Type="http://schemas.openxmlformats.org/officeDocument/2006/relationships/notesMaster" Target="/ppt/notesMasters/notesMaster1.xml" Id="R6c320906b6dc41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本次汇报不展开代码，而是回答四个管理问题：项目解决什么场景、为什么选择当前技术路径、真实数据上达到了什么效果、下一阶段怎样形成长期价值。所有效果图均来自项目实际输入与输出。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系统的输入不是一张完整照片，而是连续线扫帧。软件自动确定一个材料段、拼成大图、对齐到设计空间，再按排版逐件给出检测证据。管理价值在于减少人工串联步骤，并让每个结论都能回看。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这个场景的难点不是单一算法，而是多个坐标体系和多个误差来源叠加。只有把成段、对准、裁切和判定连成闭环，差分结果才有业务意义。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项目价值可以分成质量、效率和长期能力三层。当前已经具备自动处理和结果证据，下一步通过真值数据和在线闭环，把一次性算法能力变成持续运营的质量能力。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这页是全场主线。二维码解决成段，Mark解决大图坐标，SIFT解决零件残余偏差，差分与细线通道解决缺陷判断，最后把结果组织成可复核证据。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选择传统视觉为主不是保守，而是利用项目已有的设计图和物理标记。它的数据成本低、原因可解释、现场调试直接。深度学习可以作为后续补充，但应由标注数据和难例收益驱动。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手机扫码体验说明鲁棒二维码识别是可以实现的。项目已经把 WeChatQRCode 作为主识别器，并针对线扫压缩拉伸和极性做适配。二维码不仅给出文本，还提供分段位置和像素尺度。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这一页按 01 到 09 说明当前二维码识别链路。第一阶段先保证看得到二维码：优先检查完整单帧，失败后补齐跨帧视野，并给固定 ROI 留出受限横向保护带。第二阶段处理大多数常规样本：统一灰度和明暗条件，尝试常用纵向尺度；如果仍未解码，再确认图中是否真的存在二维码定位框特征。第三阶段只对有证据的困难样本启动：裁取局部码区，动态处理形变、边缘缺失和低对比黑码，最后把文本、中心和尺寸还原到全图坐标，完成去重与材料分段拼接。任一步识别成功都会立即返回，避免无意义的重复增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Services/QrCodeDetector.cs</a:t>
            </a:r>
          </a:p>
          <a:p xmlns:a="http://schemas.openxmlformats.org/drawingml/2006/main">
            <a:r>
              <a:t>- Services/ImageStitcher.cs</a:t>
            </a:r>
          </a:p>
          <a:p xmlns:a="http://schemas.openxmlformats.org/drawingml/2006/main">
            <a:r>
              <a:t>- Models/AppConfig.cs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张图片均来自项目真实离线图库。左侧样本跨越相邻帧并带有随机形变，通过上一帧尾部和当前帧头部组合后识别；中间样本贴近图像边缘且存在模糊和少量缺失，通过横向保护带、补静区和局部动态尺寸恢复；右侧样本在关闭白墨后变为低对比黑码，通过反极性定位并从原灰度局部图完成解码。这里展示的是当前真实样本回归结果，不将有限样本扩大为整体识别率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C:\Users\EDY\Desktop\二维码无法识别\8</a:t>
            </a:r>
          </a:p>
          <a:p xmlns:a="http://schemas.openxmlformats.org/drawingml/2006/main">
            <a:r>
              <a:t>- C:\Users\EDY\Desktop\白墨关闭</a:t>
            </a:r>
          </a:p>
          <a:p xmlns:a="http://schemas.openxmlformats.org/drawingml/2006/main">
            <a:r>
              <a:t>- Services/QrCodeDetector.cs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本页展示本次新增的真实难样本。</a:t>
            </a:r>
          </a:p>
          <a:p xmlns:a="http://schemas.openxmlformats.org/drawingml/2006/main">
            <a:r>
              <a:t>原图在白色带区域存在局部过曝、模糊和背景条纹，常规缩放与直接解码失败。</a:t>
            </a:r>
          </a:p>
          <a:p xmlns:a="http://schemas.openxmlformats.org/drawingml/2006/main">
            <a:r>
              <a:t>当前流程先确认三个定位框，再恢复二维码真实透视平面并补足静区；原灰度仍失败时，仅对拉正后约 350 像素的小图做光照展平。</a:t>
            </a:r>
          </a:p>
          <a:p xmlns:a="http://schemas.openxmlformats.org/drawingml/2006/main">
            <a:r>
              <a:t>最终仍由 WeChatQRCode 完成文本校验，并同时返回二维码在原图中的位置。</a:t>
            </a:r>
          </a:p>
          <a:p xmlns:a="http://schemas.openxmlformats.org/drawingml/2006/main">
            <a:r>
              <a:t>实测识别文本：ZJ_202606302651265_RT。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C:/Users/EDY/AppData/Local/Temp/codex-clipboard-376a494d-99ab-4b83-b69b-405a01e0a629.jpg</a:t>
            </a:r>
          </a:p>
          <a:p xmlns:a="http://schemas.openxmlformats.org/drawingml/2006/main">
            <a:r>
              <a:t>E:/南京爱速智/CIS/AresIntel/Volans CL/samples/CIS_WebInspector/obj/QrSampleProbe/straight-corrected.png</a:t>
            </a:r>
          </a:p>
          <a:p xmlns:a="http://schemas.openxmlformats.org/drawingml/2006/main">
            <a:r>
              <a:t>E:/南京爱速智/CIS/AresIntel/Volans CL/samples/CIS_WebInspector/Services/QrCodeDetector.cs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全局对准的目标不是一次解决所有形变，而是把 CIS 稳定送入 TIFF 坐标系。上下两排大 Mark 信号强、位置确定，RANSAC 能排除少量误检，因此适合作为默认粗对准。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侧边 Mark 是能力储备，不是默认必选项。对比测试显示它并非所有批次都带来提升，所以当前遵循简单稳定原则：主流程使用 H0，只有证据证明收益时再开启非线性校正。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差分算法对一两个像素的轮廓偏差非常敏感。全局对准只保证大图整体正确，零件级 SIFT 会在每个 ROI 内再消除残差。项目曾尝试更复杂的约束模型，但真实对比显示原路线更稳，因此当前保留效果优先。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普通差分把少印和多印分开处理，便于解释和参数管理。轮廓容差负责降低错位误报，但它也带来细线断裂可能被遮住的问题，下一页解释这次最新优化。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把它理解为两次检查：第一次处理“假报警”——把因轻微错位产生的边缘轮廓屏蔽掉；第二次处理“真断线”——只检查设计图中原本就存在的细线，看实拍中是否断开。这样不用放开整个边缘区域，也能把藏在屏蔽区里的真实断裂找回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实现逻辑可分为五步。第一，只在原有边缘屏蔽区内检查 TIFF 设计中的细线，不放开普通差分的屏蔽规则。第二，缺口定义为：TIFF 二值图本应有线，而 CIS 细线前景沿模板线方向连续缺失；默认连续长度至少 0.5 mm，模板线宽不超过 2 mm。小于 1 mm 的短缺口还要求存在明显深色核心，降低灰度波动误报。第三，在缺口两侧沿同一条模板骨架寻找方向相反的两段线作为锚点；两侧 CIS 附近前景覆盖率都要达到 40%，表示缺的是中间一段，而不是整条线没有印出、裁切越界或附近恰好为空。第四，尝试用同一个局部平移同时解释缺口和两侧线段；若可以解释，则视为对齐偏差而不报。第五，在模板线周围的窄走廊内检查 CIS 是否仍存在连接两侧的连续路径；若仍连通，也不报。只有缺口长度和线宽达标、两侧线段存在，并且既不能用平移解释、也没有连续连接路径时，才输出细线断裂框。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这组数据完整覆盖了项目主链路。左侧是6张连续帧，右侧是拼接、对准、裁切和检测后的全局结果。它同时包含人工制造的明显缺陷和自然出现的细小断线，适合做当前阶段回归样本。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291是用户明确指出的真实细线断裂。它颜色不如人工缺口那么黑，而且恰好在边缘屏蔽带内。新版通过连续性和两端支撑判断把它检出，紫色框表示来自细线专用通道。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3c5和520在与291相近的位置也出现类似断线。三个零件都被同一正式逻辑检出，说明新通道不是只对一个样本做特例。仍需强调，这只是功能覆盖证据，不是统计准确率。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当前性能数据已经能追踪，但还不是产线承诺。9件、并行8的Debug记录为1.81到2.64秒，且包含单件图像保存。下一步要固定数据、保存策略和Release环境，分开统计SIFT、细线检测与I/O耗时。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管理层可以把这套软件理解成现场质量工作台，而不是算法演示程序。在线和离线共用一套检测逻辑，结果既能在界面展示，也能通过文件和日志留存。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目前最重要的判断是：核心链路和关键难例已经跑通，但还不能把样例成功直接换算为量产准确率。下一阶段的重点应是建立标注真值、固定性能基准和24小时在线长稳。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建议下一阶段按数据、闭环、性能、算法四条线推进。优先级仍然是先有真值、再有稳定节拍、再完成在线交付，最后才用数据判断是否需要更复杂模型。这样能把研发投入转化为可复制的长期质量能力。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f90a8c4b4246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0cf24e3da8461b" /><Relationship Type="http://schemas.openxmlformats.org/officeDocument/2006/relationships/slideLayout" Target="/ppt/slideLayouts/slideLayout1.xml" Id="R5899bb4e40834f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99bb4e40834f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3a6ba257b42e4" /><Relationship Type="http://schemas.openxmlformats.org/officeDocument/2006/relationships/image" Target="/ppt/media/image.jpeg" Id="Rd67ae9631b9047a0" /><Relationship Type="http://schemas.openxmlformats.org/officeDocument/2006/relationships/notesSlide" Target="/ppt/notesSlides/notesSlide1.xml" Id="R3487c5dfe8b549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9ded3438a4276" /><Relationship Type="http://schemas.openxmlformats.org/officeDocument/2006/relationships/image" Target="/ppt/media/image.png" Id="Rac9c69b873764710" /><Relationship Type="http://schemas.openxmlformats.org/officeDocument/2006/relationships/image" Target="/ppt/media/image2.jpeg" Id="R06c4046b1c234283" /><Relationship Type="http://schemas.openxmlformats.org/officeDocument/2006/relationships/notesSlide" Target="/ppt/notesSlides/notesSlide2.xml" Id="R4994a96d13214b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8b4b8de154f80" /><Relationship Type="http://schemas.openxmlformats.org/officeDocument/2006/relationships/image" Target="/ppt/media/image3.jpeg" Id="R659a43c0f4ea4c8b" /><Relationship Type="http://schemas.openxmlformats.org/officeDocument/2006/relationships/notesSlide" Target="/ppt/notesSlides/notesSlide3.xml" Id="R23ff8062139744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a357f1b604789" /><Relationship Type="http://schemas.openxmlformats.org/officeDocument/2006/relationships/notesSlide" Target="/ppt/notesSlides/notesSlide4.xml" Id="Rc998ba2504724a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5ac197df04fe0" /><Relationship Type="http://schemas.openxmlformats.org/officeDocument/2006/relationships/notesSlide" Target="/ppt/notesSlides/notesSlide5.xml" Id="R6f6f45cc23684c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3060077c94d59" /><Relationship Type="http://schemas.openxmlformats.org/officeDocument/2006/relationships/notesSlide" Target="/ppt/notesSlides/notesSlide6.xml" Id="Rf77f6f690b0b46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1bdd9a8694b38" /><Relationship Type="http://schemas.openxmlformats.org/officeDocument/2006/relationships/image" Target="/ppt/media/image4.jpeg" Id="R716aaf139c3240e4" /><Relationship Type="http://schemas.openxmlformats.org/officeDocument/2006/relationships/notesSlide" Target="/ppt/notesSlides/notesSlide7.xml" Id="Re9b2e7541dec41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2d689f5bd492a" /><Relationship Type="http://schemas.openxmlformats.org/officeDocument/2006/relationships/notesSlide" Target="/ppt/notesSlides/notesSlide8.xml" Id="Rbaf5f1392fd247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61d93afc941cb" /><Relationship Type="http://schemas.openxmlformats.org/officeDocument/2006/relationships/image" Target="/ppt/media/image2.png" Id="R9b4cfbe47e804fea" /><Relationship Type="http://schemas.openxmlformats.org/officeDocument/2006/relationships/image" Target="/ppt/media/image3.png" Id="R9201a541b7364c75" /><Relationship Type="http://schemas.openxmlformats.org/officeDocument/2006/relationships/image" Target="/ppt/media/image4.png" Id="Rdffa9190e7c84fee" /><Relationship Type="http://schemas.openxmlformats.org/officeDocument/2006/relationships/notesSlide" Target="/ppt/notesSlides/notesSlide9.xml" Id="R029efd5308fc49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eee75397e4d91" /><Relationship Type="http://schemas.openxmlformats.org/officeDocument/2006/relationships/image" Target="/ppt/media/image5.jpeg" Id="R81af26a6141c4942" /><Relationship Type="http://schemas.openxmlformats.org/officeDocument/2006/relationships/image" Target="/ppt/media/image5.png" Id="R38ce7ef7ae0f494c" /><Relationship Type="http://schemas.openxmlformats.org/officeDocument/2006/relationships/notesSlide" Target="/ppt/notesSlides/notesSlide10.xml" Id="R3c8ff1d17f564f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1798515644f8e" /><Relationship Type="http://schemas.openxmlformats.org/officeDocument/2006/relationships/image" Target="/ppt/media/image6.jpeg" Id="R011551f9f5724d95" /><Relationship Type="http://schemas.openxmlformats.org/officeDocument/2006/relationships/notesSlide" Target="/ppt/notesSlides/notesSlide11.xml" Id="R880f0c6eda7044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b54e3a3ef419b" /><Relationship Type="http://schemas.openxmlformats.org/officeDocument/2006/relationships/image" Target="/ppt/media/image7.jpeg" Id="R7459c4cd2e4a4f5a" /><Relationship Type="http://schemas.openxmlformats.org/officeDocument/2006/relationships/notesSlide" Target="/ppt/notesSlides/notesSlide12.xml" Id="R5fd58780720b42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96d3abfaf4003" /><Relationship Type="http://schemas.openxmlformats.org/officeDocument/2006/relationships/image" Target="/ppt/media/image8.jpeg" Id="Re866ec234a50464f" /><Relationship Type="http://schemas.openxmlformats.org/officeDocument/2006/relationships/image" Target="/ppt/media/image9.jpeg" Id="R760dbeec6bef4f1c" /><Relationship Type="http://schemas.openxmlformats.org/officeDocument/2006/relationships/notesSlide" Target="/ppt/notesSlides/notesSlide13.xml" Id="R0c70f1b7b25a4cc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e728644b740f2" /><Relationship Type="http://schemas.openxmlformats.org/officeDocument/2006/relationships/image" Target="/ppt/media/image10.jpeg" Id="R138dad65a07a4912" /><Relationship Type="http://schemas.openxmlformats.org/officeDocument/2006/relationships/notesSlide" Target="/ppt/notesSlides/notesSlide14.xml" Id="R19dd9506a80f485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9e3a437fd4611" /><Relationship Type="http://schemas.openxmlformats.org/officeDocument/2006/relationships/image" Target="/ppt/media/image3.jpeg" Id="Rc0108f69aa2344c6" /><Relationship Type="http://schemas.openxmlformats.org/officeDocument/2006/relationships/notesSlide" Target="/ppt/notesSlides/notesSlide15.xml" Id="Rf4e184dad9964c8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6a60a9db7440a" /><Relationship Type="http://schemas.openxmlformats.org/officeDocument/2006/relationships/image" Target="/ppt/media/image8.jpeg" Id="Rabd233edc3bd462b" /><Relationship Type="http://schemas.openxmlformats.org/officeDocument/2006/relationships/image" Target="/ppt/media/image9.jpeg" Id="R8ed71d7270134471" /><Relationship Type="http://schemas.openxmlformats.org/officeDocument/2006/relationships/notesSlide" Target="/ppt/notesSlides/notesSlide16.xml" Id="R1644d914924c4be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42e827075494b" /><Relationship Type="http://schemas.openxmlformats.org/officeDocument/2006/relationships/image" Target="/ppt/media/image.png" Id="R02f9b34a5730454d" /><Relationship Type="http://schemas.openxmlformats.org/officeDocument/2006/relationships/image" Target="/ppt/media/image2.jpeg" Id="Rb6b08833fe1e41ca" /><Relationship Type="http://schemas.openxmlformats.org/officeDocument/2006/relationships/notesSlide" Target="/ppt/notesSlides/notesSlide17.xml" Id="Rdbb03692d08547e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da9cb97f24dba" /><Relationship Type="http://schemas.openxmlformats.org/officeDocument/2006/relationships/image" Target="/ppt/media/image8.jpeg" Id="R938848a4c9d247db" /><Relationship Type="http://schemas.openxmlformats.org/officeDocument/2006/relationships/image" Target="/ppt/media/image9.jpeg" Id="Rfb9748e8d0874918" /><Relationship Type="http://schemas.openxmlformats.org/officeDocument/2006/relationships/notesSlide" Target="/ppt/notesSlides/notesSlide18.xml" Id="Rc96f4c6d5e7a4e3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15e1691624060" /><Relationship Type="http://schemas.openxmlformats.org/officeDocument/2006/relationships/image" Target="/ppt/media/image8.jpeg" Id="Rf4f55f136a394a4a" /><Relationship Type="http://schemas.openxmlformats.org/officeDocument/2006/relationships/image" Target="/ppt/media/image9.jpeg" Id="R63dd4775cc27496b" /><Relationship Type="http://schemas.openxmlformats.org/officeDocument/2006/relationships/notesSlide" Target="/ppt/notesSlides/notesSlide19.xml" Id="R6991e753832f4ab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69c7570b24343" /><Relationship Type="http://schemas.openxmlformats.org/officeDocument/2006/relationships/notesSlide" Target="/ppt/notesSlides/notesSlide20.xml" Id="Rf06357e1ee4648a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1b37ee4ab44fd" /><Relationship Type="http://schemas.openxmlformats.org/officeDocument/2006/relationships/notesSlide" Target="/ppt/notesSlides/notesSlide21.xml" Id="R00bdc062ce2f4f6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208f0e3504789" /><Relationship Type="http://schemas.openxmlformats.org/officeDocument/2006/relationships/notesSlide" Target="/ppt/notesSlides/notesSlide22.xml" Id="Rafcd96104c7e453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49277b5ec4a54" /><Relationship Type="http://schemas.openxmlformats.org/officeDocument/2006/relationships/notesSlide" Target="/ppt/notesSlides/notesSlide23.xml" Id="Rf6586a9e20264c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ae9631b9047a0"/>
          <a:srcRect xmlns:a="http://schemas.openxmlformats.org/drawingml/2006/main" l="0" t="8000" r="0" b="8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4000500"/>
            <a:ext cx="12192000" cy="2857500"/>
          </a:xfrm>
          <a:prstGeom xmlns:a="http://schemas.openxmlformats.org/drawingml/2006/main" prst="round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6E41F-EF80-4F2B-9506-5BAE8F03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D4447-C209-4163-A037-5002A052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562725"/>
            <a:ext cx="1203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moreMarks\6 · 真实 CIS 输入帧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83A93-C23B-457E-B944-8B7DF2AD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470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7D244-1384-45AB-B22D-3304B364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DD7BB-93F5-46BA-839B-882976FA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2571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88323-7482-40BF-A955-98FDF80C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项目阶段汇报 · 管理层版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01279-6E10-45A5-ABAE-D67765E0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7239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CIS 线扫膜片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缺陷检测系统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A3AB1-C4A7-4114-8524-82FC0C8D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从连续采集、自动对准到细小轮廓断裂检出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CF9CA-848F-4510-B92E-5FC1268A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00150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E1E2AE-C96D-4A75-A956-6B360174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001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BED3F-EEF5-469B-8AC7-10B70444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525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汇报重点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6912D-36BE-45F0-BFD1-11E48A9F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24025"/>
            <a:ext cx="2914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整体检测逻辑、技术路径选择、真实效果与长期迭代价值。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3BC256-7C3E-4D1A-95F9-899E64AB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真实数据：moreMarks\6 · 当前版本：2026-07-20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5CBFC9-F8B3-435D-B280-8461E0A6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00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2026-07-20</a:t>
            </a:r>
          </a:p>
        </p:txBody>
      </p:sp>
    </p:spTree>
    <p:extLst>
      <p:ext uri="{BB962C8B-B14F-4D97-AF65-F5344CB8AC3E}">
        <p14:creationId xmlns:p14="http://schemas.microsoft.com/office/powerpoint/2010/main" val="1460621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4041AF-20C3-4DA3-B40A-B8543FC9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AD5B9-DD9B-4076-9E6E-D0B0319B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AB7C1-6EC5-4968-ABE3-AB516725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项目概览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8173B-CAA1-4132-A8C1-4526728D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系统已经形成可运行的检测闭环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5D818-F4F4-462A-8331-22E3E45B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DE76E-EDA4-43F3-B629-64150669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来源：moreMarks\6、当前检测流程与真实输出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960BB-347F-4B5F-BCB8-F0AD9C20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B7A61-94EE-416D-8EA1-8E35E594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1467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8452B-25B6-4C95-AF4F-4C51974E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1467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c69b8737647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476375"/>
            <a:ext cx="3009900" cy="1714500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B5DA1-21DF-4A6B-A155-D8FAF3AC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3009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CA064-7CD9-41E1-BC70-B6448FEA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连续 CIS 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64307-73CE-489E-A3D7-B571000B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30099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CC1A2-E9A8-4F99-A02B-E82D3B00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66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7EE76-8FCF-41D3-A671-A0CD4747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1C90F-50AF-42E6-8D04-F24B47A7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2686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在线：Volans 采集卡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离线：按文件名排序的帧图库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关联：Debug.log + TIFF/Alpha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E001D-C661-4FF8-A0A7-EECCB7F4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76375"/>
            <a:ext cx="3886200" cy="4124325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34B75-1A99-4584-89C3-A09917F6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76375"/>
            <a:ext cx="66675" cy="412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CC0A2D-92E3-4BF0-9CA5-FD6F0839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28775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自动检测主线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6CC72A-B033-41FB-9ABD-CFAEDE07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00250"/>
            <a:ext cx="35623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① WeChatQRCode 识别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② 二维码分段拼接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③ Mark / H0 全局对准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④ 零件 SIFT 二次配准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⑤ 形态学差分判定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4046b1c23428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458200" y="1476375"/>
            <a:ext cx="3143250" cy="2286000"/>
          </a:xfrm>
          <a:prstGeom xmlns:a="http://schemas.openxmlformats.org/drawingml/2006/main" prst="round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5D7EB-C418-4CF8-B327-2ED9E25F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29000"/>
            <a:ext cx="3143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4362DD-4BD0-4BC5-BC6E-A5BBE301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零件级检测结果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18C578-1DE8-496D-B104-406966B8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3143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6A6C35-BDAD-4ADE-AD43-C705AF53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58BB84-EA6E-4C89-9D0F-200499A0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576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4AD828-F9A4-40CD-8CD9-B3FD3EAD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29125"/>
            <a:ext cx="2819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逐件缺陷框、全局结果图、设计/实拍/差异证据，以及可追溯日志。</a:t>
            </a:r>
          </a:p>
        </p:txBody>
      </p:sp>
    </p:spTree>
    <p:extLst>
      <p:ext uri="{BB962C8B-B14F-4D97-AF65-F5344CB8AC3E}">
        <p14:creationId xmlns:p14="http://schemas.microsoft.com/office/powerpoint/2010/main" val="19473988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F27F8B-4CDD-443B-B14D-0D3689C6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C8383-1401-4606-8160-671E8D33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D5D45-E978-41B1-8283-9F68ED61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业务场景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AD13E-1783-4560-84AC-C1190B51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传统人工与单帧算法难以覆盖连续膜片检测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C452E-31B2-435C-A5E3-6BCF9635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8B1D0-DEB7-4C9E-B5B3-A6800D76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真实帧与当前检测流程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8F52B-07D3-46FD-9A91-0428CE8B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a43c0f4ea4c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524000"/>
            <a:ext cx="4857750" cy="39814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141F4-F6E9-4C37-ABF5-A3709224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72075"/>
            <a:ext cx="4857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91C92-B2AA-49A8-81D9-B6826727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0175"/>
            <a:ext cx="470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单帧只能看到连续材料的一段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27DA8-7D35-4957-AB27-0B108E5C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8155F-CF75-4D1F-8C3D-325B3ECB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C7F89-C066-4F63-9482-BED40891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01 连续材料不是静态图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82519-E64A-4D5C-89AD-68ACDC50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必须从多帧中恢复二维码之间的完整材料段，才能进入排版检测。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C1122-7AFF-4C5C-8B42-F6211C0B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2400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BF21F-E142-4A2F-A26F-F0C35F59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240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1BD03-30A0-4A78-80CE-6D5FDB10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02 设计与实拍坐标不同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CEE40-B111-4913-B100-93726C70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4787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扫描倾斜、尺度和材料形变，使 CIS 实拍无法直接与 TIFF 做差分。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68B2B-B076-49A7-A66D-564C2354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6235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7316E1-C26F-4591-8988-28741F42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6235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B2C423-A074-4481-A54B-1B964588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03 轮廓细、缺陷小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3227FB-4C4D-4180-A57B-510D4DFC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862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真实断线可能落在轮廓边缘，既容易被错位误报淹没，也容易被屏蔽漏掉。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D8ED0-4448-4E8D-8FAF-895664B1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AC6668-17B7-4C27-8B78-CD8308BE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7580F6-B81F-4B0A-88DD-F299ABE2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04 结果必须可追溯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218E01-1CA5-4AB5-AA15-FC496B91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862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不仅要给出 Pass/Fail，还要定位到零件并保留设计、实拍和差异证据。</a:t>
            </a:r>
          </a:p>
        </p:txBody>
      </p:sp>
    </p:spTree>
    <p:extLst>
      <p:ext uri="{BB962C8B-B14F-4D97-AF65-F5344CB8AC3E}">
        <p14:creationId xmlns:p14="http://schemas.microsoft.com/office/powerpoint/2010/main" val="5366537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A5F6BB-6725-4640-ABB5-C118C2B9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431B1-3B74-4A25-8C1D-79986736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12E87-128C-495D-B0BC-A96DAB9E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EEA4A-41B5-4EFE-A0CF-A26ADDC7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项目目标：稳定完成质量闭环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8C7F6-0580-4C59-8792-A4790C4B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D8389-A6A5-4656-B34B-2C57F322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来源：当前功能、真实运行结果与现场需求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C9466-EC6D-47DA-B9E9-9948B15E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B459D-80BF-40CC-9B40-578621C3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1F7DB-50E5-428D-826F-D45AC5D9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质量价值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5920D-02EA-4A01-AE83-8232F2E8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9401B-4D1F-4086-A317-D2EDA6AA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6AFF8-3FF3-4E60-8AFF-6CE525B6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检出真实缺陷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7B87B-485C-4828-962C-25E0F43B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7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覆盖断墨、漏印、多印、脏污与细小轮廓断裂。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DD7BD-BF7D-42E9-969B-75514B8D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6D39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8114B-FF70-411F-852B-FDE03EC8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19EDE-FB9F-402B-A368-55380EA0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压低轮廓误报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5E6CA3-1A05-422D-8D11-AC10F1C8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全局与零件级对准配合形态学容差，吸收残余错位。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1B86E-46A9-42CD-B8EE-49D7ACA2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F7BD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B0A5B-9592-4314-AEF9-72E9E150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3E"/>
          </a:solidFill>
          <a:ln xmlns:a="http://schemas.openxmlformats.org/drawingml/2006/main" w="0">
            <a:solidFill>
              <a:srgbClr val="F7BD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BF165E-EF88-4716-BB99-7B2E279F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保留复核证据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B9EC3-914A-4D08-9352-9C6BA3A2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逐件保存设计、实拍、差异与缺陷框，支持追溯。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A73DC6-D2FC-4D10-AE00-1A08AAC0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CB9CAB-3021-4DA8-B000-E3FC9D03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效率价值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38172A-3FEE-48CD-8981-2FAAD47E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35C9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C4DB07-FB38-4367-B6D1-35BB5D24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9E8"/>
          </a:solidFill>
          <a:ln xmlns:a="http://schemas.openxmlformats.org/drawingml/2006/main" w="0">
            <a:solidFill>
              <a:srgbClr val="35C9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1808AB-0FE4-4BAC-ADA3-CA24F2AE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19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连续帧自动成段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7E488-77D7-454F-829F-6F6C363E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907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7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二维码定义开始与结束，自动拼出完整检测段。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DEDA5E-6777-481C-8179-CF8FF199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F376CC-B3D1-4AE6-95AC-70FC7BA8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8F4814-A10D-4BDB-88D1-6CF07142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57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批量零件自动处理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F51A10-08DB-40AB-9930-5F2B5DBF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290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7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按排版坐标裁切零件，并行执行精对准与检测。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2F446C-AD76-47E3-8014-53B2DC84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6D39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9CC295-6C7C-4418-9404-54BD2927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244B75-2C56-4103-B0E6-4AB28ED2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性能持续可测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3CA931-1F6C-492E-9BCB-E996E052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批次记录耗时、P50/P95、缓存命中与内存变化。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3D3BB9-ADD2-4F6D-9039-5C82D915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CFBD85-5FAE-433E-902C-4CDA0AED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长期价值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CD9005-F807-4DBB-A642-0BAB2DAA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83A1A5-97C2-45BF-999E-778A3888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A9FAD3-2A6A-40E9-BA3F-2C2922AB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参数化适配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0CBAF6-65EB-4649-B002-AB8C3C33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907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5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适配不同图库、排版、检测尺度与工艺参数。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93A172-6268-4702-B89E-363769D8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6EE8C8-672F-4302-8A93-E76E250A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EFC8CD-1A69-4AEA-B1A6-E634B79E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75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数据资产沉淀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8FE6B6-97FD-4D6A-984E-6E2F1F53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290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7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持续积累真实缺陷、正常样本、配置与运行基线。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E208D0-E5DB-4FA4-8215-4651C068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EE50FC-0295-45DD-BF67-ADB40199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A1C78F-9228-4618-B892-41A2EB36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平台化扩展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096238-CCEF-4351-874B-C44923A9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672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5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未来可扩展新图案、新材料和数据驱动算法。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12D92C-3D95-4D3E-A893-89EAD186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95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项目价值不止一次检测，而是形成可复制、可追溯、可持续优化的质量平台。</a:t>
            </a:r>
          </a:p>
        </p:txBody>
      </p:sp>
    </p:spTree>
    <p:extLst>
      <p:ext uri="{BB962C8B-B14F-4D97-AF65-F5344CB8AC3E}">
        <p14:creationId xmlns:p14="http://schemas.microsoft.com/office/powerpoint/2010/main" val="12336501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A6CB8EE-A885-42B5-9C9A-F3260F21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B1401-2616-4E32-ADB0-9908F793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6D5CE-B0A7-4074-B269-A6AD6C87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检测逻辑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97CE8-B33D-4102-8A6A-EFA38E67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一条流水线完成从连续帧到缺陷结论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9B388-E997-4866-8BAC-F604F2BB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D0624-EBA4-455F-B1C4-338D39C7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来源：当前完整检测作业流程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7FAFD-AA54-4FAC-BED1-03AD4D2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8322D-002A-404E-89F3-42FA40E7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95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5BBE4-9779-4F4E-BE9F-D34FE593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95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70306-CE09-4E00-9347-424BB1D7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95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E8B7D8-A7F0-4ECD-8909-5B858DF1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95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25EC4-0143-4119-8965-3196AC4D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05275"/>
            <a:ext cx="2857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437E5-0904-4232-94AC-9997491A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05275"/>
            <a:ext cx="2857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15781-08E6-4E03-B4BD-76148663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05275"/>
            <a:ext cx="2857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B86971-F319-4E96-BAF5-59CF2190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43200"/>
            <a:ext cx="323850" cy="609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56AE11-F986-4121-BF44-6A2C8CF3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ABA80B-52FE-4EA7-AA27-FD409724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DDD53A-C616-44CD-AB9E-AF556B93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80DF25-C90E-4A56-951E-A58033E8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6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采集 / 回放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4589C5-1303-4D13-9054-112611E3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连续 CIS 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04ED26-8E8C-469A-BAE6-47141218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716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9F179-3160-4022-B8CC-A9DD2824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62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AEB109-CEC7-4DBF-BF31-65C09D9C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62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5D374E-0DC6-45C9-A0A0-E0EBFFEA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QR 识别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27BE68-C845-4259-8FEA-F1BE070A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分段锚点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31D5C0-A8DE-4372-838E-38139F7A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716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98AC68-D403-42E5-987C-6C9F079A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62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DDEF53-28BF-45D2-B8B0-A0988DF0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62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773765-FE98-4D76-8DE6-3E5D0513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段拼接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DE5D5B-AB40-42ED-899A-D156A7CF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完整大图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C60193-F8BE-44D9-81D9-5EF883DE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716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E5802F-8B0F-42BC-B634-55D3EE90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762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0C3AC5-3D3E-47DC-9659-7B411A3C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762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9BFB8A-A95A-4570-BD56-F1987B0C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TIFF 解析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5679EA-8F72-4BCE-B9A6-2B3BE282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排版与 Alpha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8CC8E6-46EC-4F49-AE49-2E8F835B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716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4FFB0D-77C7-479B-B9D9-0715C4FF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62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7F0425-38A6-4950-97AE-502D8475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62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E8D82D-639D-4752-B8AA-12E6E140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18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Mark 粗对准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5762D3-0DBC-4185-A3CD-0B130509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H0 全局空间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F0261E-6CB0-4CAC-9153-6150E44B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814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92AC73-3A4A-4309-8F47-AD551176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719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23060F-6DC4-44F2-A1F0-E2CE2FAC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719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6F100D-3397-429F-A96D-63B9BEE8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766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零件裁切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71406C-B936-438D-85FF-E074E052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24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排版 ROI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BB452E-47EC-4318-98BE-3EF1A96B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814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0F7D96-87EA-42B3-A848-2D43AB15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719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D54D81-F109-4377-8A19-9690A8D5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719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DA9BE3-ADFB-4194-95B1-51867AE7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766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0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SIFT 精对准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43CF42-E67F-42C9-ABF3-D8E3DA4F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24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逐件仿射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62AF16-A426-409F-B730-4F7E2168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814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8C18E0-D0CF-4506-8AB4-E6A26587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719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8D8A768-6636-4D9E-AD8C-DAD177E9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719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FAD6E8-4B25-4AFC-970E-F77E3E61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766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4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差分 + 细线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6C4AF63-3C91-4B81-8CB8-BBD52A2B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324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内外缺陷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55991E-3F7E-4EB6-9691-C725493C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7814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4D84E8C-D751-4E79-B159-0761FB5E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719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D2AB25-3D05-4C59-9B87-8126B837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719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E3159F7-4794-4CD2-A4E0-14906AAE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766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6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汇总 / 保存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B80CE06-9807-461C-AC91-35FAE6E8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24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4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全局与逐件证据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CADD05-1232-4555-9A66-2ADF116C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53025"/>
            <a:ext cx="110871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1677A12-7845-428C-8CCD-70E96042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53025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4289A34-8840-43B0-B42B-A3D13FEB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质量控制原则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CEC5E37-9025-44E1-AFBD-CB033714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1076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422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关键节点记录状态；增强功能失败明确降级；不在证据不足时静默给出高置信结论。</a:t>
            </a:r>
          </a:p>
        </p:txBody>
      </p:sp>
    </p:spTree>
    <p:extLst>
      <p:ext uri="{BB962C8B-B14F-4D97-AF65-F5344CB8AC3E}">
        <p14:creationId xmlns:p14="http://schemas.microsoft.com/office/powerpoint/2010/main" val="12773105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87AB55-1A1D-4142-84F3-ED83BCE3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445D9-738B-4525-A133-5461AD81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C854C-E436-471D-B6F0-FD948B9D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技术路径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96C8C-E6E2-49A7-B115-CDB8C733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技术选择以可解释、可落地、可迭代为原则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E2890-A082-47FE-A0F2-01CC94AC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94B2B-B9E6-45D2-BA0E-B8CC4318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来源：项目现状、对比试验与工程约束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9310E-8DCD-4B31-A91B-C21A7E20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8ACDE-89D8-486A-8392-A22C42E7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933575"/>
            <a:ext cx="6286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506D"/>
          </a:solidFill>
          <a:ln xmlns:a="http://schemas.openxmlformats.org/drawingml/2006/main" w="0">
            <a:solidFill>
              <a:srgbClr val="2850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EA6A0-AB1C-4037-BCD0-A944B937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752725"/>
            <a:ext cx="6286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506D"/>
          </a:solidFill>
          <a:ln xmlns:a="http://schemas.openxmlformats.org/drawingml/2006/main" w="0">
            <a:solidFill>
              <a:srgbClr val="2850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C2DAA-1581-4D39-B06E-0033A3B1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571875"/>
            <a:ext cx="6286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506D"/>
          </a:solidFill>
          <a:ln xmlns:a="http://schemas.openxmlformats.org/drawingml/2006/main" w="0">
            <a:solidFill>
              <a:srgbClr val="285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24DAD-06E3-4D9C-853B-4B6463DE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391025"/>
            <a:ext cx="6286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506D"/>
          </a:solidFill>
          <a:ln xmlns:a="http://schemas.openxmlformats.org/drawingml/2006/main" w="0">
            <a:solidFill>
              <a:srgbClr val="2850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9FE33-8127-47BF-B1B4-48676BF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043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C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81CF6-B6E2-46E0-BD6C-2F4AB650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9725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472BC-092E-47C2-9A1C-F4AEBCF9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业务锚点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BC56C4-320A-456F-920A-B6630363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0020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二维码与物理 Mark 把连续材料转成有边界、有尺度的检测段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FA1ADA-A3A5-41C6-8E25-65419D1C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1043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FE6A29-37B7-46F6-A1C4-E6E4E697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28875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F6B31A-3DF2-48CC-A33A-67AA818F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全局几何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015E5E-8867-4CF8-BD63-89A8941C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1935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RANSAC Homography 解决位置、旋转、尺度与透视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6B0A31-92CC-4939-A54D-35F6916C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043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9753CF-C464-4B8D-86F6-C8BB733B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7D7295-EBAE-4357-B478-7BA02DC8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局部精配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8AE8B1-C462-466D-B4B0-B8D5B967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3850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SIFT + RANSAC + 仿射吸收零件级残余偏差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75EC63-0268-4D20-9F1E-B0FB3322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1043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19050">
            <a:solidFill>
              <a:srgbClr val="3CD4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F3B95B-5014-4B3D-81CA-B0F38066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67175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5B0BBB-76DF-4F9A-ABF7-90222A47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缺陷判定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C464F1-83A0-4257-AEE9-0883DE46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5765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普通差分控制少印/多印，独立连续性通道保护细线断裂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96FABC-D0FD-48AC-A42B-9F1C5308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1043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F06D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A6828C-7908-41C5-8D2D-5F9FD5A6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86325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040958-768E-4642-80F7-5DA73215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95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工程保障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9CD232-C96E-4F66-BBFC-D7ABA1D6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7680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参数、日志、图像证据与性能基线支撑复现和迭代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B58CDF-85CA-47A6-9E44-F88ACB6F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76900"/>
            <a:ext cx="1043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当前不以纯深度学习为主：标注数据不足，而 TIFF 设计图提供了高价值、可解释的先验。</a:t>
            </a:r>
          </a:p>
        </p:txBody>
      </p:sp>
    </p:spTree>
    <p:extLst>
      <p:ext uri="{BB962C8B-B14F-4D97-AF65-F5344CB8AC3E}">
        <p14:creationId xmlns:p14="http://schemas.microsoft.com/office/powerpoint/2010/main" val="11096354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6AE2FC-94D0-4AEC-A33D-DF27BB08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76419-9BD0-47E1-BA03-917C3921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C2885-89F6-447F-886D-CFBD373B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关键路径 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2AB52-0240-46AC-BB34-75C7BB2E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二维码是分段锚点，鲁棒性优先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47DDF-080F-4F28-8518-47D68178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2B897-313A-4E22-A66F-7C37626F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真实帧与当前二维码模块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5FA82-3A3D-4FD5-95EA-565771A3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CD207-C238-41C9-B51F-5CFAEED8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47850"/>
            <a:ext cx="2667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85C64-9942-4D90-AED2-A408A7EC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47950"/>
            <a:ext cx="2667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D385D-95D4-499A-A789-AF038DA1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48050"/>
            <a:ext cx="2667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FAF7C-7F86-445C-A9A8-C6F3FCCF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48150"/>
            <a:ext cx="2667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EBCF2-AF82-44DD-99A6-C7153DBF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2724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A28D68-130A-43BC-912C-F6286E1F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F06031-E46A-42CF-AC97-EFC56B36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1. 固定检测区域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341F25-D0C8-409D-90B3-14A488FA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3832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减少背景干扰与无效计算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27FED5-E270-4187-B84C-08AE4AB4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2724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7833E6-3242-447E-A94D-C4919F2F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1C143F-2DE2-4CA9-BF24-BCC7823E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2. 灰度与极性适配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401EA-3492-46D2-86A0-63B4DA74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兼容亮码、暗码和灰底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A7FCFA-C358-47A8-BFC4-66900174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2724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5D412F-E6AA-4EC1-8B88-FCCD270D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518E73-C83C-4BC1-84D6-A75CFFB6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3. 压缩拉伸候选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F96E26-38EC-4027-8377-CA1259DA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5282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覆盖线扫方向几何形变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F2BF50-6135-4869-98E0-49C0734E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2724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E02E90-E7BE-489A-A8D8-3DAF587E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A38680-0229-491A-9AF6-4A47BC66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4. WeChatQRCode 解码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D9E885-91E2-4807-AD67-642E4E9F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007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直接作为主识别器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AAF7A1-4A15-4B72-B6F5-1F365E6C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2724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80FF8B-AFD6-4B70-BC7C-5EAA9A0B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3574AD-DCA7-4BDA-8BE8-59ADC42F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5. 映射回全图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EEA39D-23F2-4015-AB13-1D5C3D46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6732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输出中心、宽高与全局位置</a:t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aaf139c3240e4"/>
          <a:srcRect xmlns:a="http://schemas.openxmlformats.org/drawingml/2006/main" l="0" t="0" r="2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638550" y="1428750"/>
            <a:ext cx="4762500" cy="2952750"/>
          </a:xfrm>
          <a:prstGeom xmlns:a="http://schemas.openxmlformats.org/drawingml/2006/main" prst="round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17B987-4B11-4FFE-8B92-672BFF74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48125"/>
            <a:ext cx="4762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F6DAF1-72B3-4639-9024-944C7656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86225"/>
            <a:ext cx="461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真实帧：二维码同时承担段边界和尺度锚点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3C4A3A-78CE-4A21-8686-0709DEE7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428750"/>
            <a:ext cx="26860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B5D502-3A21-4086-BC86-E90A7EAE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5430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2 个二维码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076AC9-C18C-4B91-B79E-E49C50FB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812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定义完整材料段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320EC9-9AA1-4A70-A978-9238E7BD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33650"/>
            <a:ext cx="26860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3EF0D7-B488-40DA-8054-DA745EB1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479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多组候选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0CB66D-72AF-4FE7-96B6-82EA14E0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861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覆盖压缩与拉伸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6C7521-A91F-40F6-976C-C1594075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38550"/>
            <a:ext cx="26860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AC801F-A136-441E-8FAB-43688EC7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528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rPr>
              <a:t>主识别器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BD2C2C-3355-4CB3-A164-9A9B652D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910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不作为失败后备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BB98DE-5153-4282-A0F2-439B7A0A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67250"/>
            <a:ext cx="77533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28BF0A-E0C9-4B86-95B5-B521CB9C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672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47CA60-D4B1-487F-9118-6D363799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196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技术选择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7CFBB9-528A-4F88-A3A0-7F5F704F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191125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不采用“其他识别器失败后再调用”的重复路径：无二维码帧直接返回，流程更简单，结果口径更统一。</a:t>
            </a:r>
          </a:p>
        </p:txBody>
      </p:sp>
    </p:spTree>
    <p:extLst>
      <p:ext uri="{BB962C8B-B14F-4D97-AF65-F5344CB8AC3E}">
        <p14:creationId xmlns:p14="http://schemas.microsoft.com/office/powerpoint/2010/main" val="14869988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A5F6BB-6725-4640-ABB5-C118C2B9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431B1-3B74-4A25-8C1D-79986736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12E87-128C-495D-B0BC-A96DAB9E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专项补充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EEA4A-41B5-4EFE-A0CF-A26ADDC7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完善后的二维码整体识别处理逻辑（九步）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8C7F6-0580-4C59-8792-A4790C4B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D8389-A6A5-4656-B34B-2C57F322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来源：QrCodeDetector、ImageStitcher 与真实样本回归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C9466-EC6D-47DA-B9E9-9948B15E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B459D-80BF-40CC-9B40-578621C3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1F7DB-50E5-428D-826F-D45AC5D9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输入与覆盖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5920D-02EA-4A01-AE83-8232F2E8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9401B-4D1F-4086-A317-D2EDA6AA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6AFF8-3FF3-4E60-8AFF-6CE525B6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01 当前帧优先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7B87B-485C-4828-962C-25E0F43B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先查完整单帧；命中后直接输出结果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DD7BD-BF7D-42E9-969B-75514B8D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6D39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8114B-FF70-411F-852B-FDE03EC8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19EDE-FB9F-402B-A368-55380EA0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02 跨帧补齐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5E6CA3-1A05-422D-8D11-AC10F1C8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5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未命中时，拼接上一帧尾和当前帧头再识别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1B86E-46A9-42CD-B8EE-49D7ACA2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F7BD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B0A5B-9592-4314-AEF9-72E9E150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3E"/>
          </a:solidFill>
          <a:ln xmlns:a="http://schemas.openxmlformats.org/drawingml/2006/main" w="0">
            <a:solidFill>
              <a:srgbClr val="F7BD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BF165E-EF88-4716-BB99-7B2E279F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03 横向保护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B9EC3-914A-4D08-9352-9C6BA3A2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6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扩展固定 ROI 两侧，避免贴边二维码被裁掉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A73DC6-D2FC-4D10-AE00-1A08AAC0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CB9CAB-3021-4DA8-B000-E3FC9D03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常规识别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38172A-3FEE-48CD-8981-2FAAD47E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35C9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C4DB07-FB38-4367-B6D1-35BB5D24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9E8"/>
          </a:solidFill>
          <a:ln xmlns:a="http://schemas.openxmlformats.org/drawingml/2006/main" w="0">
            <a:solidFill>
              <a:srgbClr val="35C9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1808AB-0FE4-4BAC-ADA3-CA24F2AE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19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04 灰度与明暗适配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7E488-77D7-454F-829F-6F6C363E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907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1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统一转灰度，适配白码、暗底和常见明暗变化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DEDA5E-6777-481C-8179-CF8FF199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F376CC-B3D1-4AE6-95AC-70FC7BA8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8F4814-A10D-4BDB-88D1-6CF07142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57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05 常规快速解码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F51A10-08DB-40AB-9930-5F2B5DBF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290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尝试常用纵向尺度，普通样本快速返回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2F446C-AD76-47E3-8014-53B2DC84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6D39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9CC295-6C7C-4418-9404-54BD2927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244B75-2C56-4103-B0E6-4AB28ED2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06 二维码特征确认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3CA931-1F6C-492E-9BCB-E996E052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5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查找定位框结构；没有可靠特征就停止增强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3D3BB9-ADD2-4F6D-9039-5C82D915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CFBD85-5FAE-433E-902C-4CDA0AED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困难恢复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CD9005-F807-4DBB-A642-0BAB2DAA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83A1A5-97C2-45BF-999E-778A3888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A9FAD3-2A6A-40E9-BA3F-2C2922AB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07 局部码区提取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0CBAF6-65EB-4649-B002-AB8C3C33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907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1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只裁取有效码区，提高二维码在输入图中的占比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93A172-6268-4702-B89E-363769D8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6EE8C8-672F-4302-8A93-E76E250A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EFC8CD-1A69-4AEA-B1A6-E634B79E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75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08 三定位框透视恢复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8FE6B6-97FD-4D6A-984E-6E2F1F53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290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5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定位框可靠时重建码面，透视拉正并补足静区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E208D0-E5DB-4FA4-8215-4651C068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EE50FC-0295-45DD-BF67-ADB40199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A1C78F-9228-4618-B892-41A2EB36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09 光照复核与坐标还原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096238-CCEF-4351-874B-C44923A9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672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1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拉正图仍失败时局部展平；成功后还原全图坐标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12D92C-3D95-4D3E-A893-89EAD186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95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按 01→09 顺序执行；任一步成功即返回，透视与光照恢复只在定位框证据可靠时启动。</a:t>
            </a:r>
          </a:p>
        </p:txBody>
      </p:sp>
    </p:spTree>
    <p:extLst>
      <p:ext uri="{BB962C8B-B14F-4D97-AF65-F5344CB8AC3E}">
        <p14:creationId xmlns:p14="http://schemas.microsoft.com/office/powerpoint/2010/main" val="12336501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A5F6BB-6725-4640-ABB5-C118C2B9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431B1-3B74-4A25-8C1D-79986736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12E87-128C-495D-B0BC-A96DAB9E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真实样本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EEA4A-41B5-4EFE-A0CF-A26ADDC7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三类真实难样本已进入识别链路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8C7F6-0580-4C59-8792-A4790C4B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D8389-A6A5-4656-B34B-2C57F322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来源：用户提供的离线图库真实样本与当前版本回归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C9466-EC6D-47DA-B9E9-9948B15E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B459D-80BF-40CC-9B40-578621C3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1F7DB-50E5-428D-826F-D45AC5D9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跨帧 + 形变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1B86E-46A9-42CD-B8EE-49D7ACA2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F7BD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B0A5B-9592-4314-AEF9-72E9E150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3E"/>
          </a:solidFill>
          <a:ln xmlns:a="http://schemas.openxmlformats.org/drawingml/2006/main" w="0">
            <a:solidFill>
              <a:srgbClr val="F7BD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BF165E-EF88-4716-BB99-7B2E279F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跨帧组合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B9EC3-914A-4D08-9352-9C6BA3A2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识别成功｜补齐上下两帧后再解码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A73DC6-D2FC-4D10-AE00-1A08AAC0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CB9CAB-3021-4DA8-B000-E3FC9D03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贴边 + 模糊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2F446C-AD76-47E3-8014-53B2DC84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6D39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9CC295-6C7C-4418-9404-54BD2927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244B75-2C56-4103-B0E6-4AB28ED2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边缘恢复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3CA931-1F6C-492E-9BCB-E996E052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识别成功｜保护带、补静区、动态尺寸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3D3BB9-ADD2-4F6D-9039-5C82D915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CFBD85-5FAE-433E-902C-4CDA0AED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低对比黑码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E208D0-E5DB-4FA4-8215-4651C068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EE50FC-0295-45DD-BF67-ADB40199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A1C78F-9228-4618-B892-41A2EB36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黑码适配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096238-CCEF-4351-874B-C44923A9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672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识别成功｜反极性定位、原灰度解码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12D92C-3D95-4D3E-A893-89EAD186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95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当前结论：三类真实困难样本已覆盖；后续持续扩充回归图库，用数据衡量整体识别率与处理节拍。</a:t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cfbe47e804fea"/>
          <a:stretch xmlns:a="http://schemas.openxmlformats.org/drawingml/2006/main"/>
        </p:blipFill>
        <p:spPr>
          <a:xfrm xmlns:a="http://schemas.openxmlformats.org/drawingml/2006/main">
            <a:off x="1057391" y="1866900"/>
            <a:ext cx="2361969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1a541b7364c75"/>
          <a:stretch xmlns:a="http://schemas.openxmlformats.org/drawingml/2006/main"/>
        </p:blipFill>
        <p:spPr>
          <a:xfrm xmlns:a="http://schemas.openxmlformats.org/drawingml/2006/main">
            <a:off x="5097748" y="1866900"/>
            <a:ext cx="1863154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fa9190e7c84fee"/>
          <a:stretch xmlns:a="http://schemas.openxmlformats.org/drawingml/2006/main"/>
        </p:blipFill>
        <p:spPr>
          <a:xfrm xmlns:a="http://schemas.openxmlformats.org/drawingml/2006/main">
            <a:off x="8566344" y="1866900"/>
            <a:ext cx="2641212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</p:spTree>
    <p:extLst>
      <p:ext uri="{BB962C8B-B14F-4D97-AF65-F5344CB8AC3E}">
        <p14:creationId xmlns:p14="http://schemas.microsoft.com/office/powerpoint/2010/main" val="12336501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CF4464-2A8F-4134-834B-74471905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38D3D-946A-483E-80EA-9A190F8A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17E1F-056A-43F8-BC11-2FE2594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真实案例 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2F417-B9FC-4145-8E20-29472C01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弱曝光二维码：几何恢复后成功识别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A9E2B-1E25-4A7D-936D-029E6F42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EA303-D16E-4E82-B4DA-97B4FB3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来源：实际难样本 · QrCodeDetector 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C1893-E9C7-4C8D-B9B0-9042B1C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09A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B80FF-D967-449B-8017-0B9B657C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0CDB9-2F9E-43A4-AC50-AF3A0284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原始局部：过曝、模糊与背景条纹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6C1C4-DEA1-49A0-9D80-1A0A9558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8550C-21D7-4365-98AB-AB87074A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透视拉正：恢复标准 21×21 码面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6A7C7-3632-4A29-972C-6D4E92F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1D83D-13B7-4550-B9F3-6D5D12E0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499BC-308F-4F17-B491-61FCEFD4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C20D1-488C-4437-B81C-5065E8EF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162050" cy="12001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E2905-B509-4DEB-9188-3AE5EAC1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9E474-56ED-4DB2-860A-96694EBF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526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常规失败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7C91C-7A65-4787-A0A2-C5103F89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过曝模糊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直接失败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3787C-3329-43C3-933D-3FC5FDF0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E0618-9FA8-47EB-8787-576AA559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2F4D9-117D-4BF0-AD0D-4BA8C160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定位框确认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685BD-FBEF-4336-8AE9-C734F9C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稳定找到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三个定位框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21CE3-D77D-4BCA-A36C-CAB0E473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C1CEC1-82B2-49E9-BDB9-B7F5D4BC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EADAA0-5D88-4CE7-A71E-DECF3B80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透视拉正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1D4C4-9DA7-48E6-AE6B-D93F5218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恢复 21×21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标准码面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F3A89-D953-4BA0-B80A-BE702830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1638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3C6080-AD87-41CD-87DD-71E33798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871448-4F05-4D91-A497-0B854EE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光照复核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7531FB-68A9-419A-BD8D-B47A2AF4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局部展平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再次解码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189E29-DF02-4B0E-894F-45368265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1085850" cy="12001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93C946-5014-4048-ACF8-949460DE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EE404F-8DA4-4C56-B38D-A8D0B020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526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成功输出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05E9B2-3D16-4E5B-8E07-76912E22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241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文本位置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同时返回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C86CAC-3A56-41E9-B205-493C0816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37909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5DBEE0-0AE8-4970-99C3-F972C080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0542A1-64B5-4422-AF9F-F073F177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671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难点在哪里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25B9F-AD31-455F-BEFE-329FDF53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38625"/>
            <a:ext cx="346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白色带区域局部过曝，二维码又有模糊和背景条纹；直接缩放后，黑白模块容易被错误采样。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B9AF64-23AF-45C7-9044-55569C2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867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4E0235-BEDA-43F2-AFFA-BC0D1249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7CFB98-DDCD-40BF-A042-A1A30D51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优化为什么有效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EBA95A-B245-4D7E-907F-8446338E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543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先用三个定位框恢复真实码面；原灰度仍失败时，仅对拉正后的小图做光照展平，再交给同一解码器确认。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C0F7D5-0774-4118-9D20-08E901D3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86400"/>
            <a:ext cx="7334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F6BE2B-A99E-43AD-83C8-A6020633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9592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识别结果：ZJ_202606302651265_RT ｜ 21×21 ｜ 三定位框透视恢复 ｜ 局部光照展平</a:t>
            </a:r>
          </a:p>
        </p:txBody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f26a6141c4942"/>
          <a:srcRect xmlns:a="http://schemas.openxmlformats.org/drawingml/2006/main" l="0" t="14346" r="0" b="143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504950"/>
            <a:ext cx="2857500" cy="2000250"/>
          </a:xfrm>
          <a:prstGeom xmlns:a="http://schemas.openxmlformats.org/drawingml/2006/main" prst="roundRect">
            <a:avLst/>
          </a:prstGeom>
        </p:spPr>
      </p:pic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e7ef7ae0f494c"/>
          <a:stretch xmlns:a="http://schemas.openxmlformats.org/drawingml/2006/main"/>
        </p:blipFill>
        <p:spPr>
          <a:xfrm xmlns:a="http://schemas.openxmlformats.org/drawingml/2006/main">
            <a:off x="981075" y="3733800"/>
            <a:ext cx="2000250" cy="20002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944300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1867A3-2DB9-40F6-BA1C-A4BD1F64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B5EED-5C9B-4F27-BCC2-9CDE2EA1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B1658-EAE6-4570-823F-4A5570F1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关键路径 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F6FD3-8CFD-4D96-BF89-A6EE9EFE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全局对准先解决“大方向正确”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2B62D-D6CE-4D9F-92E0-62D69015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F4CD8-4846-404F-8678-A59CD5D8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来源：上下两排 20 mm Mark 与当前 H0 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14EB1-7DEC-4BC6-868B-2E8967C8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551f9f5724d95"/>
          <a:stretch xmlns:a="http://schemas.openxmlformats.org/drawingml/2006/main"/>
        </p:blipFill>
        <p:spPr>
          <a:xfrm xmlns:a="http://schemas.openxmlformats.org/drawingml/2006/main">
            <a:off x="1613365" y="1428750"/>
            <a:ext cx="2545421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63998-7D76-4FD9-B5E4-313D692E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38775"/>
            <a:ext cx="4667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F019E-38E0-4D91-B9EB-39826C13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76875"/>
            <a:ext cx="451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H0 变换后的真实 CIS 预览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580AE8-9D86-4E1B-9C4A-8C652960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428750"/>
            <a:ext cx="26860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54C4C-8EAD-44F2-BB65-F12E5DB5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428750"/>
            <a:ext cx="666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2C55B-8C94-4583-9218-65597BD5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5811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TIFF 物理基准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3F2A0-E849-4891-AAA4-295CF552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952625"/>
            <a:ext cx="2362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上排 Y = 50 mm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下排 Y = 970 mm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Mark 直径 = 20 mm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pxPerMm = 300 / 25.4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41802-3188-4C1F-8F41-B96C46BA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28750"/>
            <a:ext cx="32004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2E11C-A6EC-4890-9F68-2B1EF247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28750"/>
            <a:ext cx="666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C338C-5B27-4EEF-98A0-E8A1A696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5811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CIS 扫描基准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6BFD8A-1CDB-4214-B534-5B1D4C94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8765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下排 = 第二个 QR 在拼接段内的 Y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上排 = 下排 − 920 × (QR高/60)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631C90-0C37-4FA6-AC0A-7FDF043F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38550"/>
            <a:ext cx="19431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0567D7-D3D7-4D31-8281-417E751F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290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5427B1-2892-49BF-932A-24CCFFFC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290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BBF101-BE45-498E-92CE-A82168CC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338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05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预测 Mark 区域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C88821-92C4-4A7B-9E92-56A1D25A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814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3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只在有规律的位置检测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C377EB-7D6A-4AC8-A4D7-96D893C6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38550"/>
            <a:ext cx="19431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17171F-07A7-44E4-8550-3163744E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290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1826F7-0C18-4CD5-9B24-721EBC34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290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0D508B-28B2-452A-9EA3-F29C4865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识别并配对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D2CEA8-C532-42A5-BEBC-EF381029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814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3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圆度、直径与排列关系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736FBE-1EE7-489D-A8C2-975F371F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38550"/>
            <a:ext cx="1866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43E61C-4549-42EB-9596-0ED66B09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290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B69707-11B6-4619-B2D3-7504831C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290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523A52-CEB4-4A90-9FBD-9228398E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733800"/>
            <a:ext cx="97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16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RANSAC H0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F796AD-DF95-41DE-B464-C80A2954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18147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9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剔除异常点后拟合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1D30C1-6CE5-4D79-8145-EDFC4BC8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76800"/>
            <a:ext cx="5219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C93E2B-237C-4035-9E4A-C9F01E1A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86325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rPr>
              <a:t>对准失败必须有明确状态，不用错误矩阵继续检测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4BAF04-C1AE-482F-AA50-72C5E094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410200"/>
            <a:ext cx="598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H0 稳定、解释清楚，是当前默认全局模型；局部残差交给零件级精对准处理。</a:t>
            </a:r>
          </a:p>
        </p:txBody>
      </p:sp>
    </p:spTree>
    <p:extLst>
      <p:ext uri="{BB962C8B-B14F-4D97-AF65-F5344CB8AC3E}">
        <p14:creationId xmlns:p14="http://schemas.microsoft.com/office/powerpoint/2010/main" val="15859554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D66DD9-EFA8-40AB-876B-FBD3B375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9F77C-3284-4B32-8ED9-299C2D82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F3CB9-8AD5-4158-9614-A513A52A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可选增强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2BCB4-A283-4274-84E0-72FA1D3A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侧边 9 对 Mark：保留能力，默认关闭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94E73-2723-4AFB-93B4-4F36B1C3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D588C-3328-47D1-9E72-30B5D9E0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来源：当前侧边 Mark 实现、对比测试与配置开关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FD866-CE03-44F9-801B-39C1FA65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9c4cd2e4a4f5a"/>
          <a:stretch xmlns:a="http://schemas.openxmlformats.org/drawingml/2006/main"/>
        </p:blipFill>
        <p:spPr>
          <a:xfrm xmlns:a="http://schemas.openxmlformats.org/drawingml/2006/main">
            <a:off x="1383990" y="1428750"/>
            <a:ext cx="3099420" cy="4457700"/>
          </a:xfrm>
          <a:prstGeom xmlns:a="http://schemas.openxmlformats.org/drawingml/2006/main" prst="roundRect">
            <a:avLst>
              <a:gd name="adj" fmla="val 256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27FCC8-90DE-4401-82D9-6FC5C001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53075"/>
            <a:ext cx="4762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D1F73-72F1-4512-AE97-A67DA3EF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461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真实 CIS 侧边 Mark 与控制网格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CA4C6-A0F8-4E7C-8F14-45E59A03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764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CD4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CF70B-6B41-44B5-A311-9CF7145C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5262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7EED75-4293-48F8-8F76-05259CCC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2885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E35EBF-AAD2-43CF-9F30-94F4535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0507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31BCF-AC9C-4824-9ECD-54B51AB0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A6198D-BBF0-4706-938C-A32E673A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5752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E37C0A-6EE4-4B65-9063-F3902575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3375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24204E-F1E4-4969-8AC6-BFA5C6E0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0997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B60A7C-189F-4135-A7C2-48D1CCEC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862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318704-B65C-49DD-AAE3-F65CD478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6242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DFAFFF-0691-48BD-8116-395116F2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43865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CD48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680EEE-7741-4244-AADD-F77228D9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76400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6D6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1B7C80-8B9D-427E-9E3D-97362BF7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676400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CD48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28FACA-EFC6-46EF-A342-5C0F0B52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76400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6D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B9D021-8852-4913-895D-09587B80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144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0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06D6D"/>
                </a:solidFill>
                <a:latin typeface="Microsoft YaHei"/>
                <a:ea typeface="Microsoft YaHei"/>
                <a:cs typeface="Microsoft YaHei"/>
              </a:rPr>
              <a:t>左侧实测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C747E6-36D3-442F-A973-F217792B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314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0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中心保持 H0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2C0F0C-6434-495D-9140-FCDC5BF3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3144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0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06D6D"/>
                </a:solidFill>
                <a:latin typeface="Microsoft YaHei"/>
                <a:ea typeface="Microsoft YaHei"/>
                <a:cs typeface="Microsoft YaHei"/>
              </a:rPr>
              <a:t>右侧实测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B5E7B9-C645-405F-B36B-9D60BFCA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28750"/>
            <a:ext cx="2724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A6955E-BAE6-433E-B971-716519E9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28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3F12BC-BA27-4D87-9155-9F845976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81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适用场景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903124-F956-4DFF-A7BA-50272190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52625"/>
            <a:ext cx="2400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膜片边缘热胀冷缩明显、且多层小 Mark 检测稳定时，用于描述边缘非线性残差。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D17A2C-ED0E-4718-BA1B-D6E33B32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43250"/>
            <a:ext cx="2724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3FF61A-F9E0-458F-B167-7B6E60F9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432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C4DC34-CBE4-4D94-9A42-69750983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956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校正机制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578E73-D8E3-4497-9346-32944B0E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67125"/>
            <a:ext cx="2400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5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左右残差向中心平滑衰减；中心区域继续沿用 H0，避免用边缘形变猜测中部。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A1423E-7F6C-4AE3-9341-29EB8EE3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57750"/>
            <a:ext cx="27241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2164C2-D261-4D86-B33F-33FDED4F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577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BCA4A6-EF86-4A02-A166-617D61D6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10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门控与降级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8C3A22-47AB-4169-9357-CBAB5A7B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81625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有效点不足、网格不平滑或存在翻折时，明确回退 H0，不让增强功能降低稳定性。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47211E-87D8-4EDB-836A-04AE5F36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53000"/>
            <a:ext cx="2952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A0C3BE-7899-4362-AF8B-B7C20F61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625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649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实测提升并不稳定：当前默认关闭，通过开关保留后续数据化评估能力</a:t>
            </a:r>
          </a:p>
        </p:txBody>
      </p:sp>
    </p:spTree>
    <p:extLst>
      <p:ext uri="{BB962C8B-B14F-4D97-AF65-F5344CB8AC3E}">
        <p14:creationId xmlns:p14="http://schemas.microsoft.com/office/powerpoint/2010/main" val="21436406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CF4464-2A8F-4134-834B-74471905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38D3D-946A-483E-80EA-9A190F8A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17E1F-056A-43F8-BC11-2FE2594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关键路径 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2F417-B9FC-4145-8E20-29472C01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零件级 SIFT 精对准，决定差分质量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A9E2B-1E25-4A7D-936D-029E6F42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EA303-D16E-4E82-B4DA-97B4FB3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零件模板、CIS 实拍与对比验证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C1893-E9C7-4C8D-B9B0-9042B1C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6ec234a50464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50495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B80FF-D967-449B-8017-0B9B657C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0CDB9-2F9E-43A4-AC50-AF3A0284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TIFF 设计零件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dbeec6bef4f1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373380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6C1C4-DEA1-49A0-9D80-1A0A9558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8550C-21D7-4365-98AB-AB87074A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H0 后 CIS 零件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6A7C7-3632-4A29-972C-6D4E92F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1D83D-13B7-4550-B9F3-6D5D12E0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499BC-308F-4F17-B491-61FCEFD4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C20D1-488C-4437-B81C-5065E8EF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162050" cy="12001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E2905-B509-4DEB-9188-3AE5EAC1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9E474-56ED-4DB2-860A-96694EBF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526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统一尺度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7C91C-7A65-4787-A0A2-C5103F89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控制计算量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保留结构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3787C-3329-43C3-933D-3FC5FDF0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E0618-9FA8-47EB-8787-576AA559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2F4D9-117D-4BF0-AD0D-4BA8C160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提取特征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685BD-FBEF-4336-8AE9-C734F9C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设计 / 实拍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建立对应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21CE3-D77D-4BCA-A36C-CAB0E473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C1CEC1-82B2-49E9-BDB9-B7F5D4BC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EADAA0-5D88-4CE7-A71E-DECF3B80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匹配筛选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1D4C4-9DA7-48E6-AE6B-D93F5218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去除弱匹配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Lowe 0.6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F3A89-D953-4BA0-B80A-BE702830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1638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3C6080-AD87-41CD-87DD-71E33798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871448-4F05-4D91-A497-0B854EE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RANSAC 剔错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7531FB-68A9-419A-BD8D-B47A2AF4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排除错误对应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189E29-DF02-4B0E-894F-45368265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1085850" cy="12001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93C946-5014-4048-ACF8-949460DE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EE404F-8DA4-4C56-B38D-A8D0B020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526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仿射对齐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05E9B2-3D16-4E5B-8E07-76912E22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241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消除局部残差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Cubic Warp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C86CAC-3A56-41E9-B205-493C0816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37909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5DBEE0-0AE8-4970-99C3-F972C080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0542A1-64B5-4422-AF9F-F073F177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671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为什么有效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25B9F-AD31-455F-BEFE-329FDF53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38625"/>
            <a:ext cx="346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全局 H0 后仍会残留零件级平移、旋转和轻微尺度差；逐件精对准能显著减小轮廓差分。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B9AF64-23AF-45C7-9044-55569C2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867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4E0235-BEDA-43F2-AFFA-BC0D1249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7CFB98-DDCD-40BF-A042-A1A30D51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为什么保留原路线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EBA95A-B245-4D7E-907F-8446338E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543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多轮对比表明原 SIFT + RANSAC + 仿射路径更稳定；优化重点转向缓存、并行和资源释放。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C0F7D5-0774-4118-9D20-08E901D3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86400"/>
            <a:ext cx="7334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F6BE2B-A99E-43AD-83C8-A6020633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9592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技术选择：不为了“算法更新”牺牲已验证的对准效果</a:t>
            </a:r>
          </a:p>
        </p:txBody>
      </p:sp>
    </p:spTree>
    <p:extLst>
      <p:ext uri="{BB962C8B-B14F-4D97-AF65-F5344CB8AC3E}">
        <p14:creationId xmlns:p14="http://schemas.microsoft.com/office/powerpoint/2010/main" val="4944300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5AC184-EA64-494B-9C35-029AE194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BCD84-3C21-4D39-8F24-9AD5E076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B7D2B-8E04-488A-A671-41471DD1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关键路径 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72BBE-BF0F-475E-8A05-97A89403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差分检测同时处理“少印”和“多印”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1DC16-CD4A-4B1A-8B6C-8FAC59FA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BA1AB-87C2-40C2-84A1-776C4598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真实零件三联结果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61B19-0326-43EB-A5C4-DC8F8196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dad65a07a491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52450" y="2056139"/>
            <a:ext cx="6286500" cy="2117071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00404-79B3-4A0F-938B-CF51FE7C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67225"/>
            <a:ext cx="6286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D127D-3260-438E-B6AF-42135BED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05325"/>
            <a:ext cx="613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真实证据链：设计二值图 / CIS 判定图 / 差分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C8638-05D1-4526-9959-BE5EE52F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28750"/>
            <a:ext cx="20383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1FEB1-3E49-4406-B332-88515CAA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28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869AC-F76E-4B44-ACC1-1FBCD8FF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81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内部缺失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B6B69-CF02-4EC6-B865-E772BFD4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52625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3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dilate(CIS)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Alpha − CISdilate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断墨 / 漏印候选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A1715D-73B3-4D54-8452-CAC8A2C3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428750"/>
            <a:ext cx="21526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F680C-1154-49E0-BC37-5F5BD085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428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1A836-7FCE-4B09-BE95-7B8E85E2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5811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外部多余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5E764B-FF24-4152-9FDB-FF24E6A8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52625"/>
            <a:ext cx="182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3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dilate(Alpha)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CIS − Alphadilate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飞墨 / 脏污候选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00F99-520C-47CF-9ED7-69BBA7EB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44196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C97636-3C84-43EF-B3EF-DCC65F1F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A88BD1-5189-4711-B4B0-8A2836A3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956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轮廓容差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E33DD-0D0A-4D71-826D-D0BA4F82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67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1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对设计轮廓设置内外容差，吸收无法完全消除的重采样和配准误差。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AFF063-6A7E-4AEA-B9FD-3EAB66CB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14850"/>
            <a:ext cx="44196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148B22-4799-45BE-B9B5-FF8AE304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148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635F9C-8CDB-47B8-8958-BF99782B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零件级结论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8D936C-46C8-485E-B31E-76B96B6E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387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输出候选位置、面积和数量，并在同一张图中保留缺陷框与差异证据。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7531D2-3B94-4790-B52C-DB5FADC3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81600"/>
            <a:ext cx="600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6C2F33-8815-4E91-ADC9-A97161D4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91125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普通差分通道负责稳定控制大多数少印、多印与脏污缺陷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F0ACC4-BA50-424C-BC0A-AECC1FEC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rPr>
              <a:t>细小轮廓断裂由独立连续性通道补充，避免与普通面积规则相互牵制</a:t>
            </a:r>
          </a:p>
        </p:txBody>
      </p:sp>
    </p:spTree>
    <p:extLst>
      <p:ext uri="{BB962C8B-B14F-4D97-AF65-F5344CB8AC3E}">
        <p14:creationId xmlns:p14="http://schemas.microsoft.com/office/powerpoint/2010/main" val="11492365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F27F8B-4CDD-443B-B14D-0D3689C6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C8383-1401-4606-8160-671E8D33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D5D45-E978-41B1-8283-9F68ED61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核心难点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AD13E-1783-4560-84AC-C1190B51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既要抑制轮廓误报，也不能漏掉真实断线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C452E-31B2-435C-A5E3-6BCF9635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8B1D0-DEB7-4C9E-B5B3-A6800D76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真实细线断裂样例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8F52B-07D3-46FD-9A91-0428CE8B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08f69aa2344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524000"/>
            <a:ext cx="4857750" cy="39814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141F4-F6E9-4C37-ABF5-A3709224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72075"/>
            <a:ext cx="4857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91C92-B2AA-49A8-81D9-B6826727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0175"/>
            <a:ext cx="470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左：TIFF 设计细线｜右：CIS 实拍断裂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27DA8-7D35-4957-AB27-0B108E5C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8155F-CF75-4D1F-8C3D-325B3ECB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C7F89-C066-4F63-9482-BED40891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01 误报来自轮廓错位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82519-E64A-4D5C-89AD-68ACDC50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即使完成二次配准，重采样和轻微形变仍可能在边缘留下细轮廓。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C1122-7AFF-4C5C-8B42-F6211C0B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2400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BF21F-E142-4A2F-A26F-F0C35F59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240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1BD03-30A0-4A78-80CE-6D5FDB10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02 传统措施是边缘屏蔽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CEE40-B111-4913-B100-93726C70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4787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内外轮廓容差能显著压低误报，是普通差分稳定运行的基础。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68B2B-B076-49A7-A66D-564C2354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6235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7316E1-C26F-4591-8988-28741F42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6235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B2C423-A074-4481-A54B-1B964588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03 新风险是遮住真断线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3227FB-4C4D-4180-A57B-510D4DFC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862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原图案本身很细，断裂恰好位于屏蔽带内时，普通差分会被清零。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D8ED0-4448-4E8D-8FAF-895664B1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AC6668-17B7-4C27-8B78-CD8308BE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7580F6-B81F-4B0A-88DD-F299ABE2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04 先减误报，再查断线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218E01-1CA5-4AB5-AA15-FC496B91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862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先屏蔽边缘假轮廓，减少误报；再单独检查设计细线是否断开，补回真实缺陷。</a:t>
            </a:r>
          </a:p>
        </p:txBody>
      </p:sp>
    </p:spTree>
    <p:extLst>
      <p:ext uri="{BB962C8B-B14F-4D97-AF65-F5344CB8AC3E}">
        <p14:creationId xmlns:p14="http://schemas.microsoft.com/office/powerpoint/2010/main" val="5366537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CF4464-2A8F-4134-834B-74471905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38D3D-946A-483E-80EA-9A190F8A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17E1F-056A-43F8-BC11-2FE2594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最新优化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2F417-B9FC-4145-8E20-29472C01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细线断裂的判定：中间缺一段，两侧仍有线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A9E2B-1E25-4A7D-936D-029E6F42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EA303-D16E-4E82-B4DA-97B4FB3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来源：FineLineFolder6Probe 与正式检测结果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C1893-E9C7-4C8D-B9B0-9042B1C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233edc3bd462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50495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B80FF-D967-449B-8017-0B9B657C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0CDB9-2F9E-43A4-AC50-AF3A0284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假缺口：错位后仍然连通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71d72701344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373380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6C1C4-DEA1-49A0-9D80-1A0A9558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8550C-21D7-4365-98AB-AB87074A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真断裂：中间确实缺一段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6A7C7-3632-4A29-972C-6D4E92F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1D83D-13B7-4550-B9F3-6D5D12E0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499BC-308F-4F17-B491-61FCEFD4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C20D1-488C-4437-B81C-5065E8EF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162050" cy="12001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E2905-B509-4DEB-9188-3AE5EAC1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9E474-56ED-4DB2-860A-96694EBF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526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限定范围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7C91C-7A65-4787-A0A2-C5103F89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8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只看屏蔽区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内的设计细线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3787C-3329-43C3-933D-3FC5FDF0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E0618-9FA8-47EB-8787-576AA559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2F4D9-117D-4BF0-AD0D-4BA8C160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定义缺口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685BD-FBEF-4336-8AE9-C734F9C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TIFF 有线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CIS 连续缺失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21CE3-D77D-4BCA-A36C-CAB0E473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C1CEC1-82B2-49E9-BDB9-B7F5D4BC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EADAA0-5D88-4CE7-A71E-DECF3B80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4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确认尺寸门槛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1D4C4-9DA7-48E6-AE6B-D93F5218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长度≥0.5 mm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线宽≤2 mm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F3A89-D953-4BA0-B80A-BE702830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1638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3C6080-AD87-41CD-87DD-71E33798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871448-4F05-4D91-A497-0B854EE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确认两侧线段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7531FB-68A9-419A-BD8D-B47A2AF4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缺口前后
都有同一条线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189E29-DF02-4B0E-894F-45368265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1085850" cy="12001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93C946-5014-4048-ACF8-949460DE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EE404F-8DA4-4C56-B38D-A8D0B020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526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0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排除假断线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05E9B2-3D16-4E5B-8E07-76912E22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241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平移或连通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则不报缺陷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C86CAC-3A56-41E9-B205-493C0816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37909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5DBEE0-0AE8-4970-99C3-F972C080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0542A1-64B5-4422-AF9F-F073F177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671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缺口的具体定义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25B9F-AD31-455F-BEFE-329FDF53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38625"/>
            <a:ext cx="346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TIFF 本应有细线，而 CIS 沿线方向连续少了一段；该段达到最小长度，并且属于细线范围。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B9AF64-23AF-45C7-9044-55569C2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867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4E0235-BEDA-43F2-AFFA-BC0D1249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7CFB98-DDCD-40BF-A042-A1A30D51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“两侧仍有线”是什么意思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EBA95A-B245-4D7E-907F-8446338E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543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沿同一条设计线，缺口前后都还有线段，CIS 两侧也能看到对应线条；说明只是中间断开，不是整条线消失。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C0F7D5-0774-4118-9D20-08E901D3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86400"/>
            <a:ext cx="7334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F6BE2B-A99E-43AD-83C8-A6020633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9592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最终判定：缺口达标 + 两侧线段存在 + 无法用平移或绕行连接解释</a:t>
            </a:r>
          </a:p>
        </p:txBody>
      </p:sp>
    </p:spTree>
    <p:extLst>
      <p:ext uri="{BB962C8B-B14F-4D97-AF65-F5344CB8AC3E}">
        <p14:creationId xmlns:p14="http://schemas.microsoft.com/office/powerpoint/2010/main" val="4944300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4041AF-20C3-4DA3-B40A-B8543FC9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AD5B9-DD9B-4076-9E6E-D0B0319B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AB7C1-6EC5-4968-ABE3-AB516725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真实验证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8173B-CAA1-4132-A8C1-4526728D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moreMarks\6：用真实连续帧验证完整链路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5D818-F4F4-462A-8331-22E3E45B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DE76E-EDA4-43F3-B629-64150669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来源：E:\南京爱速智\CIS\moreMarks\6 与 20260720_102208 输出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960BB-347F-4B5F-BCB8-F0AD9C20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B7A61-94EE-416D-8EA1-8E35E594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1467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8452B-25B6-4C95-AF4F-4C51974E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1467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9b34a5730454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476375"/>
            <a:ext cx="3009900" cy="1714500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B5DA1-21DF-4A6B-A155-D8FAF3AC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3009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CA064-7CD9-41E1-BC70-B6448FEA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6 张 CIS 连续帧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64307-73CE-489E-A3D7-B571000B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30099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CC1A2-E9A8-4F99-A02B-E82D3B00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66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7EE76-8FCF-41D3-A671-A0CD4747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1C90F-50AF-42E6-8D04-F24B47A7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2686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在线：Volans 采集卡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离线：按文件名排序的帧图库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关联：Debug.log + TIFF/Alpha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E001D-C661-4FF8-A0A7-EECCB7F4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76375"/>
            <a:ext cx="3886200" cy="4124325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34B75-1A99-4584-89C3-A09917F6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76375"/>
            <a:ext cx="66675" cy="412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CC0A2D-92E3-4BF0-9CA5-FD6F0839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28775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完整处理链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6CC72A-B033-41FB-9ABD-CFAEDE07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00250"/>
            <a:ext cx="35623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① WeChatQRCode 识别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② 二维码分段拼接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③ Mark / H0 全局对准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④ 零件 SIFT 二次配准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⑤ 形态学差分判定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08833fe1e41c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458200" y="1476375"/>
            <a:ext cx="3143250" cy="2286000"/>
          </a:xfrm>
          <a:prstGeom xmlns:a="http://schemas.openxmlformats.org/drawingml/2006/main" prst="round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5D7EB-C418-4CF8-B327-2ED9E25F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29000"/>
            <a:ext cx="3143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4362DD-4BD0-4BC5-BC6E-A5BBE301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全局结果图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18C578-1DE8-496D-B104-406966B8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3143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6A6C35-BDAD-4ADE-AD43-C705AF53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58BB84-EA6E-4C89-9D0F-200499A0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576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4AD828-F9A4-40CD-8CD9-B3FD3EAD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29125"/>
            <a:ext cx="2819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1 张全局结果、9 个零件结果，以及逐件 TIFF / CIS / Alpha / 差分证据。</a:t>
            </a:r>
          </a:p>
        </p:txBody>
      </p:sp>
    </p:spTree>
    <p:extLst>
      <p:ext uri="{BB962C8B-B14F-4D97-AF65-F5344CB8AC3E}">
        <p14:creationId xmlns:p14="http://schemas.microsoft.com/office/powerpoint/2010/main" val="19473988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CF4464-2A8F-4134-834B-74471905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38D3D-946A-483E-80EA-9A190F8A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17E1F-056A-43F8-BC11-2FE2594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真实案例 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2F417-B9FC-4145-8E20-29472C01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291：右侧细线断裂被定位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A9E2B-1E25-4A7D-936D-029E6F42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EA303-D16E-4E82-B4DA-97B4FB3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· 291c1994cb7048d0a3ff72fffc3c15c4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C1893-E9C7-4C8D-B9B0-9042B1C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848a4c9d247db"/>
          <a:srcRect xmlns:a="http://schemas.openxmlformats.org/drawingml/2006/main" l="92500" t="43000" r="500" b="48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50495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B80FF-D967-449B-8017-0B9B657C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0CDB9-2F9E-43A4-AC50-AF3A0284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CIS 原图断裂近景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748e8d0874918"/>
          <a:srcRect xmlns:a="http://schemas.openxmlformats.org/drawingml/2006/main" l="59000" t="31000" r="33300" b="31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373380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6C1C4-DEA1-49A0-9D80-1A0A9558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8550C-21D7-4365-98AB-AB87074A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正式检测框选结果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6A7C7-3632-4A29-972C-6D4E92F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1D83D-13B7-4550-B9F3-6D5D12E0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499BC-308F-4F17-B491-61FCEFD4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C20D1-488C-4437-B81C-5065E8EF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162050" cy="12001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E2905-B509-4DEB-9188-3AE5EAC1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9E474-56ED-4DB2-860A-96694EBF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526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真实断裂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7C91C-7A65-4787-A0A2-C5103F89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CIS 局部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真实缺口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3787C-3329-43C3-933D-3FC5FDF0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E0618-9FA8-47EB-8787-576AA559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2F4D9-117D-4BF0-AD0D-4BA8C160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位于右侧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685BD-FBEF-4336-8AE9-C734F9C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与设计细线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对应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21CE3-D77D-4BCA-A36C-CAB0E473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C1CEC1-82B2-49E9-BDB9-B7F5D4BC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EADAA0-5D88-4CE7-A71E-DECF3B80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落在边缘带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1D4C4-9DA7-48E6-AE6B-D93F5218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原屏蔽区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易漏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F3A89-D953-4BA0-B80A-BE702830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1638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3C6080-AD87-41CD-87DD-71E33798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871448-4F05-4D91-A497-0B854EE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连续性复核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7531FB-68A9-419A-BD8D-B47A2AF4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缺口两端仍连通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189E29-DF02-4B0E-894F-45368265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1085850" cy="12001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93C946-5014-4048-ACF8-949460DE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EE404F-8DA4-4C56-B38D-A8D0B020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526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输出坐标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05E9B2-3D16-4E5B-8E07-76912E22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241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进入缺陷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C86CAC-3A56-41E9-B205-493C0816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37909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5DBEE0-0AE8-4970-99C3-F972C080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0542A1-64B5-4422-AF9F-F073F177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671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检出意义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25B9F-AD31-455F-BEFE-329FDF53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38625"/>
            <a:ext cx="346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该缺口位于原轮廓屏蔽区域，过去可能被清零；现在由独立细线通道补回。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B9AF64-23AF-45C7-9044-55569C2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867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4E0235-BEDA-43F2-AFFA-BC0D1249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7CFB98-DDCD-40BF-A042-A1A30D51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判断依据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EBA95A-B245-4D7E-907F-8446338E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543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不是只看灰度深浅，而是同时检查设计细线、连续缺口长度和两端结构支撑。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C0F7D5-0774-4118-9D20-08E901D3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86400"/>
            <a:ext cx="7334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F6BE2B-A99E-43AD-83C8-A6020633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9592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紫色框：细线断裂通道输出｜样例来源：moreMarks\6</a:t>
            </a:r>
          </a:p>
        </p:txBody>
      </p:sp>
    </p:spTree>
    <p:extLst>
      <p:ext uri="{BB962C8B-B14F-4D97-AF65-F5344CB8AC3E}">
        <p14:creationId xmlns:p14="http://schemas.microsoft.com/office/powerpoint/2010/main" val="4944300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CF4464-2A8F-4134-834B-74471905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38D3D-946A-483E-80EA-9A190F8A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17E1F-056A-43F8-BC11-2FE2594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真实案例 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2F417-B9FC-4145-8E20-29472C01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相近位置断裂，在多个零件中一致检出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A9E2B-1E25-4A7D-936D-029E6F42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EA303-D16E-4E82-B4DA-97B4FB3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· 3c5cf1e3... 与 52097092...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C1893-E9C7-4C8D-B9B0-9042B1C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f55f136a394a4a"/>
          <a:srcRect xmlns:a="http://schemas.openxmlformats.org/drawingml/2006/main" l="59000" t="31000" r="33300" b="31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50495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B80FF-D967-449B-8017-0B9B657C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0CDB9-2F9E-43A4-AC50-AF3A0284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3c5 零件右侧断裂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dd4775cc27496b"/>
          <a:srcRect xmlns:a="http://schemas.openxmlformats.org/drawingml/2006/main" l="59000" t="31000" r="33300" b="31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373380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6C1C4-DEA1-49A0-9D80-1A0A9558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8550C-21D7-4365-98AB-AB87074A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520 零件右侧断裂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6A7C7-3632-4A29-972C-6D4E92F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1D83D-13B7-4550-B9F3-6D5D12E0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499BC-308F-4F17-B491-61FCEFD4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C20D1-488C-4437-B81C-5065E8EF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162050" cy="12001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E2905-B509-4DEB-9188-3AE5EAC1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9E474-56ED-4DB2-860A-96694EBF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526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3 个零件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7C91C-7A65-4787-A0A2-C5103F89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含前页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291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3787C-3329-43C3-933D-3FC5FDF0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E0618-9FA8-47EB-8787-576AA559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2F4D9-117D-4BF0-AD0D-4BA8C160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相近位置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685BD-FBEF-4336-8AE9-C734F9C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右侧中部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轮廓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21CE3-D77D-4BCA-A36C-CAB0E473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C1CEC1-82B2-49E9-BDB9-B7F5D4BC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EADAA0-5D88-4CE7-A71E-DECF3B80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相同类型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1D4C4-9DA7-48E6-AE6B-D93F5218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细线连续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缺失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F3A89-D953-4BA0-B80A-BE702830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1638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3C6080-AD87-41CD-87DD-71E33798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871448-4F05-4D91-A497-0B854EE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正式逻辑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7531FB-68A9-419A-BD8D-B47A2AF4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均进入细线通道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189E29-DF02-4B0E-894F-45368265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1085850" cy="12001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93C946-5014-4048-ACF8-949460DE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EE404F-8DA4-4C56-B38D-A8D0B020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526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结果一致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05E9B2-3D16-4E5B-8E07-76912E22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241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紫色框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C86CAC-3A56-41E9-B205-493C0816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37909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5DBEE0-0AE8-4970-99C3-F972C080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0542A1-64B5-4422-AF9F-F073F177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671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一致性观察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25B9F-AD31-455F-BEFE-329FDF53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38625"/>
            <a:ext cx="346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291、3c5、520 在相近位置出现类似断线，正式检测结果均给出细线断裂框。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B9AF64-23AF-45C7-9044-55569C2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867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4E0235-BEDA-43F2-AFFA-BC0D1249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7CFB98-DDCD-40BF-A042-A1A30D51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业务意义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EBA95A-B245-4D7E-907F-8446338E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543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跨零件重复出现的同类缺口，比单个孤立像素更值得质量人员重点复核。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C0F7D5-0774-4118-9D20-08E901D3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86400"/>
            <a:ext cx="7334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F6BE2B-A99E-43AD-83C8-A6020633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9592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当前结论只证明这些样例被覆盖，不等同于整体准确率</a:t>
            </a:r>
          </a:p>
        </p:txBody>
      </p:sp>
    </p:spTree>
    <p:extLst>
      <p:ext uri="{BB962C8B-B14F-4D97-AF65-F5344CB8AC3E}">
        <p14:creationId xmlns:p14="http://schemas.microsoft.com/office/powerpoint/2010/main" val="49443007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507C7F8-856C-40FF-8A37-983370C2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45CA0-05A1-48E4-85C8-7DB2F3BD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5D6A7-26E9-4ED6-B8E0-1BD47A10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运行效率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6AB82-FE0B-4CB9-8703-C72DD130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性能已经可量化，下一步是收敛现场节拍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87DF1-B32E-46DF-9D98-4B20C4DE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D4BE7-681A-4560-876B-9A1ED170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来源：PerformanceBaselines.csv 与 2026-07-20 构建验证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5EB86-1B79-4B25-AABF-8A558D4A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4F87F-1390-4B27-97BE-136512F6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09750"/>
            <a:ext cx="0" cy="3028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50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5413F-8768-4B5F-98E6-5B071D72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0" cy="3028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50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81520-CEB8-460C-B86C-3B314DE1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09750"/>
            <a:ext cx="0" cy="3028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5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F728F-D012-4F07-BE4B-D3B4A10F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1981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C512A-2624-4B9A-9330-E0138CDF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零件并行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CCD6C-2C41-44F1-BCC9-DEAA7237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428750"/>
            <a:ext cx="1981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2AFF6A-5D3E-4730-9B4E-25878CA9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43827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SIFT 缓存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C7FA07-CBD0-4753-9E33-30E20783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428750"/>
            <a:ext cx="1981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F9F1CD-82B2-4307-B2B4-5DEF7A99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43827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缺陷判定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5AFC5-C2AF-40A6-8D4F-92545198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428750"/>
            <a:ext cx="1600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3E5903-AD68-4E71-B095-2E009101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43827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结果保存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15087C-F0D5-403A-A4D2-38E690B1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1526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03709D-224F-439B-A5A1-5AEBB8CC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C10FAC-7CC3-4709-B5F4-0FAC6948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待检零件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973D13-6F55-4507-9D48-6A546D32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18288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按 ROI 分配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0220B8-8596-4435-9F0C-CD3779A1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57400"/>
            <a:ext cx="21526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5E6B9E-D130-4288-9F9B-FE6A1DEC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574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21EF08-23C4-4B4E-8884-176EF99B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098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模板特征复用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862196-0386-421C-9AAF-61FD035C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812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减少重复计算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E6B2E6-DC98-4C91-9F7C-3297667A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21526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639E7E-202D-40FB-8E41-0A667E30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5886F5-F84A-4213-9D33-E3F63FB8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098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普通差分 + 细线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C593ED-4430-4E8D-8F22-AD38B161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812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逐件独立执行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55FD38-F551-4617-AF2D-1BF48A65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57400"/>
            <a:ext cx="1790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F799E2-F0B0-4F06-85BB-489E55DF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574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F43411-DFA6-49AC-A5BA-C57E4189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098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编码与落盘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483981-5BF7-4EFF-90D3-8D02F0BB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812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当前含图像保存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D49332-4BBA-46F3-AB08-923E2678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33750"/>
            <a:ext cx="2152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58C00B-97E7-46DA-95FD-DE0FFF04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33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7817C4-5C8D-4A11-AA79-90317C76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861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阶段计时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292219-516D-45ED-AAA0-03919B5F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5762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并行度：自动 / 可配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P50 / P95 写入 CSV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91036C-C9E4-4BF8-A915-7F931CC6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33750"/>
            <a:ext cx="2152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BAC9A0-AE31-4BF9-B040-429D3DDD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33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7A8A50-BBCB-4FCE-B7CD-8DE7EECF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861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并行度可配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FC7F5C-9405-47F6-8EFB-F45F8032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5762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0 自动或显式设置
当前测试为 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0BF53B-5BC2-43D8-AF3F-5A9F35BD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2095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7CB4A5-3B24-40DF-B506-CD332D2C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构建通过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F05A53-7BE8-480B-96CF-783F02EF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13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Debug / Release x64：0 警告、0 错误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CA73F4-4AEB-42C8-8612-682B991D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105400"/>
            <a:ext cx="2095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C00CE1-F867-4BD0-9E55-199C44B5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97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1.81–2.64 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176812-A9E7-4B80-91DE-A667CE89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57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9 件 · 并行 8 · Debug 记录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31A1F2-F0B3-444E-93E3-C7490834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105400"/>
            <a:ext cx="2095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587E39-A07F-4BC4-BAFA-47CDA7B3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197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7 / 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6CA200B-2B16-4315-8E9C-F3F3C8FC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57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重复模板缓存命中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87F70AD-F2C4-4585-94AA-FAB161CF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105400"/>
            <a:ext cx="2095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E4EB3B4-BC97-43CE-8B76-43E8DD7B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rPr>
              <a:t>P50 1.32 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2E93E86-2DDB-482D-B9A8-DA50A00E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57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最新单批的单件中位数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AA1F856-D8E0-4F4D-808A-46F78B06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05400"/>
            <a:ext cx="19431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67E4359-63D4-40AC-99EC-A6CA8327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197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F7B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BD3E"/>
                </a:solidFill>
                <a:latin typeface="Microsoft YaHei"/>
                <a:ea typeface="Microsoft YaHei"/>
                <a:cs typeface="Microsoft YaHei"/>
              </a:rPr>
              <a:t>仍需 24h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021543-66AE-41AF-8188-6F038305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657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12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Release 固定条件与硬件长稳</a:t>
            </a:r>
          </a:p>
        </p:txBody>
      </p:sp>
    </p:spTree>
    <p:extLst>
      <p:ext uri="{BB962C8B-B14F-4D97-AF65-F5344CB8AC3E}">
        <p14:creationId xmlns:p14="http://schemas.microsoft.com/office/powerpoint/2010/main" val="121891050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8910D4-738D-44F5-9660-0F6DCF10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EEFD8-496D-4395-9345-E0ABF92D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8B310-3EB6-445E-92D9-047BE06B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现场使用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1CB2D-5ED5-4B65-8BAB-405C9ABD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一个工作台覆盖采集、参数、结果与复核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373EC-EB01-4DC9-8CF0-6253ECD2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73CBC-AC11-4949-893B-E684BDBE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 WPF 工作台与参数设置流程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DDA8B-76BA-4896-B6FE-7FBE607D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18A84-4A0D-41FE-A6B5-E8B071D9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75247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141A2A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6716A-D1A6-4309-BB6B-610501CA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7810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63D82-9BB5-454D-9D6B-4D8636BE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加载配置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E94B1-FFF5-4D07-AC5D-9012DD81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81150"/>
            <a:ext cx="7810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7B61D9"/>
          </a:solidFill>
          <a:ln xmlns:a="http://schemas.openxmlformats.org/drawingml/2006/main" w="0">
            <a:solidFill>
              <a:srgbClr val="7B61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34362-D90D-47DF-891C-822A2F47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192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离线图库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2833A-9BD3-42E0-A1D4-3360BF71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581150"/>
            <a:ext cx="7810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FB3DC-F129-4A40-9D35-AD925862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6192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开始采集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06350-2BA8-4B06-8807-1B8A038C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81150"/>
            <a:ext cx="7810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7BA2E-E1B3-4E55-8EF5-4BB19B11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192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7F42C6-D3DF-458D-B359-AB9C2F70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81150"/>
            <a:ext cx="7810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9CA175-0375-4937-B55E-B886222D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192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停止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0ED5A-54C5-4F98-B9CE-CDC8DB3E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581150"/>
            <a:ext cx="1000125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C63ACD"/>
          </a:solidFill>
          <a:ln xmlns:a="http://schemas.openxmlformats.org/drawingml/2006/main" w="0">
            <a:solidFill>
              <a:srgbClr val="C63AC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74DDCA-C88C-4CFD-A3F1-8A5FD749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19250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采集卡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4357FA-8963-4001-A1B4-C810CAD8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81150"/>
            <a:ext cx="1000125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63F2D7-B63B-4DA1-A0E4-05421EF8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619250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相机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F97132-3A26-4F58-AA3B-021E09D5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581150"/>
            <a:ext cx="1000125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19F8A5-50BE-4131-BDCB-B566C89F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19250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参数设置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EEBCC0-04E8-417B-BFCD-93300D47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340995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90D17"/>
          </a:solidFill>
          <a:ln xmlns:a="http://schemas.openxmlformats.org/drawingml/2006/main" w="9525">
            <a:solidFill>
              <a:srgbClr val="222B4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193432-5AF6-4F13-B248-A32A2E3A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实时采集预览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3C4749-28A5-4DE4-926C-7DDCD9B8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33600"/>
            <a:ext cx="352425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90D17"/>
          </a:solidFill>
          <a:ln xmlns:a="http://schemas.openxmlformats.org/drawingml/2006/main" w="9525">
            <a:solidFill>
              <a:srgbClr val="222B4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5F889-35EE-4ADD-AC81-1D7AB5E5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09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拼接结果  |  全局缺陷图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4F0222-EA1C-4DFA-8710-77F5F45A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71247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70A12"/>
          </a:solidFill>
          <a:ln xmlns:a="http://schemas.openxmlformats.org/drawingml/2006/main" w="9525">
            <a:solidFill>
              <a:srgbClr val="222B4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7E3F2E-84CC-4B4A-A34A-6FAAE023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实时日志与状态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90887A-7ECA-4A91-AB15-7798E724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帧数 / 丢帧 / 当前阶段 / 对准模式 / 检测结果 / 输出目录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17C193-40D2-45C9-8365-C29E8D33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9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9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现场人员在同一界面完成操作、观察和结果复核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F42EC8-09E5-43BC-BBF3-73626B09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09700"/>
            <a:ext cx="32194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72ED28-6210-41C9-BA64-7029C38C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09700"/>
            <a:ext cx="6667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0D8C29-AC76-4748-A585-76EE2083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5621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操作主线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53572D-89B0-4D2B-9BF3-593BFEB4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33575"/>
            <a:ext cx="2895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1. 加载在线配置或离线目录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2. 开始采集并观察实时预览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3. 自动形成拼接段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4. 离线模式后台生成检测结果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5. 在结果页和日志中复核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E89E7B-E10E-48A6-8CA1-78A5EBD3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1524000" cy="19812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2E4C20-B61A-4A8C-B530-1EC449AE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666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DDEE64-0CE5-4E8C-8225-E572E2CD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576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参数结构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BF5D54-2A8B-4B98-8F69-23D0B1F4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29125"/>
            <a:ext cx="1200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基础与目录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拼接与排版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标志点配准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缺陷检测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图像保存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A94470-ECBA-4A29-8C33-294695A3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905250"/>
            <a:ext cx="1524000" cy="19812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882CE5-8A6E-4578-B732-58B77190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905250"/>
            <a:ext cx="666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E387CA-981E-4ECC-BC0B-372E1D5F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0576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下一步体验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DC5319-9B66-410A-A95D-4037DC11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429125"/>
            <a:ext cx="1200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1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参数基础/高级分层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增加单位与范围校验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保存前联动检查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输出目录权限提示</a:t>
            </a:r>
          </a:p>
        </p:txBody>
      </p:sp>
    </p:spTree>
    <p:extLst>
      <p:ext uri="{BB962C8B-B14F-4D97-AF65-F5344CB8AC3E}">
        <p14:creationId xmlns:p14="http://schemas.microsoft.com/office/powerpoint/2010/main" val="9918290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A5F6BB-6725-4640-ABB5-C118C2B9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431B1-3B74-4A25-8C1D-79986736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12E87-128C-495D-B0BC-A96DAB9E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当前阶段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EEA4A-41B5-4EFE-A0CF-A26ADDC7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已证明能运行、能检出、能追溯；规模化证据仍需补齐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8C7F6-0580-4C59-8792-A4790C4B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D8389-A6A5-4656-B34B-2C57F322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来源：当前代码、moreMarks\6 样例、构建与性能记录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C9466-EC6D-47DA-B9E9-9948B15E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B459D-80BF-40CC-9B40-578621C3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1F7DB-50E5-428D-826F-D45AC5D9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已确认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5920D-02EA-4A01-AE83-8232F2E8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9401B-4D1F-4086-A317-D2EDA6AA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6AFF8-3FF3-4E60-8AFF-6CE525B6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离线闭环可运行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7B87B-485C-4828-962C-25E0F43B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连续帧可完成分段、拼接、对准、裁切、检测与结果保存。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DD7BD-BF7D-42E9-969B-75514B8D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6D39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8114B-FF70-411F-852B-FDE03EC8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19EDE-FB9F-402B-A368-55380EA0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关键难例已覆盖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5E6CA3-1A05-422D-8D11-AC10F1C8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moreMarks\6 中多处细小轮廓断裂已进入正式检测逻辑。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1B86E-46A9-42CD-B8EE-49D7ACA2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F7BD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B0A5B-9592-4314-AEF9-72E9E150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3E"/>
          </a:solidFill>
          <a:ln xmlns:a="http://schemas.openxmlformats.org/drawingml/2006/main" w="0">
            <a:solidFill>
              <a:srgbClr val="F7BD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BF165E-EF88-4716-BB99-7B2E279F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工程版本可构建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B9EC3-914A-4D08-9352-9C6BA3A2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2026-07-20 Debug / Release x64 均 0 警告、0 错误。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A73DC6-D2FC-4D10-AE00-1A08AAC0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CB9CAB-3021-4DA8-B000-E3FC9D03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正在优化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38172A-3FEE-48CD-8981-2FAAD47E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35C9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C4DB07-FB38-4367-B6D1-35BB5D24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9E8"/>
          </a:solidFill>
          <a:ln xmlns:a="http://schemas.openxmlformats.org/drawingml/2006/main" w="0">
            <a:solidFill>
              <a:srgbClr val="35C9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1808AB-0FE4-4BAC-ADA3-CA24F2AE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19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节拍与资源占用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7E488-77D7-454F-829F-6F6C363E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907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69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继续拆分 SIFT、细线检测和图像保存耗时，寻找无损提速空间。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DEDA5E-6777-481C-8179-CF8FF199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F376CC-B3D1-4AE6-95AC-70FC7BA8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8F4814-A10D-4BDB-88D1-6CF07142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57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参数使用体验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F51A10-08DB-40AB-9930-5F2B5DBF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290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减少高级参数暴露，补充并行度入口、单位说明和范围校验。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2F446C-AD76-47E3-8014-53B2DC84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6D39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9CC295-6C7C-4418-9404-54BD2927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244B75-2C56-4103-B0E6-4AB28ED2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增强算法择优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3CA931-1F6C-492E-9BCB-E996E052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侧边非线性校正继续保留开关，用固定回归数据决定是否启用。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3D3BB9-ADD2-4F6D-9039-5C82D915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CFBD85-5FAE-433E-902C-4CDA0AED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尚需验证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CD9005-F807-4DBB-A642-0BAB2DAA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83A1A5-97C2-45BF-999E-778A3888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A9FAD3-2A6A-40E9-BA3F-2C2922AB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人工标注真值集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0CBAF6-65EB-4649-B002-AB8C3C33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907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建立准确率、召回率、误报率和最小可检尺寸的正式口径。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93A172-6268-4702-B89E-363769D8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6EE8C8-672F-4302-8A93-E76E250A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EFC8CD-1A69-4AEA-B1A6-E634B79E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75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24 小时硬件长稳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8FE6B6-97FD-4D6A-984E-6E2F1F53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290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验证相机、采集卡、驱动、非托管内存与异常恢复。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E208D0-E5DB-4FA4-8215-4651C068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EE50FC-0295-45DD-BF67-ADB40199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A1C78F-9228-4618-B892-41A2EB36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在线闭环与下发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096238-CCEF-4351-874B-C44923A9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672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完成在线作业触发、结果下发、PLC/设备联动和版本追溯。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12D92C-3D95-4D3E-A893-89EAD186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95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不把样例检出等同于量产准确率；下一阶段用标注和长稳数据补齐证据。</a:t>
            </a:r>
          </a:p>
        </p:txBody>
      </p:sp>
    </p:spTree>
    <p:extLst>
      <p:ext uri="{BB962C8B-B14F-4D97-AF65-F5344CB8AC3E}">
        <p14:creationId xmlns:p14="http://schemas.microsoft.com/office/powerpoint/2010/main" val="123365012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897A9A-267D-487E-95B8-0F21DB9C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1DB91-ABF4-4853-98B8-C5B7E273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D10B2-9C03-4302-8D6A-7D3E04A7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路线与总结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868D6-680F-47DF-A12C-D74CCA62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长期价值：从算法验证走向可复制的质量平台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BBDDB-E4D9-4262-88A6-34BDA0BD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6AF31-4177-4692-BE8A-C9742BA6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来源：当前能力、证据缺口与业务演进目标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8EA87-F282-4027-9FBB-861A5220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B31EC-54EB-44C5-ACD5-125C352D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2890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850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260B0-789E-4FBB-B569-9B5F056D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514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8A149-6209-4F3D-95CF-AF7A74DD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14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22F7B-DDB0-465E-AEC2-5B1662E7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14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97FB3-6F89-48A7-88FB-57C6F995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514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61E250-B78C-4609-A01B-742679A6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270510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80BF1-CF3A-405F-8B3C-93B2ABD4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66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5B85E3-E996-4371-9BC3-D341D550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1｜沉淀数据资产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5ECF1B-8147-453B-9C17-58320298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2381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标注正常/缺陷/边界样本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固化二维码、对准、零件与差分回归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定义准确率、误报率与节拍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903002-89FA-4B4D-823D-79B2349A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428750"/>
            <a:ext cx="270510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F38E00-403B-437D-A2AF-A13B31A0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428750"/>
            <a:ext cx="666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226CCD-39A7-4470-A932-655BBC61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81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2｜完成产线闭环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54BE06-3768-4BE5-A707-6057EC2B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52625"/>
            <a:ext cx="2381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已完成：有界队列 / 作业抽离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已完成：结果对象 / 过期取消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待完成：在线/离线统一状态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DF3B27-8169-4E48-943E-44D67785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270510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207CB2-B4FE-452F-BF4C-3F5D7E74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666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6D5D5A-A5E6-4592-8529-B0F8B5CB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6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3｜收敛节拍与长稳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D19435-C49C-4ED7-A579-FB62179F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2381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已完成：并行度可配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已完成：缓存/帧复制治理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待验证：现场最优值与长稳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725D52-6249-4008-B082-E3FFC3D2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428750"/>
            <a:ext cx="234315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575705-F79C-42A2-95CD-BF74FA54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428750"/>
            <a:ext cx="666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BEA892-F829-4CAC-8973-DBFA0184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5811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57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4｜扩展检测能力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C6E2CA-066D-4D3C-8B67-73801D99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52625"/>
            <a:ext cx="2019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以标注数据决定侧边 Remap 收益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保留原 SIFT 路线做只拒绝门控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再评估模型化缺陷检测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A77EDD-CD3E-449C-B572-CE8807A2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110871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19050">
            <a:solidFill>
              <a:srgbClr val="27C2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E9951B-4BD2-400C-A461-5A9654B5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长期价值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97C31C-DF9E-427D-9FE4-C42D9CF8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48150"/>
            <a:ext cx="9258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3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项目的核心价值，是把“采集—拼接—排版—对准—裁切—检测—可视化”整合为可运行的离线闭环。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下一步应先完成在线作业闭环、真值基线和原生稳定性，再用数据决定复杂算法是否值得上线。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836103-24D3-4A11-A2CD-AFEFEDAD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53100"/>
            <a:ext cx="5638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32BF03-B7E9-443E-9529-D8728970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62625"/>
            <a:ext cx="563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下一阶段建议：先完成真值数据与固定节拍，再推进在线闭环</a:t>
            </a:r>
          </a:p>
        </p:txBody>
      </p:sp>
    </p:spTree>
    <p:extLst>
      <p:ext uri="{BB962C8B-B14F-4D97-AF65-F5344CB8AC3E}">
        <p14:creationId xmlns:p14="http://schemas.microsoft.com/office/powerpoint/2010/main" val="19319898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2026-07-30T03:24:33.8640000Z</dcterms:created>
  <dcterms:modified xsi:type="dcterms:W3CDTF">2026-07-30T03:24:33.8640000Z</dcterms:modified>
</coreProperties>
</file>