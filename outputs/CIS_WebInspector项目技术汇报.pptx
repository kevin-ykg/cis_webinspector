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73" r:id="rId17"/>
    <p:sldId id="274" r:id="rId18"/>
    <p:sldId id="268" r:id="rId19"/>
    <p:sldId id="269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6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本次汇报不展开代码，而是回答四个管理问题：项目解决什么场景、为什么选择当前技术路径、真实数据上达到了什么效果、下一阶段怎样形成长期价值。所有效果图均来自项目实际输入与输出。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系统的输入不是一张完整照片，而是连续线扫帧。软件自动确定材料段并拼成大图，随后先复用底排圆形 Mark 检查白墨灰度、背景对比和波动，异常时弹窗告警并留下日志和标注预览；供墨状态确认后，再完成 Mark/H0 全局对准、零件级 SIFT 精对准和差分缺陷判定。管理价值在于把供墨异常前置发现，减少整批暗印、拉丝继续生产，同时让每个结论都能回看。</a:t>
            </a:r>
          </a:p>
          <a:p>
            <a:endParaRPr/>
          </a:p>
          <a:p>
            <a:r>
              <a:t>[Sources]</a:t>
            </a:r>
          </a:p>
          <a:p>
            <a:r>
              <a:t>- Services/ImageAligner.cs</a:t>
            </a:r>
          </a:p>
          <a:p>
            <a:r>
              <a:t>- Services/InspectionJobRunner.cs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这页是完整检测主线。二维码先确定检测段并完成大图拼接；拼接完成后，先用底部 Mark 区域检查白墨墨量和拉丝状态，再解析 TIFF 排版信息。</a:t>
            </a:r>
          </a:p>
          <a:p>
            <a:r>
              <a:t>全局 Mark 粗对准负责建立 H0 坐标空间；启用侧边 Mark 功能时，再利用左右 9 对小圆加强边缘非线性对准。随后按排版裁切零件，使用 SIFT 做局部精对准，完成差分、细线断裂检测和证据汇总。</a:t>
            </a:r>
          </a:p>
          <a:p>
            <a:r>
              <a:t>白墨检测与侧边 Mark 都是独立、可配置的质量增强步骤：关闭时不影响主检测链路继续运行。</a:t>
            </a:r>
          </a:p>
          <a:p>
            <a:endParaRPr/>
          </a:p>
          <a:p>
            <a:r>
              <a:t>[Sources]</a:t>
            </a:r>
          </a:p>
          <a:p>
            <a:r>
              <a:t>- Services/InspectionJobRunner.cs</a:t>
            </a:r>
          </a:p>
          <a:p>
            <a:r>
              <a:t>- Services/ImageAligner.cs</a:t>
            </a:r>
          </a:p>
          <a:p>
            <a:r>
              <a:t>- Services/PatchCropper.cs</a:t>
            </a:r>
          </a:p>
          <a:p>
            <a:r>
              <a:t>- Services/PatchDefectDetector.cs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这个场景的难点不是单一算法，而是多个坐标体系和多个误差来源叠加。只有把成段、对准、裁切和判定连成闭环，差分结果才有业务意义。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项目价值可以分成质量、效率和长期能力三层。当前已经具备自动处理和结果证据，下一步通过真值数据和在线闭环，把一次性算法能力变成持续运营的质量能力。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选择传统视觉为主不是保守，而是利用项目已有的设计图和物理标记。它的数据成本低、原因可解释、现场调试直接。深度学习可以作为后续补充，但应由标注数据和难例收益驱动。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手机扫码体验说明鲁棒二维码识别是可以实现的。项目已经把 WeChatQRCode 作为主识别器，并针对线扫压缩拉伸和极性做适配。二维码不仅给出文本，还提供分段位置和像素尺度。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这一页按 01 到 09 说明当前二维码识别链路。第一阶段先保证看得到二维码：优先检查完整单帧，失败后补齐跨帧视野，并给固定 ROI 留出受限横向保护带。第二阶段处理大多数常规样本：统一灰度和明暗条件，尝试常用纵向尺度；如果仍未解码，再确认图中是否真的存在二维码定位框特征。第三阶段只对有证据的困难样本启动：裁取局部码区，动态处理形变、边缘缺失和低对比黑码，最后把文本、中心和尺寸还原到全图坐标，完成去重与材料分段拼接。任一步识别成功都会立即返回，避免无意义的重复增强。</a:t>
            </a:r>
          </a:p>
          <a:p>
            <a:endParaRPr/>
          </a:p>
          <a:p>
            <a:r>
              <a:t>[Sources]</a:t>
            </a:r>
          </a:p>
          <a:p>
            <a:r>
              <a:t>- Services/QrCodeDetector.cs</a:t>
            </a:r>
          </a:p>
          <a:p>
            <a:r>
              <a:t>- Services/ImageStitcher.cs</a:t>
            </a:r>
          </a:p>
          <a:p>
            <a:r>
              <a:t>- Models/AppConfig.cs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张图片均来自项目真实离线图库。左侧样本跨越相邻帧并带有随机形变，通过上一帧尾部和当前帧头部组合后识别；中间样本贴近图像边缘且存在模糊和少量缺失，通过横向保护带、补静区和局部动态尺寸恢复；右侧样本在关闭白墨后变为低对比黑码，通过反极性定位并从原灰度局部图完成解码。这里展示的是当前真实样本回归结果，不将有限样本扩大为整体识别率结论。</a:t>
            </a:r>
          </a:p>
          <a:p>
            <a:endParaRPr/>
          </a:p>
          <a:p>
            <a:r>
              <a:t>[Sources]</a:t>
            </a:r>
          </a:p>
          <a:p>
            <a:r>
              <a:t>- C:\Users\EDY\Desktop\二维码无法识别\8</a:t>
            </a:r>
          </a:p>
          <a:p>
            <a:r>
              <a:t>- C:\Users\EDY\Desktop\白墨关闭</a:t>
            </a:r>
          </a:p>
          <a:p>
            <a:r>
              <a:t>- Services/QrCodeDetector.cs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本页展示本次新增的真实难样本。</a:t>
            </a:r>
          </a:p>
          <a:p>
            <a:r>
              <a:t>原图在白色带区域存在局部过曝、模糊和背景条纹，常规缩放与直接解码失败。</a:t>
            </a:r>
          </a:p>
          <a:p>
            <a:r>
              <a:t>当前流程先确认三个定位框，再恢复二维码真实透视平面并补足静区；原灰度仍失败时，仅对拉正后约 350 像素的小图做光照展平。</a:t>
            </a:r>
          </a:p>
          <a:p>
            <a:r>
              <a:t>最终仍由 WeChatQRCode 完成文本校验，并同时返回二维码在原图中的位置。</a:t>
            </a:r>
          </a:p>
          <a:p>
            <a:r>
              <a:t>实测识别文本：ZJ_202606302651265_RT。</a:t>
            </a:r>
          </a:p>
          <a:p>
            <a:r>
              <a:t>[Sources]</a:t>
            </a:r>
          </a:p>
          <a:p>
            <a:r>
              <a:t>C:/Users/EDY/AppData/Local/Temp/codex-clipboard-376a494d-99ab-4b83-b69b-405a01e0a629.jpg</a:t>
            </a:r>
          </a:p>
          <a:p>
            <a:r>
              <a:t>E:/南京爱速智/CIS/AresIntel/Volans CL/samples/CIS_WebInspector/obj/QrSampleProbe/straight-corrected.png</a:t>
            </a:r>
          </a:p>
          <a:p>
            <a:r>
              <a:t>E:/南京爱速智/CIS/AresIntel/Volans CL/samples/CIS_WebInspector/Services/QrCodeDetector.cs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全局对准的目标不是一次解决所有形变，而是把 CIS 稳定送入 TIFF 坐标系。上下两排大 Mark 信号强、位置确定，RANSAC 能排除少量误检，因此适合作为默认粗对准。</a:t>
            </a:r>
          </a:p>
          <a:p>
            <a:r>
              <a:t>代码中的变量 H0，就是这里所说的“全局粗对准变换”：它是由上下两排 20 mm Mark 拟合得到的 CIS→TIFF 全局 Homography。页面采用通俗名称，避免领导汇报中直接出现不易理解的变量名。</a:t>
            </a:r>
          </a:p>
          <a:p>
            <a:endParaRPr/>
          </a:p>
          <a:p>
            <a:r>
              <a:t>[Sources]</a:t>
            </a:r>
          </a:p>
          <a:p>
            <a:r>
              <a:t>- Services/ImageAligner.cs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侧边 Mark 是能力储备，不是默认必选项。对比测试显示它并非所有批次都带来提升，所以当前遵循简单稳定原则：主流程使用 H0，只有证据证明收益时再开启非线性校正。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SIFT 的核心不是把两幅图逐像素硬对齐，而是在局部灰度结构中寻找稳定关键点。可以把每个关键点周围的纹理描述理解为“特征指纹”：设计图和 CIS 实拍图中的同一结构会形成相近指纹，即使存在轻微缩放、旋转或亮度变化，仍有机会正确配对。</a:t>
            </a:r>
          </a:p>
          <a:p>
            <a:r>
              <a:t>项目流程先使用 KNN 与 Lowe 0.6 筛选候选匹配，再通过 RANSAC 排除错误对应，最后估计仿射矩阵并完成局部 Warp，从而减少轮廓错位产生的虚假差分。</a:t>
            </a:r>
          </a:p>
          <a:p>
            <a:r>
              <a:t>全局对准只保证大图整体正确，零件级 SIFT 负责消除每个 ROI 内的残余偏差。项目曾尝试更复杂的约束模型，但真实对比显示原路线更稳，因此当前保留效果优先。</a:t>
            </a:r>
          </a:p>
          <a:p>
            <a:endParaRPr/>
          </a:p>
          <a:p>
            <a:r>
              <a:t>[Sources]</a:t>
            </a:r>
          </a:p>
          <a:p>
            <a:r>
              <a:t>- Services/PatchDefectDetector.cs（SIFT.Create、KnnMatch、Lowe 0.6、RANSAC、EstimateAffine2D、WarpAffine）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普通差分把少印和多印分开处理，便于解释和参数管理。轮廓容差负责降低错位误报，但它也带来细线断裂可能被遮住的问题，下一页解释这次最新优化。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可以把它理解为两次检查：第一次处理“假报警”——把因轻微错位产生的边缘轮廓屏蔽掉；第二次处理“真断线”——只检查设计图中原本就存在的细线，看实拍中是否断开。这样不用放开整个边缘区域，也能把藏在屏蔽区里的真实断裂找回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实现逻辑可分为五步。第一，只在原有边缘屏蔽区内检查 TIFF 设计中的细线，不放开普通差分的屏蔽规则。第二，缺口定义为：TIFF 二值图本应有线，而 CIS 细线前景沿模板线方向连续缺失；默认连续长度至少 0.5 mm，模板线宽不超过 2 mm。小于 1 mm 的短缺口还要求存在明显深色核心，降低灰度波动误报。第三，在缺口两侧沿同一条模板骨架寻找方向相反的两段线作为锚点；两侧 CIS 附近前景覆盖率都要达到 40%，表示缺的是中间一段，而不是整条线没有印出、裁切越界或附近恰好为空。第四，尝试用同一个局部平移同时解释缺口和两侧线段；若可以解释，则视为对齐偏差而不报。第五，在模板线周围的窄走廊内检查 CIS 是否仍存在连接两侧的连续路径；若仍连通，也不报。只有缺口长度和线宽达标、两侧线段存在，并且既不能用平移解释、也没有连续连接路径时，才输出细线断裂框。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291是用户明确指出的真实细线断裂。它颜色不如人工缺口那么黑，而且恰好在边缘屏蔽带内。新版通过连续性和两端支撑判断把它检出，紫色框表示来自细线专用通道。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白墨检测在完整 CIS 拼接段形成后、后续 TIFF 对准和零件缺陷检测之前执行。系统先根据第二个二维码定位 Bottom 条带，优先使用常规轮廓提取底排圆形 Mark；完全无白墨导致对比度下降时，才启动受物理直径和搜索区域限制的 Hough 兜底。随后利用“整排圆心共线、直径相同”校正单个偏心圆，在圆内统计白墨灰度、圆外环带估算局部背景，综合灰度、对比度和波动判断缺墨、无墨及拉丝。异常结果会弹窗提示、写入日志并保存带 Mark 编号的预览图。</a:t>
            </a:r>
          </a:p>
          <a:p>
            <a:endParaRPr/>
          </a:p>
          <a:p>
            <a:r>
              <a:t>[Sources]</a:t>
            </a:r>
          </a:p>
          <a:p>
            <a:r>
              <a:t>- Services/ImageAligner.cs</a:t>
            </a:r>
          </a:p>
          <a:p>
            <a:r>
              <a:t>- Services/InspectionJobRunner.cs</a:t>
            </a:r>
          </a:p>
          <a:p>
            <a:r>
              <a:t>- Models/AppConfig.cs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左图展示白墨正常时的底排 Mark，圆内亮度明显高于背景；中图展示完全无白墨时，图案整体转暗并伴随明显横向拉丝。右图是当前版本自动生成的 Bottom Mark 标注预览：系统检测到 6 个圆，利用整排圆心在同一直线、直径相同的设计条件修正低对比度下的 D4 偏心，并给出 NoInk、相对墨量 0.0% 的异常结论。该案例用于说明当前真实样本的实现效果，不扩展为整体准确率结论。</a:t>
            </a:r>
          </a:p>
          <a:p>
            <a:endParaRPr/>
          </a:p>
          <a:p>
            <a:r>
              <a:t>[Sources]</a:t>
            </a:r>
          </a:p>
          <a:p>
            <a:r>
              <a:t>- C:\Users\EDY\AppData\Local\Temp\codex-clipboard-3643b040-af45-4537-adf2-93e3fccd6df2.png</a:t>
            </a:r>
          </a:p>
          <a:p>
            <a:r>
              <a:t>- C:\Users\EDY\AppData\Local\Temp\codex-clipboard-a65de03a-0064-4d54-8a64-5c4c9577a413.png</a:t>
            </a:r>
          </a:p>
          <a:p>
            <a:r>
              <a:t>- obj\AlignmentProbe2\ValidationOutput\WhiteInkRunnerOutput\20260731_151125\WhiteInk_BottomMarks_Preview.jpg</a:t>
            </a:r>
          </a:p>
          <a:p>
            <a:r>
              <a:t>- Services/ImageAligner.cs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本页数据来自 SysRunLog_20260804.txt 中 2026-08-04 10:21:53.927 至 10:21:57.900 的一次离线 Debug x64 批次。端到端 3.973 秒定义为‘开始采集’到‘缺陷流水线全部完成’。</a:t>
            </a:r>
          </a:p>
          <a:p>
            <a:r>
              <a:t>阶段口径：二维码分段与拼接 0.906 秒；白墨核心检测 0.117 秒、预览保存 0.068 秒，合计 0.185 秒；Debug.log 解析 0.046 秒，TIFF 加载/Alpha/预处理 0.505 秒，合计约 0.551 秒；Mark 检测 261.5 毫秒，Warp 50.7 毫秒。</a:t>
            </a:r>
          </a:p>
          <a:p>
            <a:r>
              <a:t>零件阶段从开始裁切检测到全部完成为 1.984 秒，约占端到端 50%；其中性能基线记录的核心并行处理为 1.634 秒。并行度 8，单件任务中位耗时为 1145 毫秒，即原统计口径 P50；约 95% 的单件任务耗时不超过 1306 毫秒，即原统计口径 P95；本批次最大值也是 1306 毫秒。缓存命中 7/9。</a:t>
            </a:r>
          </a:p>
          <a:p>
            <a:r>
              <a:t>本次解析出 11 个有效排版记录，最终处理 9 个零件；日志没有记录另外 2 个被过滤的具体原因。侧边 4 mm Mark 功能本次关闭，因此没有非线性增强耗时。</a:t>
            </a:r>
          </a:p>
          <a:p>
            <a:r>
              <a:t>这是一次单批次 Debug 数据，用于定位耗时结构，不应直接作为量产节拍或稳定的 95% 分位承诺。</a:t>
            </a:r>
          </a:p>
          <a:p>
            <a:endParaRPr/>
          </a:p>
          <a:p>
            <a:r>
              <a:t>[Sources]</a:t>
            </a:r>
          </a:p>
          <a:p>
            <a:r>
              <a:t>- bin/x64/Debug/net48/日志/SysRunLog_20260804.txt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管理层可以把这套软件理解成现场质量工作台，而不是算法演示程序。在线和离线共用一套检测逻辑，结果既能在界面展示，也能通过文件和日志留存。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目前最重要的判断是：核心链路和关键难例已经跑通，但还不能把样例成功直接换算为量产准确率。下一阶段的重点应是建立标注真值、固定性能基准和24小时在线长稳。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建议下一阶段按数据、闭环、性能、算法四条线推进。优先级仍然是先有真值、再有稳定节拍、再完成在线交付，最后才用数据判断是否需要更复杂模型。这样能把研发投入转化为可复制的长期质量能力。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本页建议把下一阶段拆成四个可验收阶段，每个阶段通过后再进入下一阶段，避免直接把实验室算法带到海外产线。</a:t>
            </a:r>
          </a:p>
          <a:p>
            <a:r>
              <a:t>第一阶段在南京实验室建立批量离线闭环。除正常与明显缺陷外，要覆盖二维码形变、对准偏差、细线断裂、白墨不足和拉丝等边界样本；形成固定 Golden Set，并统一记录漏检、误检、单批耗时、单零件耗时、CPU、内存和磁盘峰值。</a:t>
            </a:r>
          </a:p>
          <a:p>
            <a:r>
              <a:t>第二阶段推荐采用集中数据服务或共享存储保存排版日志和 TIFF，以 TaskId、二维码和 LayoutVersion 建立索引；任务下发后通过万兆网预取到工控机 NVMe 缓存。约 300MB TIFF 不应每次重复传输，同一版型在校验值和版本未变化时直接复用。还需定义校验失败、断网续用、缓存容量和自动清理策略。</a:t>
            </a:r>
          </a:p>
          <a:p>
            <a:r>
              <a:t>不建议优先把数据电脑和检测工控机合并为一个工位，因为大图读取、缺陷检测和数据服务会争用 CPU、内存与磁盘 I/O，并增加故障耦合。只有现场网络和 IT 条件无法支撑集中服务时，再评估合并工位作为备选。</a:t>
            </a:r>
          </a:p>
          <a:p>
            <a:r>
              <a:t>第三阶段要尽早冻结跨组接口：DCS 输入任务标识、二维码、版型版本和数据索引；视觉系统向下游输出总体判定、缺陷类别、位置、证据图、二维码和白墨状态；PLC 联动需明确报警等级、放行/停机权限、心跳、应答、超时、重试、幂等和人工复位。建议所有消息携带时间戳与关联 ID，便于跨系统追溯。</a:t>
            </a:r>
          </a:p>
          <a:p>
            <a:r>
              <a:t>第四阶段在美国现场按影子运行、报警提示、受控联锁三步上线。影子运行阶段只记录结果、不影响生产；现场真值稳定后再开放报警；最后才启用 PLC 联锁，并保留配置回退、版本回滚和人工放行开关。</a:t>
            </a:r>
          </a:p>
          <a:p>
            <a:r>
              <a:t>补充建议：上线前增加接口模拟器、配置版本追溯、异常证据留存、磁盘容量监控和日报看板；美国现场同时准备远程诊断、备件/驱动清单与时区化日志，降低跨地域排障成本。</a:t>
            </a:r>
          </a:p>
          <a:p>
            <a:endParaRPr/>
          </a:p>
          <a:p>
            <a:r>
              <a:t>[Sources]</a:t>
            </a:r>
          </a:p>
          <a:p>
            <a:r>
              <a:t>- 用户提供的下一步行动与部署需求</a:t>
            </a:r>
          </a:p>
          <a:p>
            <a:r>
              <a:t>- 当前项目的数据、检测、日志与设备联动流程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rcRect t="8000" b="8000"/>
          <a:stretch>
            <a:fillRect/>
          </a:stretch>
        </p:blipFill>
        <p:spPr>
          <a:xfrm>
            <a:off x="0" y="4000500"/>
            <a:ext cx="12192000" cy="2857500"/>
          </a:xfrm>
          <a:prstGeom prst="round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626E41F-EF80-4F2B-9506-5BAE8F03BDB6}"/>
              </a:ext>
            </a:extLst>
          </p:cNvPr>
          <p:cNvSpPr>
            <a:spLocks noGrp="1"/>
          </p:cNvSpPr>
          <p:nvPr/>
        </p:nvSpPr>
        <p:spPr>
          <a:xfrm>
            <a:off x="0" y="6524625"/>
            <a:ext cx="121920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4D4447-C209-4163-A037-5002A05259AF}"/>
              </a:ext>
            </a:extLst>
          </p:cNvPr>
          <p:cNvSpPr>
            <a:spLocks noGrp="1"/>
          </p:cNvSpPr>
          <p:nvPr/>
        </p:nvSpPr>
        <p:spPr>
          <a:xfrm>
            <a:off x="76200" y="6562725"/>
            <a:ext cx="1203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moreMarks\6 · 真实 CIS 输入帧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783A93-C23B-457E-B944-8B7DF2AD4A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421">
              <a:alpha val="84706"/>
            </a:srgbClr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47D244-1384-45AB-B22D-3304B364BB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DDDD7BB-93F5-46BA-839B-882976FAA75D}"/>
              </a:ext>
            </a:extLst>
          </p:cNvPr>
          <p:cNvSpPr>
            <a:spLocks noGrp="1"/>
          </p:cNvSpPr>
          <p:nvPr/>
        </p:nvSpPr>
        <p:spPr>
          <a:xfrm>
            <a:off x="508000" y="243840"/>
            <a:ext cx="2730500" cy="613410"/>
          </a:xfrm>
          <a:prstGeom prst="roundRect">
            <a:avLst>
              <a:gd name="adj" fmla="val 40000"/>
            </a:avLst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A88323-7482-40BF-A955-98FDF80CE1AB}"/>
              </a:ext>
            </a:extLst>
          </p:cNvPr>
          <p:cNvSpPr>
            <a:spLocks noGrp="1"/>
          </p:cNvSpPr>
          <p:nvPr/>
        </p:nvSpPr>
        <p:spPr>
          <a:xfrm>
            <a:off x="666750" y="243840"/>
            <a:ext cx="2571750" cy="6038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项目阶段汇报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D01279-6E10-45A5-ABAE-D67765E02E54}"/>
              </a:ext>
            </a:extLst>
          </p:cNvPr>
          <p:cNvSpPr>
            <a:spLocks noGrp="1"/>
          </p:cNvSpPr>
          <p:nvPr/>
        </p:nvSpPr>
        <p:spPr>
          <a:xfrm>
            <a:off x="666750" y="1143000"/>
            <a:ext cx="723900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92000"/>
              </a:lnSpc>
              <a:buNone/>
              <a:def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CIS 线扫膜片</a:t>
            </a:r>
          </a:p>
          <a:p>
            <a:pPr algn="l">
              <a:lnSpc>
                <a:spcPct val="92000"/>
              </a:lnSpc>
              <a:buNone/>
              <a:def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缺陷检测系统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FA3AB1-C4A7-4114-8524-82FC0C8D2A2F}"/>
              </a:ext>
            </a:extLst>
          </p:cNvPr>
          <p:cNvSpPr>
            <a:spLocks noGrp="1"/>
          </p:cNvSpPr>
          <p:nvPr/>
        </p:nvSpPr>
        <p:spPr>
          <a:xfrm>
            <a:off x="704850" y="2990850"/>
            <a:ext cx="4950883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950" b="0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从连续采集、自动对准到细小轮廓断裂检出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B8CF9CA-848F-4510-B92E-5FC1268A7F33}"/>
              </a:ext>
            </a:extLst>
          </p:cNvPr>
          <p:cNvSpPr>
            <a:spLocks noGrp="1"/>
          </p:cNvSpPr>
          <p:nvPr/>
        </p:nvSpPr>
        <p:spPr>
          <a:xfrm>
            <a:off x="8191500" y="1200150"/>
            <a:ext cx="3238500" cy="1619250"/>
          </a:xfrm>
          <a:prstGeom prst="roundRect">
            <a:avLst>
              <a:gd name="adj" fmla="val 7059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BE1E2AE-C96D-4A75-A956-6B3601747971}"/>
              </a:ext>
            </a:extLst>
          </p:cNvPr>
          <p:cNvSpPr>
            <a:spLocks noGrp="1"/>
          </p:cNvSpPr>
          <p:nvPr/>
        </p:nvSpPr>
        <p:spPr>
          <a:xfrm>
            <a:off x="8191500" y="1200150"/>
            <a:ext cx="66675" cy="16192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7CBED3F-EEF5-469B-8AC7-10B704448607}"/>
              </a:ext>
            </a:extLst>
          </p:cNvPr>
          <p:cNvSpPr>
            <a:spLocks noGrp="1"/>
          </p:cNvSpPr>
          <p:nvPr/>
        </p:nvSpPr>
        <p:spPr>
          <a:xfrm>
            <a:off x="8382000" y="135255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汇报重点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F6912D-36BE-45F0-BFD1-11E48A9FA986}"/>
              </a:ext>
            </a:extLst>
          </p:cNvPr>
          <p:cNvSpPr>
            <a:spLocks noGrp="1"/>
          </p:cNvSpPr>
          <p:nvPr/>
        </p:nvSpPr>
        <p:spPr>
          <a:xfrm>
            <a:off x="8382000" y="1724025"/>
            <a:ext cx="29146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整体检测逻辑、技术路径选择、真实效果与长期迭代价值。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95CBFC9-F8B3-435D-B280-8461E0A6AA21}"/>
              </a:ext>
            </a:extLst>
          </p:cNvPr>
          <p:cNvSpPr>
            <a:spLocks noGrp="1"/>
          </p:cNvSpPr>
          <p:nvPr/>
        </p:nvSpPr>
        <p:spPr>
          <a:xfrm>
            <a:off x="10191750" y="64008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2026-08-0</a:t>
            </a:r>
            <a:r>
              <a:rPr lang="en-US" altLang="zh-CN" sz="1200" b="1" dirty="0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5</a:t>
            </a:r>
            <a:endParaRPr sz="1200" b="1" dirty="0">
              <a:solidFill>
                <a:srgbClr val="F5F9F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6062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2C4041AF-20C3-4DA3-B40A-B8543FC9FE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1BDAD5B9-DD9B-4076-9E6E-D0B0319B2D1E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4AB7C1-6EC5-4968-ABE3-AB51672539ED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项目概览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48173B-CAA1-4132-A8C1-4526728DD3E7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系统已经形成可运行的检测闭环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9255D818-F4F4-462A-8331-22E3E45B8469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EDE76E-EDA4-43F3-B629-64150669EC7D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来源：moreMarks\6、当前检测流程与真实输出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0960BB-347F-4B5F-BCB8-F0AD9C205CC5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1F1B7A61-94EE-416D-8EA1-8E35E594B58B}"/>
              </a:ext>
            </a:extLst>
          </p:cNvPr>
          <p:cNvSpPr>
            <a:spLocks noGrp="1"/>
          </p:cNvSpPr>
          <p:nvPr/>
        </p:nvSpPr>
        <p:spPr>
          <a:xfrm>
            <a:off x="3657600" y="3114675"/>
            <a:ext cx="400050" cy="3238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F018452B-25B6-4C95-AF4F-4C51974EE552}"/>
              </a:ext>
            </a:extLst>
          </p:cNvPr>
          <p:cNvSpPr>
            <a:spLocks noGrp="1"/>
          </p:cNvSpPr>
          <p:nvPr/>
        </p:nvSpPr>
        <p:spPr>
          <a:xfrm>
            <a:off x="8058150" y="3114675"/>
            <a:ext cx="400050" cy="3238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2450" y="1476375"/>
            <a:ext cx="3009900" cy="1714500"/>
          </a:xfrm>
          <a:prstGeom prst="round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A0BB5DA1-21DF-4A6B-A155-D8FAF3AC6BDD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30099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13CA064-7CD9-41E1-BC70-B6448FEACA44}"/>
              </a:ext>
            </a:extLst>
          </p:cNvPr>
          <p:cNvSpPr>
            <a:spLocks noGrp="1"/>
          </p:cNvSpPr>
          <p:nvPr/>
        </p:nvSpPr>
        <p:spPr>
          <a:xfrm>
            <a:off x="628650" y="28956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连续 CIS 帧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2664307-73CE-489E-A3D7-B571000B2F2D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3009900" cy="2266950"/>
          </a:xfrm>
          <a:prstGeom prst="roundRect">
            <a:avLst>
              <a:gd name="adj" fmla="val 5042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1CC1A2-E9A8-4F99-A02B-E82D3B00DC10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66675" cy="226695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A97EE76-8FCF-41D3-A671-A0CD47476C91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D21C90F-50AF-42E6-8D04-F24B47A78E55}"/>
              </a:ext>
            </a:extLst>
          </p:cNvPr>
          <p:cNvSpPr>
            <a:spLocks noGrp="1"/>
          </p:cNvSpPr>
          <p:nvPr/>
        </p:nvSpPr>
        <p:spPr>
          <a:xfrm>
            <a:off x="668233" y="3857625"/>
            <a:ext cx="2847975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在线：Volans 采集卡SDK</a:t>
            </a:r>
          </a:p>
          <a:p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离线：按文件名排序的帧图库</a:t>
            </a:r>
          </a:p>
          <a:p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关联：Debug.log+TIFF/Alpha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C7E001D-C661-4FF8-A0A7-EECCB7F4377D}"/>
              </a:ext>
            </a:extLst>
          </p:cNvPr>
          <p:cNvSpPr>
            <a:spLocks noGrp="1"/>
          </p:cNvSpPr>
          <p:nvPr/>
        </p:nvSpPr>
        <p:spPr>
          <a:xfrm>
            <a:off x="4057650" y="1476375"/>
            <a:ext cx="3886200" cy="4124325"/>
          </a:xfrm>
          <a:prstGeom prst="roundRect">
            <a:avLst>
              <a:gd name="adj" fmla="val 2941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334B75-1A99-4584-89C3-A09917F616F4}"/>
              </a:ext>
            </a:extLst>
          </p:cNvPr>
          <p:cNvSpPr>
            <a:spLocks noGrp="1"/>
          </p:cNvSpPr>
          <p:nvPr/>
        </p:nvSpPr>
        <p:spPr>
          <a:xfrm>
            <a:off x="4057650" y="1476375"/>
            <a:ext cx="66675" cy="41243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ACC0A2D-92E3-4BF0-9CA5-FD6F0839A2D8}"/>
              </a:ext>
            </a:extLst>
          </p:cNvPr>
          <p:cNvSpPr>
            <a:spLocks noGrp="1"/>
          </p:cNvSpPr>
          <p:nvPr/>
        </p:nvSpPr>
        <p:spPr>
          <a:xfrm>
            <a:off x="4248150" y="1628775"/>
            <a:ext cx="3562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自动检测主线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26CC72A-B033-41FB-9ABD-CFAEDE07A498}"/>
              </a:ext>
            </a:extLst>
          </p:cNvPr>
          <p:cNvSpPr>
            <a:spLocks noGrp="1"/>
          </p:cNvSpPr>
          <p:nvPr/>
        </p:nvSpPr>
        <p:spPr>
          <a:xfrm>
            <a:off x="4248150" y="2000250"/>
            <a:ext cx="3562350" cy="3476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① 图像缓存WeChatQRCode 识别</a:t>
            </a:r>
          </a:p>
          <a:p>
            <a:pPr algn="l"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② 根据二维码返回坐标分段拼接</a:t>
            </a:r>
          </a:p>
          <a:p>
            <a:pPr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③排版数据以及图像加载捞取</a:t>
            </a:r>
          </a:p>
          <a:p>
            <a:pPr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④</a:t>
            </a: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 白墨墨量，拉丝检测</a:t>
            </a:r>
          </a:p>
          <a:p>
            <a:pPr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⑤</a:t>
            </a: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 Mark / H0 全局对准+侧边加强对准</a:t>
            </a:r>
          </a:p>
          <a:p>
            <a:pPr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⑥</a:t>
            </a: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 零件 SIFT 二次配准</a:t>
            </a:r>
          </a:p>
          <a:p>
            <a:pPr>
              <a:lnSpc>
                <a:spcPct val="125000"/>
              </a:lnSpc>
              <a:buNone/>
              <a:def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⑦</a:t>
            </a:r>
            <a:r>
              <a:rPr sz="15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 缺陷形态学差分判定，设置边缘屏蔽带，图案纹理重合处细断裂痕精细判定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458200" y="1476375"/>
            <a:ext cx="3143250" cy="2286000"/>
          </a:xfrm>
          <a:prstGeom prst="round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11A5D7EB-C418-4CF8-B327-2ED9E25F10F8}"/>
              </a:ext>
            </a:extLst>
          </p:cNvPr>
          <p:cNvSpPr>
            <a:spLocks noGrp="1"/>
          </p:cNvSpPr>
          <p:nvPr/>
        </p:nvSpPr>
        <p:spPr>
          <a:xfrm>
            <a:off x="8458200" y="3429000"/>
            <a:ext cx="314325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D4362DD-4BD0-4BC5-BC6E-A5BBE301A593}"/>
              </a:ext>
            </a:extLst>
          </p:cNvPr>
          <p:cNvSpPr>
            <a:spLocks noGrp="1"/>
          </p:cNvSpPr>
          <p:nvPr/>
        </p:nvSpPr>
        <p:spPr>
          <a:xfrm>
            <a:off x="8534400" y="3467100"/>
            <a:ext cx="2990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零件级检测结果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D18C578-1DE8-496D-B104-406966B88392}"/>
              </a:ext>
            </a:extLst>
          </p:cNvPr>
          <p:cNvSpPr>
            <a:spLocks noGrp="1"/>
          </p:cNvSpPr>
          <p:nvPr/>
        </p:nvSpPr>
        <p:spPr>
          <a:xfrm>
            <a:off x="8458200" y="3905250"/>
            <a:ext cx="3143250" cy="1695450"/>
          </a:xfrm>
          <a:prstGeom prst="roundRect">
            <a:avLst>
              <a:gd name="adj" fmla="val 6742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F6A6C35-BDAD-4ADE-AD43-C705AF53671C}"/>
              </a:ext>
            </a:extLst>
          </p:cNvPr>
          <p:cNvSpPr>
            <a:spLocks noGrp="1"/>
          </p:cNvSpPr>
          <p:nvPr/>
        </p:nvSpPr>
        <p:spPr>
          <a:xfrm>
            <a:off x="8458200" y="3905250"/>
            <a:ext cx="66675" cy="16954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858BB84-EA6E-4C89-9D0F-200499A06BC2}"/>
              </a:ext>
            </a:extLst>
          </p:cNvPr>
          <p:cNvSpPr>
            <a:spLocks noGrp="1"/>
          </p:cNvSpPr>
          <p:nvPr/>
        </p:nvSpPr>
        <p:spPr>
          <a:xfrm>
            <a:off x="8648700" y="4057650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24AD828-F9A4-40CD-8CD9-B3FD3EAD5407}"/>
              </a:ext>
            </a:extLst>
          </p:cNvPr>
          <p:cNvSpPr>
            <a:spLocks noGrp="1"/>
          </p:cNvSpPr>
          <p:nvPr/>
        </p:nvSpPr>
        <p:spPr>
          <a:xfrm>
            <a:off x="8648700" y="4429125"/>
            <a:ext cx="28194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逐件缺陷框、全局结果图、设计/实拍/差异证据，以及可追溯日志。</a:t>
            </a:r>
            <a:r>
              <a:rPr sz="150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对接下游PLC/数据接口等</a:t>
            </a:r>
          </a:p>
        </p:txBody>
      </p:sp>
    </p:spTree>
    <p:extLst>
      <p:ext uri="{BB962C8B-B14F-4D97-AF65-F5344CB8AC3E}">
        <p14:creationId xmlns:p14="http://schemas.microsoft.com/office/powerpoint/2010/main" val="1947398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>
            <a:extLst>
              <a:ext uri="{FF2B5EF4-FFF2-40B4-BE49-F238E27FC236}">
                <a16:creationId xmlns:a16="http://schemas.microsoft.com/office/drawing/2014/main" id="{7A6CB8EE-A885-42B5-9C9A-F3260F2104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6A9B1401-2616-4E32-ADB0-9908F793672E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16D5CE-B0A7-4074-B269-A6AD6C87A763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检测逻辑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C97CE8-B33D-4102-8A6A-EFA38E676495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一条流水线完成从连续帧到缺陷结论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5FB9B388-E997-4866-8BAC-F604F2BB1465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ED0624-EBA4-455F-B1C4-338D39C79682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来源：当前完整检测作业流程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67FAFD-AA54-4FAC-BED1-03AD4D280A7F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7808322D-002A-404E-89F3-42FA40E77162}"/>
              </a:ext>
            </a:extLst>
          </p:cNvPr>
          <p:cNvSpPr>
            <a:spLocks noGrp="1"/>
          </p:cNvSpPr>
          <p:nvPr/>
        </p:nvSpPr>
        <p:spPr>
          <a:xfrm>
            <a:off x="2190750" y="1895475"/>
            <a:ext cx="190500" cy="22860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2665BBE4-9779-4F4E-BE9F-D34FE593BB9F}"/>
              </a:ext>
            </a:extLst>
          </p:cNvPr>
          <p:cNvSpPr>
            <a:spLocks noGrp="1"/>
          </p:cNvSpPr>
          <p:nvPr/>
        </p:nvSpPr>
        <p:spPr>
          <a:xfrm>
            <a:off x="4019550" y="1895475"/>
            <a:ext cx="190500" cy="22860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84070306-CE09-4E00-9347-424BB1D77362}"/>
              </a:ext>
            </a:extLst>
          </p:cNvPr>
          <p:cNvSpPr>
            <a:spLocks noGrp="1"/>
          </p:cNvSpPr>
          <p:nvPr/>
        </p:nvSpPr>
        <p:spPr>
          <a:xfrm>
            <a:off x="5848350" y="1895475"/>
            <a:ext cx="190500" cy="22860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59E8B7D8-A7F0-4ECD-8909-5B858DF1D962}"/>
              </a:ext>
            </a:extLst>
          </p:cNvPr>
          <p:cNvSpPr>
            <a:spLocks noGrp="1"/>
          </p:cNvSpPr>
          <p:nvPr/>
        </p:nvSpPr>
        <p:spPr>
          <a:xfrm>
            <a:off x="7677150" y="1895475"/>
            <a:ext cx="190500" cy="22860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2" name="箭头: 左 11">
            <a:extLst>
              <a:ext uri="{FF2B5EF4-FFF2-40B4-BE49-F238E27FC236}">
                <a16:creationId xmlns:a16="http://schemas.microsoft.com/office/drawing/2014/main" id="{AA925EC4-0143-4119-8965-3196AC4D7BEF}"/>
              </a:ext>
            </a:extLst>
          </p:cNvPr>
          <p:cNvSpPr>
            <a:spLocks noGrp="1"/>
          </p:cNvSpPr>
          <p:nvPr/>
        </p:nvSpPr>
        <p:spPr>
          <a:xfrm>
            <a:off x="9086850" y="4105275"/>
            <a:ext cx="609600" cy="228600"/>
          </a:xfrm>
          <a:prstGeom prst="leftArrow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13" name="箭头: 左 12">
            <a:extLst>
              <a:ext uri="{FF2B5EF4-FFF2-40B4-BE49-F238E27FC236}">
                <a16:creationId xmlns:a16="http://schemas.microsoft.com/office/drawing/2014/main" id="{953437E5-0904-4232-94AC-9997491A8818}"/>
              </a:ext>
            </a:extLst>
          </p:cNvPr>
          <p:cNvSpPr>
            <a:spLocks noGrp="1"/>
          </p:cNvSpPr>
          <p:nvPr/>
        </p:nvSpPr>
        <p:spPr>
          <a:xfrm>
            <a:off x="6800850" y="4105275"/>
            <a:ext cx="609600" cy="228600"/>
          </a:xfrm>
          <a:prstGeom prst="leftArrow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14" name="箭头: 左 13">
            <a:extLst>
              <a:ext uri="{FF2B5EF4-FFF2-40B4-BE49-F238E27FC236}">
                <a16:creationId xmlns:a16="http://schemas.microsoft.com/office/drawing/2014/main" id="{9E215781-08E6-4E03-B4BD-7614866315CE}"/>
              </a:ext>
            </a:extLst>
          </p:cNvPr>
          <p:cNvSpPr>
            <a:spLocks noGrp="1"/>
          </p:cNvSpPr>
          <p:nvPr/>
        </p:nvSpPr>
        <p:spPr>
          <a:xfrm>
            <a:off x="4514850" y="4105275"/>
            <a:ext cx="609600" cy="228600"/>
          </a:xfrm>
          <a:prstGeom prst="leftArrow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8FB86971-F319-4E96-BAF5-59CF2190CA6F}"/>
              </a:ext>
            </a:extLst>
          </p:cNvPr>
          <p:cNvSpPr>
            <a:spLocks noGrp="1"/>
          </p:cNvSpPr>
          <p:nvPr/>
        </p:nvSpPr>
        <p:spPr>
          <a:xfrm>
            <a:off x="10353675" y="2743200"/>
            <a:ext cx="323850" cy="609600"/>
          </a:xfrm>
          <a:prstGeom prst="downArrow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956AE11-F986-4121-BF44-6A2C8CF33B50}"/>
              </a:ext>
            </a:extLst>
          </p:cNvPr>
          <p:cNvSpPr>
            <a:spLocks noGrp="1"/>
          </p:cNvSpPr>
          <p:nvPr/>
        </p:nvSpPr>
        <p:spPr>
          <a:xfrm>
            <a:off x="552450" y="1571625"/>
            <a:ext cx="163830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EABA80B-52FE-4EA7-AA27-FD409724B63E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476250" cy="476250"/>
          </a:xfrm>
          <a:prstGeom prst="ellipse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DDD53A-C616-44CD-AB9E-AF556B930A14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80DF25-C90E-4A56-951E-A58033E8F3AB}"/>
              </a:ext>
            </a:extLst>
          </p:cNvPr>
          <p:cNvSpPr>
            <a:spLocks noGrp="1"/>
          </p:cNvSpPr>
          <p:nvPr/>
        </p:nvSpPr>
        <p:spPr>
          <a:xfrm>
            <a:off x="1181100" y="1666875"/>
            <a:ext cx="914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645"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采集 / 回放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4589C5-1303-4D13-9054-112611E3C65E}"/>
              </a:ext>
            </a:extLst>
          </p:cNvPr>
          <p:cNvSpPr>
            <a:spLocks noGrp="1"/>
          </p:cNvSpPr>
          <p:nvPr/>
        </p:nvSpPr>
        <p:spPr>
          <a:xfrm>
            <a:off x="1181100" y="211455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连续 CIS 帧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604ED26-8E8C-469A-BAE6-47141218FBC1}"/>
              </a:ext>
            </a:extLst>
          </p:cNvPr>
          <p:cNvSpPr>
            <a:spLocks noGrp="1"/>
          </p:cNvSpPr>
          <p:nvPr/>
        </p:nvSpPr>
        <p:spPr>
          <a:xfrm>
            <a:off x="2381250" y="1571625"/>
            <a:ext cx="163830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3A9F179-3160-4022-B8CC-A9DD2824A917}"/>
              </a:ext>
            </a:extLst>
          </p:cNvPr>
          <p:cNvSpPr>
            <a:spLocks noGrp="1"/>
          </p:cNvSpPr>
          <p:nvPr/>
        </p:nvSpPr>
        <p:spPr>
          <a:xfrm>
            <a:off x="2476500" y="1762125"/>
            <a:ext cx="476250" cy="476250"/>
          </a:xfrm>
          <a:prstGeom prst="ellipse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AEB109-CEC7-4DBF-BF31-65C09D9C9E8D}"/>
              </a:ext>
            </a:extLst>
          </p:cNvPr>
          <p:cNvSpPr>
            <a:spLocks noGrp="1"/>
          </p:cNvSpPr>
          <p:nvPr/>
        </p:nvSpPr>
        <p:spPr>
          <a:xfrm>
            <a:off x="2476500" y="17621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95D374E-0DC6-45C9-A0A0-E0EBFFEAF631}"/>
              </a:ext>
            </a:extLst>
          </p:cNvPr>
          <p:cNvSpPr>
            <a:spLocks noGrp="1"/>
          </p:cNvSpPr>
          <p:nvPr/>
        </p:nvSpPr>
        <p:spPr>
          <a:xfrm>
            <a:off x="3009900" y="1666875"/>
            <a:ext cx="914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QR 识别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527BE68-C845-4259-8FEA-F1BE070AC243}"/>
              </a:ext>
            </a:extLst>
          </p:cNvPr>
          <p:cNvSpPr>
            <a:spLocks noGrp="1"/>
          </p:cNvSpPr>
          <p:nvPr/>
        </p:nvSpPr>
        <p:spPr>
          <a:xfrm>
            <a:off x="3009900" y="211455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分段锚点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631D5C0-A8DE-4372-838E-38139F7A98B9}"/>
              </a:ext>
            </a:extLst>
          </p:cNvPr>
          <p:cNvSpPr>
            <a:spLocks noGrp="1"/>
          </p:cNvSpPr>
          <p:nvPr/>
        </p:nvSpPr>
        <p:spPr>
          <a:xfrm>
            <a:off x="4210050" y="1571625"/>
            <a:ext cx="163830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0198AC68-D403-42E5-987C-6C9F079A0AE8}"/>
              </a:ext>
            </a:extLst>
          </p:cNvPr>
          <p:cNvSpPr>
            <a:spLocks noGrp="1"/>
          </p:cNvSpPr>
          <p:nvPr/>
        </p:nvSpPr>
        <p:spPr>
          <a:xfrm>
            <a:off x="4305300" y="1762125"/>
            <a:ext cx="476250" cy="476250"/>
          </a:xfrm>
          <a:prstGeom prst="ellipse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6DDEF53-28BF-45D2-B8B0-A0988DF030F6}"/>
              </a:ext>
            </a:extLst>
          </p:cNvPr>
          <p:cNvSpPr>
            <a:spLocks noGrp="1"/>
          </p:cNvSpPr>
          <p:nvPr/>
        </p:nvSpPr>
        <p:spPr>
          <a:xfrm>
            <a:off x="4305300" y="17621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773765-FE98-4D76-8DE6-3E5D05138531}"/>
              </a:ext>
            </a:extLst>
          </p:cNvPr>
          <p:cNvSpPr>
            <a:spLocks noGrp="1"/>
          </p:cNvSpPr>
          <p:nvPr/>
        </p:nvSpPr>
        <p:spPr>
          <a:xfrm>
            <a:off x="4838700" y="1666875"/>
            <a:ext cx="914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段拼接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EDE5D5B-AB40-42ED-899A-D156A7CFE6B8}"/>
              </a:ext>
            </a:extLst>
          </p:cNvPr>
          <p:cNvSpPr>
            <a:spLocks noGrp="1"/>
          </p:cNvSpPr>
          <p:nvPr/>
        </p:nvSpPr>
        <p:spPr>
          <a:xfrm>
            <a:off x="4838700" y="211455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完整大图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58C60193-F8BE-44D9-81D9-5EF883DE9FDF}"/>
              </a:ext>
            </a:extLst>
          </p:cNvPr>
          <p:cNvSpPr>
            <a:spLocks noGrp="1"/>
          </p:cNvSpPr>
          <p:nvPr/>
        </p:nvSpPr>
        <p:spPr>
          <a:xfrm>
            <a:off x="6038850" y="1571625"/>
            <a:ext cx="163830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87E5802F-8B0F-42BC-B634-55D3EE908C70}"/>
              </a:ext>
            </a:extLst>
          </p:cNvPr>
          <p:cNvSpPr>
            <a:spLocks noGrp="1"/>
          </p:cNvSpPr>
          <p:nvPr/>
        </p:nvSpPr>
        <p:spPr>
          <a:xfrm>
            <a:off x="6134100" y="1762125"/>
            <a:ext cx="476250" cy="476250"/>
          </a:xfrm>
          <a:prstGeom prst="ellipse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20C3AC5-3D3E-47DC-9659-7B411A3C69AE}"/>
              </a:ext>
            </a:extLst>
          </p:cNvPr>
          <p:cNvSpPr>
            <a:spLocks noGrp="1"/>
          </p:cNvSpPr>
          <p:nvPr/>
        </p:nvSpPr>
        <p:spPr>
          <a:xfrm>
            <a:off x="6134100" y="17621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A9BFB8A-A95A-4570-BD56-F1987B0C9295}"/>
              </a:ext>
            </a:extLst>
          </p:cNvPr>
          <p:cNvSpPr>
            <a:spLocks noGrp="1"/>
          </p:cNvSpPr>
          <p:nvPr/>
        </p:nvSpPr>
        <p:spPr>
          <a:xfrm>
            <a:off x="6667500" y="1666875"/>
            <a:ext cx="914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白墨检测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A5679EA-8F72-4BCE-B9A6-2B3BE282AA6C}"/>
              </a:ext>
            </a:extLst>
          </p:cNvPr>
          <p:cNvSpPr>
            <a:spLocks noGrp="1"/>
          </p:cNvSpPr>
          <p:nvPr/>
        </p:nvSpPr>
        <p:spPr>
          <a:xfrm>
            <a:off x="6667500" y="211455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墨量与拉丝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88CC8E6-46EC-4F49-AE49-2E8F835BF0D5}"/>
              </a:ext>
            </a:extLst>
          </p:cNvPr>
          <p:cNvSpPr>
            <a:spLocks noGrp="1"/>
          </p:cNvSpPr>
          <p:nvPr/>
        </p:nvSpPr>
        <p:spPr>
          <a:xfrm>
            <a:off x="7867650" y="1571625"/>
            <a:ext cx="163830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434FFB0D-77C7-479B-B9D9-0715C4FFBF24}"/>
              </a:ext>
            </a:extLst>
          </p:cNvPr>
          <p:cNvSpPr>
            <a:spLocks noGrp="1"/>
          </p:cNvSpPr>
          <p:nvPr/>
        </p:nvSpPr>
        <p:spPr>
          <a:xfrm>
            <a:off x="7962900" y="1762125"/>
            <a:ext cx="476250" cy="476250"/>
          </a:xfrm>
          <a:prstGeom prst="ellipse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A7F0425-38A6-4950-97AE-502D847583A0}"/>
              </a:ext>
            </a:extLst>
          </p:cNvPr>
          <p:cNvSpPr>
            <a:spLocks noGrp="1"/>
          </p:cNvSpPr>
          <p:nvPr/>
        </p:nvSpPr>
        <p:spPr>
          <a:xfrm>
            <a:off x="7962900" y="17621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9E8D82D-639D-4752-B8AA-12E6E140F057}"/>
              </a:ext>
            </a:extLst>
          </p:cNvPr>
          <p:cNvSpPr>
            <a:spLocks noGrp="1"/>
          </p:cNvSpPr>
          <p:nvPr/>
        </p:nvSpPr>
        <p:spPr>
          <a:xfrm>
            <a:off x="8496300" y="1666875"/>
            <a:ext cx="914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 解析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25762D3-0DBC-4185-A3CD-0B1305094B79}"/>
              </a:ext>
            </a:extLst>
          </p:cNvPr>
          <p:cNvSpPr>
            <a:spLocks noGrp="1"/>
          </p:cNvSpPr>
          <p:nvPr/>
        </p:nvSpPr>
        <p:spPr>
          <a:xfrm>
            <a:off x="8496300" y="211455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排版与 Alpha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78F0261E-6CB0-4CAC-9153-6150E44B2610}"/>
              </a:ext>
            </a:extLst>
          </p:cNvPr>
          <p:cNvSpPr>
            <a:spLocks noGrp="1"/>
          </p:cNvSpPr>
          <p:nvPr/>
        </p:nvSpPr>
        <p:spPr>
          <a:xfrm>
            <a:off x="9696450" y="3781425"/>
            <a:ext cx="163830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C792AC73-3A4A-4309-8F47-AD551176982E}"/>
              </a:ext>
            </a:extLst>
          </p:cNvPr>
          <p:cNvSpPr>
            <a:spLocks noGrp="1"/>
          </p:cNvSpPr>
          <p:nvPr/>
        </p:nvSpPr>
        <p:spPr>
          <a:xfrm>
            <a:off x="9791700" y="3971925"/>
            <a:ext cx="476250" cy="476250"/>
          </a:xfrm>
          <a:prstGeom prst="ellipse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123060F-6DC4-44F2-A1F0-E2CE2FACCDCE}"/>
              </a:ext>
            </a:extLst>
          </p:cNvPr>
          <p:cNvSpPr>
            <a:spLocks noGrp="1"/>
          </p:cNvSpPr>
          <p:nvPr/>
        </p:nvSpPr>
        <p:spPr>
          <a:xfrm>
            <a:off x="9791700" y="39719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16F100D-3397-429F-A96D-63B9BEE86BC6}"/>
              </a:ext>
            </a:extLst>
          </p:cNvPr>
          <p:cNvSpPr>
            <a:spLocks noGrp="1"/>
          </p:cNvSpPr>
          <p:nvPr/>
        </p:nvSpPr>
        <p:spPr>
          <a:xfrm>
            <a:off x="10325100" y="3876675"/>
            <a:ext cx="914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4192"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侧边 Mark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671406C-B936-438D-85FF-E074E0521646}"/>
              </a:ext>
            </a:extLst>
          </p:cNvPr>
          <p:cNvSpPr>
            <a:spLocks noGrp="1"/>
          </p:cNvSpPr>
          <p:nvPr/>
        </p:nvSpPr>
        <p:spPr>
          <a:xfrm>
            <a:off x="10325100" y="432435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非线性增强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13BB452E-47EC-4318-98BE-3EF1A96B1BA0}"/>
              </a:ext>
            </a:extLst>
          </p:cNvPr>
          <p:cNvSpPr>
            <a:spLocks noGrp="1"/>
          </p:cNvSpPr>
          <p:nvPr/>
        </p:nvSpPr>
        <p:spPr>
          <a:xfrm>
            <a:off x="7410450" y="3781425"/>
            <a:ext cx="163830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30F7D96-87EA-42B3-A848-2D43AB15A736}"/>
              </a:ext>
            </a:extLst>
          </p:cNvPr>
          <p:cNvSpPr>
            <a:spLocks noGrp="1"/>
          </p:cNvSpPr>
          <p:nvPr/>
        </p:nvSpPr>
        <p:spPr>
          <a:xfrm>
            <a:off x="7505700" y="3971925"/>
            <a:ext cx="476250" cy="476250"/>
          </a:xfrm>
          <a:prstGeom prst="ellipse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BD54D81-F109-4377-8A19-9690A8D58556}"/>
              </a:ext>
            </a:extLst>
          </p:cNvPr>
          <p:cNvSpPr>
            <a:spLocks noGrp="1"/>
          </p:cNvSpPr>
          <p:nvPr/>
        </p:nvSpPr>
        <p:spPr>
          <a:xfrm>
            <a:off x="7505700" y="39719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9DA9BE3-ADFB-4194-95B1-51867AE7658E}"/>
              </a:ext>
            </a:extLst>
          </p:cNvPr>
          <p:cNvSpPr>
            <a:spLocks noGrp="1"/>
          </p:cNvSpPr>
          <p:nvPr/>
        </p:nvSpPr>
        <p:spPr>
          <a:xfrm>
            <a:off x="8039100" y="3876675"/>
            <a:ext cx="914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零件裁切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343CF42-E67F-42C9-ABF3-D8E3DA4F7BD6}"/>
              </a:ext>
            </a:extLst>
          </p:cNvPr>
          <p:cNvSpPr>
            <a:spLocks noGrp="1"/>
          </p:cNvSpPr>
          <p:nvPr/>
        </p:nvSpPr>
        <p:spPr>
          <a:xfrm>
            <a:off x="8039100" y="432435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排版 ROI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6862AF16-A426-409F-B730-4F7E2168AB88}"/>
              </a:ext>
            </a:extLst>
          </p:cNvPr>
          <p:cNvSpPr>
            <a:spLocks noGrp="1"/>
          </p:cNvSpPr>
          <p:nvPr/>
        </p:nvSpPr>
        <p:spPr>
          <a:xfrm>
            <a:off x="5124450" y="3781425"/>
            <a:ext cx="163830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1E8C18E0-D0CF-4506-8AB4-E6A265871D05}"/>
              </a:ext>
            </a:extLst>
          </p:cNvPr>
          <p:cNvSpPr>
            <a:spLocks noGrp="1"/>
          </p:cNvSpPr>
          <p:nvPr/>
        </p:nvSpPr>
        <p:spPr>
          <a:xfrm>
            <a:off x="5219700" y="3971925"/>
            <a:ext cx="476250" cy="476250"/>
          </a:xfrm>
          <a:prstGeom prst="ellipse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8D8A768-6636-4D9E-AD8C-DAD177E974C1}"/>
              </a:ext>
            </a:extLst>
          </p:cNvPr>
          <p:cNvSpPr>
            <a:spLocks noGrp="1"/>
          </p:cNvSpPr>
          <p:nvPr/>
        </p:nvSpPr>
        <p:spPr>
          <a:xfrm>
            <a:off x="5219700" y="39719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FFAD6E8-4B25-4AFC-970E-F77E3E61BB82}"/>
              </a:ext>
            </a:extLst>
          </p:cNvPr>
          <p:cNvSpPr>
            <a:spLocks noGrp="1"/>
          </p:cNvSpPr>
          <p:nvPr/>
        </p:nvSpPr>
        <p:spPr>
          <a:xfrm>
            <a:off x="5753100" y="3876675"/>
            <a:ext cx="914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5239"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SIFT 精对准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6C4AF63-3C91-4B81-8CB8-BBD52A2B0EEA}"/>
              </a:ext>
            </a:extLst>
          </p:cNvPr>
          <p:cNvSpPr>
            <a:spLocks noGrp="1"/>
          </p:cNvSpPr>
          <p:nvPr/>
        </p:nvSpPr>
        <p:spPr>
          <a:xfrm>
            <a:off x="5753100" y="432435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逐件仿射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8055991E-3F7E-4EB6-9691-C725493CB387}"/>
              </a:ext>
            </a:extLst>
          </p:cNvPr>
          <p:cNvSpPr>
            <a:spLocks noGrp="1"/>
          </p:cNvSpPr>
          <p:nvPr/>
        </p:nvSpPr>
        <p:spPr>
          <a:xfrm>
            <a:off x="2838450" y="3781425"/>
            <a:ext cx="163830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54D84E8C-D751-4E79-B159-0761FB5E68C2}"/>
              </a:ext>
            </a:extLst>
          </p:cNvPr>
          <p:cNvSpPr>
            <a:spLocks noGrp="1"/>
          </p:cNvSpPr>
          <p:nvPr/>
        </p:nvSpPr>
        <p:spPr>
          <a:xfrm>
            <a:off x="2933700" y="3971925"/>
            <a:ext cx="476250" cy="476250"/>
          </a:xfrm>
          <a:prstGeom prst="ellipse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2D2AB25-3D05-4C59-9B87-8126B837AFBB}"/>
              </a:ext>
            </a:extLst>
          </p:cNvPr>
          <p:cNvSpPr>
            <a:spLocks noGrp="1"/>
          </p:cNvSpPr>
          <p:nvPr/>
        </p:nvSpPr>
        <p:spPr>
          <a:xfrm>
            <a:off x="2933700" y="39719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E3159F7-4794-4CD2-A4E0-14906AAE4543}"/>
              </a:ext>
            </a:extLst>
          </p:cNvPr>
          <p:cNvSpPr>
            <a:spLocks noGrp="1"/>
          </p:cNvSpPr>
          <p:nvPr/>
        </p:nvSpPr>
        <p:spPr>
          <a:xfrm>
            <a:off x="3467100" y="3876675"/>
            <a:ext cx="914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6397"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差分 + 细线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B80CE06-9807-461C-AC91-35FAE6E8A7F2}"/>
              </a:ext>
            </a:extLst>
          </p:cNvPr>
          <p:cNvSpPr>
            <a:spLocks noGrp="1"/>
          </p:cNvSpPr>
          <p:nvPr/>
        </p:nvSpPr>
        <p:spPr>
          <a:xfrm>
            <a:off x="3467100" y="432435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内外缺陷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7BCADD05-1232-4555-9A66-2ADF116C0ACE}"/>
              </a:ext>
            </a:extLst>
          </p:cNvPr>
          <p:cNvSpPr>
            <a:spLocks noGrp="1"/>
          </p:cNvSpPr>
          <p:nvPr/>
        </p:nvSpPr>
        <p:spPr>
          <a:xfrm>
            <a:off x="552450" y="5153025"/>
            <a:ext cx="11087100" cy="781050"/>
          </a:xfrm>
          <a:prstGeom prst="roundRect">
            <a:avLst>
              <a:gd name="adj" fmla="val 1463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1677A12-7845-428C-8CCD-70E960427BE3}"/>
              </a:ext>
            </a:extLst>
          </p:cNvPr>
          <p:cNvSpPr>
            <a:spLocks noGrp="1"/>
          </p:cNvSpPr>
          <p:nvPr/>
        </p:nvSpPr>
        <p:spPr>
          <a:xfrm>
            <a:off x="552450" y="5153025"/>
            <a:ext cx="66675" cy="781050"/>
          </a:xfrm>
          <a:prstGeom prst="rect">
            <a:avLst/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4289A34-8840-43B0-B42B-A3D13FEB83D1}"/>
              </a:ext>
            </a:extLst>
          </p:cNvPr>
          <p:cNvSpPr>
            <a:spLocks noGrp="1"/>
          </p:cNvSpPr>
          <p:nvPr/>
        </p:nvSpPr>
        <p:spPr>
          <a:xfrm>
            <a:off x="742950" y="5305425"/>
            <a:ext cx="1076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质量控制原则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CEC5E37-9025-44E1-AFBD-CB033714D3A6}"/>
              </a:ext>
            </a:extLst>
          </p:cNvPr>
          <p:cNvSpPr>
            <a:spLocks noGrp="1"/>
          </p:cNvSpPr>
          <p:nvPr/>
        </p:nvSpPr>
        <p:spPr>
          <a:xfrm>
            <a:off x="742950" y="5676900"/>
            <a:ext cx="10763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49758" lnSpcReduction="2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关键节点记录状态；增强功能失败明确降级；不在证据不足时静默给出高置信结论。</a:t>
            </a:r>
          </a:p>
        </p:txBody>
      </p:sp>
      <p:sp>
        <p:nvSpPr>
          <p:cNvPr id="66" name="global-mark-step-card">
            <a:extLst>
              <a:ext uri="{FF2B5EF4-FFF2-40B4-BE49-F238E27FC236}">
                <a16:creationId xmlns:a16="http://schemas.microsoft.com/office/drawing/2014/main" id="{CFFB0698-7FBE-4B7E-8DB5-B1D58F114AE3}"/>
              </a:ext>
            </a:extLst>
          </p:cNvPr>
          <p:cNvSpPr>
            <a:spLocks noGrp="1"/>
          </p:cNvSpPr>
          <p:nvPr/>
        </p:nvSpPr>
        <p:spPr>
          <a:xfrm>
            <a:off x="9696450" y="1571625"/>
            <a:ext cx="1638300" cy="876300"/>
          </a:xfrm>
          <a:prstGeom prst="roundRect">
            <a:avLst>
              <a:gd name="adj" fmla="val 8696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67" name="global-mark-step-number-circle">
            <a:extLst>
              <a:ext uri="{FF2B5EF4-FFF2-40B4-BE49-F238E27FC236}">
                <a16:creationId xmlns:a16="http://schemas.microsoft.com/office/drawing/2014/main" id="{73A44CD5-C4AE-4AA6-92DF-D417CC71FEAC}"/>
              </a:ext>
            </a:extLst>
          </p:cNvPr>
          <p:cNvSpPr>
            <a:spLocks noGrp="1"/>
          </p:cNvSpPr>
          <p:nvPr/>
        </p:nvSpPr>
        <p:spPr>
          <a:xfrm>
            <a:off x="9791700" y="1762125"/>
            <a:ext cx="476250" cy="476250"/>
          </a:xfrm>
          <a:prstGeom prst="ellipse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68" name="global-mark-step-number">
            <a:extLst>
              <a:ext uri="{FF2B5EF4-FFF2-40B4-BE49-F238E27FC236}">
                <a16:creationId xmlns:a16="http://schemas.microsoft.com/office/drawing/2014/main" id="{076DA722-4DF6-442E-8BC9-8A781C956E5C}"/>
              </a:ext>
            </a:extLst>
          </p:cNvPr>
          <p:cNvSpPr>
            <a:spLocks noGrp="1"/>
          </p:cNvSpPr>
          <p:nvPr/>
        </p:nvSpPr>
        <p:spPr>
          <a:xfrm>
            <a:off x="9791700" y="17621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69" name="global-mark-step-title">
            <a:extLst>
              <a:ext uri="{FF2B5EF4-FFF2-40B4-BE49-F238E27FC236}">
                <a16:creationId xmlns:a16="http://schemas.microsoft.com/office/drawing/2014/main" id="{D86AEB74-AF01-4377-A877-4DBB07CB62D5}"/>
              </a:ext>
            </a:extLst>
          </p:cNvPr>
          <p:cNvSpPr>
            <a:spLocks noGrp="1"/>
          </p:cNvSpPr>
          <p:nvPr/>
        </p:nvSpPr>
        <p:spPr>
          <a:xfrm>
            <a:off x="10325100" y="1666875"/>
            <a:ext cx="914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Mark 粗对准</a:t>
            </a:r>
          </a:p>
        </p:txBody>
      </p:sp>
      <p:sp>
        <p:nvSpPr>
          <p:cNvPr id="70" name="global-mark-step-body">
            <a:extLst>
              <a:ext uri="{FF2B5EF4-FFF2-40B4-BE49-F238E27FC236}">
                <a16:creationId xmlns:a16="http://schemas.microsoft.com/office/drawing/2014/main" id="{57DE3177-E20A-4B50-AF18-857BE814A430}"/>
              </a:ext>
            </a:extLst>
          </p:cNvPr>
          <p:cNvSpPr>
            <a:spLocks noGrp="1"/>
          </p:cNvSpPr>
          <p:nvPr/>
        </p:nvSpPr>
        <p:spPr>
          <a:xfrm>
            <a:off x="10325100" y="211455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H0 全局空间</a:t>
            </a:r>
          </a:p>
        </p:txBody>
      </p:sp>
      <p:sp>
        <p:nvSpPr>
          <p:cNvPr id="71" name="summary-step-card">
            <a:extLst>
              <a:ext uri="{FF2B5EF4-FFF2-40B4-BE49-F238E27FC236}">
                <a16:creationId xmlns:a16="http://schemas.microsoft.com/office/drawing/2014/main" id="{7D6DBA7B-025D-4E3D-B8B4-402731B0CD75}"/>
              </a:ext>
            </a:extLst>
          </p:cNvPr>
          <p:cNvSpPr>
            <a:spLocks noGrp="1"/>
          </p:cNvSpPr>
          <p:nvPr/>
        </p:nvSpPr>
        <p:spPr>
          <a:xfrm>
            <a:off x="552450" y="3781425"/>
            <a:ext cx="1638300" cy="876300"/>
          </a:xfrm>
          <a:prstGeom prst="roundRect">
            <a:avLst>
              <a:gd name="adj" fmla="val 8696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72" name="summary-step-number-circle">
            <a:extLst>
              <a:ext uri="{FF2B5EF4-FFF2-40B4-BE49-F238E27FC236}">
                <a16:creationId xmlns:a16="http://schemas.microsoft.com/office/drawing/2014/main" id="{343B9D8B-54B4-46FE-80BB-C379218F585F}"/>
              </a:ext>
            </a:extLst>
          </p:cNvPr>
          <p:cNvSpPr>
            <a:spLocks noGrp="1"/>
          </p:cNvSpPr>
          <p:nvPr/>
        </p:nvSpPr>
        <p:spPr>
          <a:xfrm>
            <a:off x="647700" y="3971925"/>
            <a:ext cx="476250" cy="476250"/>
          </a:xfrm>
          <a:prstGeom prst="ellipse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73" name="summary-step-number">
            <a:extLst>
              <a:ext uri="{FF2B5EF4-FFF2-40B4-BE49-F238E27FC236}">
                <a16:creationId xmlns:a16="http://schemas.microsoft.com/office/drawing/2014/main" id="{FE3C43CF-5B33-41F5-86EB-4526D92027F2}"/>
              </a:ext>
            </a:extLst>
          </p:cNvPr>
          <p:cNvSpPr>
            <a:spLocks noGrp="1"/>
          </p:cNvSpPr>
          <p:nvPr/>
        </p:nvSpPr>
        <p:spPr>
          <a:xfrm>
            <a:off x="647700" y="397192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4" name="summary-step-title">
            <a:extLst>
              <a:ext uri="{FF2B5EF4-FFF2-40B4-BE49-F238E27FC236}">
                <a16:creationId xmlns:a16="http://schemas.microsoft.com/office/drawing/2014/main" id="{4FE9886D-8FC1-4076-AB01-5E603B69F6E1}"/>
              </a:ext>
            </a:extLst>
          </p:cNvPr>
          <p:cNvSpPr>
            <a:spLocks noGrp="1"/>
          </p:cNvSpPr>
          <p:nvPr/>
        </p:nvSpPr>
        <p:spPr>
          <a:xfrm>
            <a:off x="1181100" y="3876675"/>
            <a:ext cx="914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汇总 / 保存</a:t>
            </a:r>
          </a:p>
        </p:txBody>
      </p:sp>
      <p:sp>
        <p:nvSpPr>
          <p:cNvPr id="75" name="summary-step-body">
            <a:extLst>
              <a:ext uri="{FF2B5EF4-FFF2-40B4-BE49-F238E27FC236}">
                <a16:creationId xmlns:a16="http://schemas.microsoft.com/office/drawing/2014/main" id="{69047274-C9CC-43F1-B06A-92B0273F6CD3}"/>
              </a:ext>
            </a:extLst>
          </p:cNvPr>
          <p:cNvSpPr>
            <a:spLocks noGrp="1"/>
          </p:cNvSpPr>
          <p:nvPr/>
        </p:nvSpPr>
        <p:spPr>
          <a:xfrm>
            <a:off x="1181100" y="4324350"/>
            <a:ext cx="914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全局与逐件证据</a:t>
            </a:r>
          </a:p>
        </p:txBody>
      </p:sp>
      <p:sp>
        <p:nvSpPr>
          <p:cNvPr id="76" name="global-mark-incoming">
            <a:extLst>
              <a:ext uri="{FF2B5EF4-FFF2-40B4-BE49-F238E27FC236}">
                <a16:creationId xmlns:a16="http://schemas.microsoft.com/office/drawing/2014/main" id="{A87C8F5E-ED3C-4DB5-B196-29307248F8AE}"/>
              </a:ext>
            </a:extLst>
          </p:cNvPr>
          <p:cNvSpPr>
            <a:spLocks noGrp="1"/>
          </p:cNvSpPr>
          <p:nvPr/>
        </p:nvSpPr>
        <p:spPr>
          <a:xfrm>
            <a:off x="9505950" y="1895475"/>
            <a:ext cx="190500" cy="22860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77" name="summary-incoming">
            <a:extLst>
              <a:ext uri="{FF2B5EF4-FFF2-40B4-BE49-F238E27FC236}">
                <a16:creationId xmlns:a16="http://schemas.microsoft.com/office/drawing/2014/main" id="{D8DAE3B9-15E3-415D-A3B5-D46549BF2B67}"/>
              </a:ext>
            </a:extLst>
          </p:cNvPr>
          <p:cNvSpPr>
            <a:spLocks noGrp="1"/>
          </p:cNvSpPr>
          <p:nvPr/>
        </p:nvSpPr>
        <p:spPr>
          <a:xfrm>
            <a:off x="2228850" y="4105275"/>
            <a:ext cx="609600" cy="228600"/>
          </a:xfrm>
          <a:prstGeom prst="leftArrow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77310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ADF27F8B-4CDD-443B-B14D-0D3689C65A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81C8383-1401-4606-8160-671E8D33B08E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AD5D45-E978-41B1-8283-9F68ED61B43D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8AD13E-1783-4560-84AC-C1190B51B472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传统人工与单帧算法难以覆盖连续膜片检测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4C9C452E-31B2-435C-A5E3-6BCF96359DA6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48B1D0-DEB7-4C9E-B5B3-A6800D765C6E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真实帧与当前检测流程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78F52B-07D3-46FD-9A91-0428CE8B9A89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2450" y="1524000"/>
            <a:ext cx="4857750" cy="3981450"/>
          </a:xfrm>
          <a:prstGeom prst="round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3F141F4-F6E9-4C37-ABF5-A37092246D22}"/>
              </a:ext>
            </a:extLst>
          </p:cNvPr>
          <p:cNvSpPr>
            <a:spLocks noGrp="1"/>
          </p:cNvSpPr>
          <p:nvPr/>
        </p:nvSpPr>
        <p:spPr>
          <a:xfrm>
            <a:off x="552450" y="5172075"/>
            <a:ext cx="485775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F91C92-B2AA-49A8-81D9-B68267270B23}"/>
              </a:ext>
            </a:extLst>
          </p:cNvPr>
          <p:cNvSpPr>
            <a:spLocks noGrp="1"/>
          </p:cNvSpPr>
          <p:nvPr/>
        </p:nvSpPr>
        <p:spPr>
          <a:xfrm>
            <a:off x="628650" y="5210175"/>
            <a:ext cx="4705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单帧只能看到连续材料的一段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0027DA8-7D35-4957-AB27-0B108E5C0A80}"/>
              </a:ext>
            </a:extLst>
          </p:cNvPr>
          <p:cNvSpPr>
            <a:spLocks noGrp="1"/>
          </p:cNvSpPr>
          <p:nvPr/>
        </p:nvSpPr>
        <p:spPr>
          <a:xfrm>
            <a:off x="5715000" y="1524000"/>
            <a:ext cx="2800350" cy="1790700"/>
          </a:xfrm>
          <a:prstGeom prst="roundRect">
            <a:avLst>
              <a:gd name="adj" fmla="val 638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28155F-CF75-4D1F-8C3D-325B3ECB7FB1}"/>
              </a:ext>
            </a:extLst>
          </p:cNvPr>
          <p:cNvSpPr>
            <a:spLocks noGrp="1"/>
          </p:cNvSpPr>
          <p:nvPr/>
        </p:nvSpPr>
        <p:spPr>
          <a:xfrm>
            <a:off x="5715000" y="1524000"/>
            <a:ext cx="66675" cy="17907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8C7F89-C066-4F63-9482-BED408918252}"/>
              </a:ext>
            </a:extLst>
          </p:cNvPr>
          <p:cNvSpPr>
            <a:spLocks noGrp="1"/>
          </p:cNvSpPr>
          <p:nvPr/>
        </p:nvSpPr>
        <p:spPr>
          <a:xfrm>
            <a:off x="5905500" y="16764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01 连续材料不是静态图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D82519-E64A-4D5C-89AD-68ACDC506C29}"/>
              </a:ext>
            </a:extLst>
          </p:cNvPr>
          <p:cNvSpPr>
            <a:spLocks noGrp="1"/>
          </p:cNvSpPr>
          <p:nvPr/>
        </p:nvSpPr>
        <p:spPr>
          <a:xfrm>
            <a:off x="5905500" y="2047875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必须从多帧中恢复二维码之间的完整材料段，才能进入排版检测。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E4C1122-7AFF-4C5C-8B42-F6211C0B6B98}"/>
              </a:ext>
            </a:extLst>
          </p:cNvPr>
          <p:cNvSpPr>
            <a:spLocks noGrp="1"/>
          </p:cNvSpPr>
          <p:nvPr/>
        </p:nvSpPr>
        <p:spPr>
          <a:xfrm>
            <a:off x="8743950" y="1524000"/>
            <a:ext cx="2800350" cy="1790700"/>
          </a:xfrm>
          <a:prstGeom prst="roundRect">
            <a:avLst>
              <a:gd name="adj" fmla="val 638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2BF21F-E142-4A2F-A26F-F0C35F59C4CB}"/>
              </a:ext>
            </a:extLst>
          </p:cNvPr>
          <p:cNvSpPr>
            <a:spLocks noGrp="1"/>
          </p:cNvSpPr>
          <p:nvPr/>
        </p:nvSpPr>
        <p:spPr>
          <a:xfrm>
            <a:off x="8743950" y="1524000"/>
            <a:ext cx="66675" cy="179070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171BD03-30A0-4A78-80CE-6D5FDB10FC0E}"/>
              </a:ext>
            </a:extLst>
          </p:cNvPr>
          <p:cNvSpPr>
            <a:spLocks noGrp="1"/>
          </p:cNvSpPr>
          <p:nvPr/>
        </p:nvSpPr>
        <p:spPr>
          <a:xfrm>
            <a:off x="8934450" y="16764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 设计与实拍坐标不同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9DCEE40-B111-4913-B100-93726C70BABD}"/>
              </a:ext>
            </a:extLst>
          </p:cNvPr>
          <p:cNvSpPr>
            <a:spLocks noGrp="1"/>
          </p:cNvSpPr>
          <p:nvPr/>
        </p:nvSpPr>
        <p:spPr>
          <a:xfrm>
            <a:off x="8934450" y="2047875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扫描倾斜、尺度和材料形变，使 CIS 实拍无法直接与 TIFF 做差分。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BF68B2B-B076-49A7-A66D-564C23541D2E}"/>
              </a:ext>
            </a:extLst>
          </p:cNvPr>
          <p:cNvSpPr>
            <a:spLocks noGrp="1"/>
          </p:cNvSpPr>
          <p:nvPr/>
        </p:nvSpPr>
        <p:spPr>
          <a:xfrm>
            <a:off x="5715000" y="3562350"/>
            <a:ext cx="2800350" cy="1790700"/>
          </a:xfrm>
          <a:prstGeom prst="roundRect">
            <a:avLst>
              <a:gd name="adj" fmla="val 638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57316E1-C26F-4591-8988-28741F427484}"/>
              </a:ext>
            </a:extLst>
          </p:cNvPr>
          <p:cNvSpPr>
            <a:spLocks noGrp="1"/>
          </p:cNvSpPr>
          <p:nvPr/>
        </p:nvSpPr>
        <p:spPr>
          <a:xfrm>
            <a:off x="5715000" y="3562350"/>
            <a:ext cx="66675" cy="179070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B2C423-A074-4481-A54B-1B964588B139}"/>
              </a:ext>
            </a:extLst>
          </p:cNvPr>
          <p:cNvSpPr>
            <a:spLocks noGrp="1"/>
          </p:cNvSpPr>
          <p:nvPr/>
        </p:nvSpPr>
        <p:spPr>
          <a:xfrm>
            <a:off x="5905500" y="37147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03 轮廓细、缺陷小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A3227FB-4C4D-4180-A57B-510D4DFC5470}"/>
              </a:ext>
            </a:extLst>
          </p:cNvPr>
          <p:cNvSpPr>
            <a:spLocks noGrp="1"/>
          </p:cNvSpPr>
          <p:nvPr/>
        </p:nvSpPr>
        <p:spPr>
          <a:xfrm>
            <a:off x="5905500" y="4086225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真实断线可能落在轮廓边缘，既容易被错位误报淹没，也容易被屏蔽漏掉。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FAD8ED0-4448-4E8D-8FAF-895664B1DC46}"/>
              </a:ext>
            </a:extLst>
          </p:cNvPr>
          <p:cNvSpPr>
            <a:spLocks noGrp="1"/>
          </p:cNvSpPr>
          <p:nvPr/>
        </p:nvSpPr>
        <p:spPr>
          <a:xfrm>
            <a:off x="8743950" y="3562350"/>
            <a:ext cx="2800350" cy="1790700"/>
          </a:xfrm>
          <a:prstGeom prst="roundRect">
            <a:avLst>
              <a:gd name="adj" fmla="val 638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1AC6668-17B7-4C27-8B78-CD8308BE5EA1}"/>
              </a:ext>
            </a:extLst>
          </p:cNvPr>
          <p:cNvSpPr>
            <a:spLocks noGrp="1"/>
          </p:cNvSpPr>
          <p:nvPr/>
        </p:nvSpPr>
        <p:spPr>
          <a:xfrm>
            <a:off x="8743950" y="3562350"/>
            <a:ext cx="66675" cy="17907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E7580F6-B81F-4B0A-88DD-F299ABE20DBF}"/>
              </a:ext>
            </a:extLst>
          </p:cNvPr>
          <p:cNvSpPr>
            <a:spLocks noGrp="1"/>
          </p:cNvSpPr>
          <p:nvPr/>
        </p:nvSpPr>
        <p:spPr>
          <a:xfrm>
            <a:off x="8934450" y="37147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04 结果必须可追溯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C218E01-1CA5-4AB5-AA15-FC496B91F311}"/>
              </a:ext>
            </a:extLst>
          </p:cNvPr>
          <p:cNvSpPr>
            <a:spLocks noGrp="1"/>
          </p:cNvSpPr>
          <p:nvPr/>
        </p:nvSpPr>
        <p:spPr>
          <a:xfrm>
            <a:off x="8934450" y="4086225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不仅要给出 Pass/Fail，还要定位到零件并保留设计、实拍和差异证据。</a:t>
            </a:r>
          </a:p>
        </p:txBody>
      </p:sp>
    </p:spTree>
    <p:extLst>
      <p:ext uri="{BB962C8B-B14F-4D97-AF65-F5344CB8AC3E}">
        <p14:creationId xmlns:p14="http://schemas.microsoft.com/office/powerpoint/2010/main" val="536653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项目目标：稳定完成质量闭环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来源：当前功能、真实运行结果与现场需求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质量价值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095920D-02EA-4A01-AE83-8232F2E87CA6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B9401B-4D1F-4086-A317-D2EDA6AAD531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66675" cy="1066800"/>
          </a:xfrm>
          <a:prstGeom prst="rect">
            <a:avLst/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56AFF8-3FF3-4E60-8AFF-6CE525B6AC74}"/>
              </a:ext>
            </a:extLst>
          </p:cNvPr>
          <p:cNvSpPr>
            <a:spLocks noGrp="1"/>
          </p:cNvSpPr>
          <p:nvPr/>
        </p:nvSpPr>
        <p:spPr>
          <a:xfrm>
            <a:off x="742950" y="20193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检出真实缺陷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07B87B-485C-4828-962C-25E0F43B2E0E}"/>
              </a:ext>
            </a:extLst>
          </p:cNvPr>
          <p:cNvSpPr>
            <a:spLocks noGrp="1"/>
          </p:cNvSpPr>
          <p:nvPr/>
        </p:nvSpPr>
        <p:spPr>
          <a:xfrm>
            <a:off x="742950" y="23907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250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覆盖断墨、漏印、多印、脏污与细小轮廓断裂。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96DD7BD-BF7D-42E9-969B-75514B8D9B44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46D39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F8114B-FF70-411F-852B-FDE03EC8F9DD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66675" cy="10668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419EDE-FB9F-402B-A368-55380EA0555B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压低轮廓误报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5E6CA3-1A05-422D-8D11-AC10F1C8D37C}"/>
              </a:ext>
            </a:extLst>
          </p:cNvPr>
          <p:cNvSpPr>
            <a:spLocks noGrp="1"/>
          </p:cNvSpPr>
          <p:nvPr/>
        </p:nvSpPr>
        <p:spPr>
          <a:xfrm>
            <a:off x="742950" y="362902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全局与零件级对准配合形态学容差，吸收残余错位。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F7BD3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66675" cy="1066800"/>
          </a:xfrm>
          <a:prstGeom prst="rect">
            <a:avLst/>
          </a:prstGeom>
          <a:solidFill>
            <a:srgbClr val="F7BD3E"/>
          </a:solidFill>
          <a:ln w="0">
            <a:solidFill>
              <a:srgbClr val="F7BD3E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保留复核证据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noGrp="1"/>
          </p:cNvSpPr>
          <p:nvPr/>
        </p:nvSpPr>
        <p:spPr>
          <a:xfrm>
            <a:off x="74295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逐件保存设计、实拍、差异与缺陷框，支持追溯。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noGrp="1"/>
          </p:cNvSpPr>
          <p:nvPr/>
        </p:nvSpPr>
        <p:spPr>
          <a:xfrm>
            <a:off x="434340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noGrp="1"/>
          </p:cNvSpPr>
          <p:nvPr/>
        </p:nvSpPr>
        <p:spPr>
          <a:xfrm>
            <a:off x="434340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效率价值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138172A-3FEE-48CD-8981-2FAAD47E9F74}"/>
              </a:ext>
            </a:extLst>
          </p:cNvPr>
          <p:cNvSpPr>
            <a:spLocks noGrp="1"/>
          </p:cNvSpPr>
          <p:nvPr/>
        </p:nvSpPr>
        <p:spPr>
          <a:xfrm>
            <a:off x="4343400" y="18669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35C9E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0C4DB07-FB38-4367-B6D1-35BB5D24AAAC}"/>
              </a:ext>
            </a:extLst>
          </p:cNvPr>
          <p:cNvSpPr>
            <a:spLocks noGrp="1"/>
          </p:cNvSpPr>
          <p:nvPr/>
        </p:nvSpPr>
        <p:spPr>
          <a:xfrm>
            <a:off x="4343400" y="1866900"/>
            <a:ext cx="66675" cy="1066800"/>
          </a:xfrm>
          <a:prstGeom prst="rect">
            <a:avLst/>
          </a:prstGeom>
          <a:solidFill>
            <a:srgbClr val="35C9E8"/>
          </a:solidFill>
          <a:ln w="0">
            <a:solidFill>
              <a:srgbClr val="35C9E8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61808AB-0FE4-4BAC-ADA3-CA24F2AEEB1F}"/>
              </a:ext>
            </a:extLst>
          </p:cNvPr>
          <p:cNvSpPr>
            <a:spLocks noGrp="1"/>
          </p:cNvSpPr>
          <p:nvPr/>
        </p:nvSpPr>
        <p:spPr>
          <a:xfrm>
            <a:off x="4533900" y="20193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连续帧自动成段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A27E488-77D7-454F-829F-6F6C363E67C1}"/>
              </a:ext>
            </a:extLst>
          </p:cNvPr>
          <p:cNvSpPr>
            <a:spLocks noGrp="1"/>
          </p:cNvSpPr>
          <p:nvPr/>
        </p:nvSpPr>
        <p:spPr>
          <a:xfrm>
            <a:off x="4533900" y="23907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250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二维码定义开始与结束，自动拼出完整检测段。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FDEDA5E-6777-481C-8179-CF8FF199733C}"/>
              </a:ext>
            </a:extLst>
          </p:cNvPr>
          <p:cNvSpPr>
            <a:spLocks noGrp="1"/>
          </p:cNvSpPr>
          <p:nvPr/>
        </p:nvSpPr>
        <p:spPr>
          <a:xfrm>
            <a:off x="4343400" y="310515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CF376CC-B3D1-4AE6-95AC-70FC7BA8EA5A}"/>
              </a:ext>
            </a:extLst>
          </p:cNvPr>
          <p:cNvSpPr>
            <a:spLocks noGrp="1"/>
          </p:cNvSpPr>
          <p:nvPr/>
        </p:nvSpPr>
        <p:spPr>
          <a:xfrm>
            <a:off x="4343400" y="3105150"/>
            <a:ext cx="66675" cy="10668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08F4814-A10D-4BDB-88D1-6CF07142CCDB}"/>
              </a:ext>
            </a:extLst>
          </p:cNvPr>
          <p:cNvSpPr>
            <a:spLocks noGrp="1"/>
          </p:cNvSpPr>
          <p:nvPr/>
        </p:nvSpPr>
        <p:spPr>
          <a:xfrm>
            <a:off x="4533900" y="32575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批量零件自动处理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DF51A10-08DB-40AB-9930-5F2B5DBF0440}"/>
              </a:ext>
            </a:extLst>
          </p:cNvPr>
          <p:cNvSpPr>
            <a:spLocks noGrp="1"/>
          </p:cNvSpPr>
          <p:nvPr/>
        </p:nvSpPr>
        <p:spPr>
          <a:xfrm>
            <a:off x="4533900" y="362902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250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按排版坐标裁切零件，并行执行精对准与检测。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46D39A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66675" cy="10668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性能持续可测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noGrp="1"/>
          </p:cNvSpPr>
          <p:nvPr/>
        </p:nvSpPr>
        <p:spPr>
          <a:xfrm>
            <a:off x="453390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批次记录耗时、P50/P95、缓存命中与内存变化。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noGrp="1"/>
          </p:cNvSpPr>
          <p:nvPr/>
        </p:nvSpPr>
        <p:spPr>
          <a:xfrm>
            <a:off x="81343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noGrp="1"/>
          </p:cNvSpPr>
          <p:nvPr/>
        </p:nvSpPr>
        <p:spPr>
          <a:xfrm>
            <a:off x="81343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长期价值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3CD9005-F807-4DBB-A642-0BAB2DAA45C8}"/>
              </a:ext>
            </a:extLst>
          </p:cNvPr>
          <p:cNvSpPr>
            <a:spLocks noGrp="1"/>
          </p:cNvSpPr>
          <p:nvPr/>
        </p:nvSpPr>
        <p:spPr>
          <a:xfrm>
            <a:off x="8134350" y="18669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383A1A5-97C2-45BF-999E-778A388813C2}"/>
              </a:ext>
            </a:extLst>
          </p:cNvPr>
          <p:cNvSpPr>
            <a:spLocks noGrp="1"/>
          </p:cNvSpPr>
          <p:nvPr/>
        </p:nvSpPr>
        <p:spPr>
          <a:xfrm>
            <a:off x="8134350" y="186690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5A9FAD3-2A6A-40E9-BA3F-2C2922ABB165}"/>
              </a:ext>
            </a:extLst>
          </p:cNvPr>
          <p:cNvSpPr>
            <a:spLocks noGrp="1"/>
          </p:cNvSpPr>
          <p:nvPr/>
        </p:nvSpPr>
        <p:spPr>
          <a:xfrm>
            <a:off x="8324850" y="20193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参数化适配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50CBAF6-65EB-4649-B002-AB8C3C33C600}"/>
              </a:ext>
            </a:extLst>
          </p:cNvPr>
          <p:cNvSpPr>
            <a:spLocks noGrp="1"/>
          </p:cNvSpPr>
          <p:nvPr/>
        </p:nvSpPr>
        <p:spPr>
          <a:xfrm>
            <a:off x="8324850" y="239077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544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适配不同图库、排版、检测尺度与工艺参数。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6D93A172-6268-4702-B89E-363769D8FFF1}"/>
              </a:ext>
            </a:extLst>
          </p:cNvPr>
          <p:cNvSpPr>
            <a:spLocks noGrp="1"/>
          </p:cNvSpPr>
          <p:nvPr/>
        </p:nvSpPr>
        <p:spPr>
          <a:xfrm>
            <a:off x="8134350" y="310515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F6EE8C8-672F-4302-8A93-E76E250A168A}"/>
              </a:ext>
            </a:extLst>
          </p:cNvPr>
          <p:cNvSpPr>
            <a:spLocks noGrp="1"/>
          </p:cNvSpPr>
          <p:nvPr/>
        </p:nvSpPr>
        <p:spPr>
          <a:xfrm>
            <a:off x="8134350" y="310515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FEFC8CD-1A69-4AEA-B1A6-E634B79E3872}"/>
              </a:ext>
            </a:extLst>
          </p:cNvPr>
          <p:cNvSpPr>
            <a:spLocks noGrp="1"/>
          </p:cNvSpPr>
          <p:nvPr/>
        </p:nvSpPr>
        <p:spPr>
          <a:xfrm>
            <a:off x="8324850" y="325755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数据资产沉淀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08FE6B6-97FD-4D6A-984E-6E2F1F53E260}"/>
              </a:ext>
            </a:extLst>
          </p:cNvPr>
          <p:cNvSpPr>
            <a:spLocks noGrp="1"/>
          </p:cNvSpPr>
          <p:nvPr/>
        </p:nvSpPr>
        <p:spPr>
          <a:xfrm>
            <a:off x="8324850" y="362902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4221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持续积累真实缺陷、正常样本、配置与运行基线。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noGrp="1"/>
          </p:cNvSpPr>
          <p:nvPr/>
        </p:nvSpPr>
        <p:spPr>
          <a:xfrm>
            <a:off x="8324850" y="44958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平台化扩展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noGrp="1"/>
          </p:cNvSpPr>
          <p:nvPr/>
        </p:nvSpPr>
        <p:spPr>
          <a:xfrm>
            <a:off x="8324850" y="486727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544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未来可扩展新图案、新材料和数据驱动算法。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noGrp="1"/>
          </p:cNvSpPr>
          <p:nvPr/>
        </p:nvSpPr>
        <p:spPr>
          <a:xfrm>
            <a:off x="1047750" y="56959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项目价值不止一次检测，而是形成可复制、可追溯、可持续优化的质量平台。</a:t>
            </a:r>
          </a:p>
        </p:txBody>
      </p:sp>
    </p:spTree>
    <p:extLst>
      <p:ext uri="{BB962C8B-B14F-4D97-AF65-F5344CB8AC3E}">
        <p14:creationId xmlns:p14="http://schemas.microsoft.com/office/powerpoint/2010/main" val="1233650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7487AB55-1A1D-4142-84F3-ED83BCE394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9F445D9-738B-4525-A133-5461AD81C77F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0C854C-E436-471D-B6F0-FD948B9D98C8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技术路径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196C8C-E6E2-49A7-B115-CDB8C7339825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技术选择以可解释、可落地、可迭代为原则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28FE2890-A082-47FE-A0F2-01CC94ACFB70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794B2B-B9E6-45D2-BA0E-B8CC4318D557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来源：项目现状、对比试验与工程约束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F9310E-8DCD-4B31-A91B-C21A7E2085F9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6DB8ACDE-89D8-486A-8392-A22C42E7E932}"/>
              </a:ext>
            </a:extLst>
          </p:cNvPr>
          <p:cNvSpPr>
            <a:spLocks noGrp="1"/>
          </p:cNvSpPr>
          <p:nvPr/>
        </p:nvSpPr>
        <p:spPr>
          <a:xfrm>
            <a:off x="5781675" y="2041943"/>
            <a:ext cx="628650" cy="238125"/>
          </a:xfrm>
          <a:prstGeom prst="rightArrow">
            <a:avLst/>
          </a:prstGeom>
          <a:solidFill>
            <a:srgbClr val="28506D"/>
          </a:solidFill>
          <a:ln w="0">
            <a:solidFill>
              <a:srgbClr val="28506D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8DAEA6A0-AB1C-4037-BCD0-A944B937C87E}"/>
              </a:ext>
            </a:extLst>
          </p:cNvPr>
          <p:cNvSpPr>
            <a:spLocks noGrp="1"/>
          </p:cNvSpPr>
          <p:nvPr/>
        </p:nvSpPr>
        <p:spPr>
          <a:xfrm>
            <a:off x="5781675" y="2867879"/>
            <a:ext cx="628650" cy="238125"/>
          </a:xfrm>
          <a:prstGeom prst="rightArrow">
            <a:avLst/>
          </a:prstGeom>
          <a:solidFill>
            <a:srgbClr val="28506D"/>
          </a:solidFill>
          <a:ln w="0">
            <a:solidFill>
              <a:srgbClr val="28506D"/>
            </a:solidFill>
            <a:prstDash val="solid"/>
          </a:ln>
        </p:spPr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C2CC2DAA-1581-4D39-B06E-0033A3B1B87B}"/>
              </a:ext>
            </a:extLst>
          </p:cNvPr>
          <p:cNvSpPr>
            <a:spLocks noGrp="1"/>
          </p:cNvSpPr>
          <p:nvPr/>
        </p:nvSpPr>
        <p:spPr>
          <a:xfrm>
            <a:off x="5781675" y="3680243"/>
            <a:ext cx="628650" cy="238125"/>
          </a:xfrm>
          <a:prstGeom prst="rightArrow">
            <a:avLst/>
          </a:prstGeom>
          <a:solidFill>
            <a:srgbClr val="28506D"/>
          </a:solidFill>
          <a:ln w="0">
            <a:solidFill>
              <a:srgbClr val="28506D"/>
            </a:solidFill>
            <a:prstDash val="solid"/>
          </a:ln>
        </p:spPr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99B24DAD-06E3-4D9C-853B-4B6463DE0DAA}"/>
              </a:ext>
            </a:extLst>
          </p:cNvPr>
          <p:cNvSpPr>
            <a:spLocks noGrp="1"/>
          </p:cNvSpPr>
          <p:nvPr/>
        </p:nvSpPr>
        <p:spPr>
          <a:xfrm>
            <a:off x="5781675" y="4506170"/>
            <a:ext cx="628650" cy="238125"/>
          </a:xfrm>
          <a:prstGeom prst="rightArrow">
            <a:avLst/>
          </a:prstGeom>
          <a:solidFill>
            <a:srgbClr val="28506D"/>
          </a:solidFill>
          <a:ln w="0">
            <a:solidFill>
              <a:srgbClr val="28506D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9B9FE33-8127-47BF-B1B4-48676BFF821E}"/>
              </a:ext>
            </a:extLst>
          </p:cNvPr>
          <p:cNvSpPr>
            <a:spLocks noGrp="1"/>
          </p:cNvSpPr>
          <p:nvPr/>
        </p:nvSpPr>
        <p:spPr>
          <a:xfrm>
            <a:off x="876300" y="1428750"/>
            <a:ext cx="10439400" cy="647700"/>
          </a:xfrm>
          <a:prstGeom prst="roundRect">
            <a:avLst>
              <a:gd name="adj" fmla="val 17647"/>
            </a:avLst>
          </a:prstGeom>
          <a:solidFill>
            <a:srgbClr val="10263C"/>
          </a:solidFill>
          <a:ln w="9525">
            <a:solidFill>
              <a:srgbClr val="4C8DFF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BF81CF6-B6E2-46E0-BD6C-2F4AB650E2CA}"/>
              </a:ext>
            </a:extLst>
          </p:cNvPr>
          <p:cNvSpPr>
            <a:spLocks noGrp="1"/>
          </p:cNvSpPr>
          <p:nvPr/>
        </p:nvSpPr>
        <p:spPr>
          <a:xfrm>
            <a:off x="1066800" y="1609725"/>
            <a:ext cx="1428750" cy="285750"/>
          </a:xfrm>
          <a:prstGeom prst="roundRect">
            <a:avLst>
              <a:gd name="adj" fmla="val 40000"/>
            </a:avLst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4472BC-092E-47C2-9A1C-F4AEBCF9E6B9}"/>
              </a:ext>
            </a:extLst>
          </p:cNvPr>
          <p:cNvSpPr>
            <a:spLocks noGrp="1"/>
          </p:cNvSpPr>
          <p:nvPr/>
        </p:nvSpPr>
        <p:spPr>
          <a:xfrm>
            <a:off x="1066800" y="16192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业务锚点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7BC56C4-320A-456F-920A-B6630363560B}"/>
              </a:ext>
            </a:extLst>
          </p:cNvPr>
          <p:cNvSpPr>
            <a:spLocks noGrp="1"/>
          </p:cNvSpPr>
          <p:nvPr/>
        </p:nvSpPr>
        <p:spPr>
          <a:xfrm>
            <a:off x="2781300" y="1600200"/>
            <a:ext cx="828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二维码与物理 Mark 把连续材料转成有边界、有尺度的检测段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FFA1ADA-A3A5-41C6-8E25-65419D1C6519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10439400" cy="647700"/>
          </a:xfrm>
          <a:prstGeom prst="roundRect">
            <a:avLst>
              <a:gd name="adj" fmla="val 17647"/>
            </a:avLst>
          </a:prstGeom>
          <a:solidFill>
            <a:srgbClr val="10263C"/>
          </a:solidFill>
          <a:ln w="9525">
            <a:solidFill>
              <a:srgbClr val="27C2E6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CFE6A29-37B7-46F6-A1C4-E6E4E697DBD8}"/>
              </a:ext>
            </a:extLst>
          </p:cNvPr>
          <p:cNvSpPr>
            <a:spLocks noGrp="1"/>
          </p:cNvSpPr>
          <p:nvPr/>
        </p:nvSpPr>
        <p:spPr>
          <a:xfrm>
            <a:off x="1066800" y="2428875"/>
            <a:ext cx="1428750" cy="285750"/>
          </a:xfrm>
          <a:prstGeom prst="roundRect">
            <a:avLst>
              <a:gd name="adj" fmla="val 40000"/>
            </a:avLst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4F6B31A-3DF2-48CC-A33A-67AA818F2259}"/>
              </a:ext>
            </a:extLst>
          </p:cNvPr>
          <p:cNvSpPr>
            <a:spLocks noGrp="1"/>
          </p:cNvSpPr>
          <p:nvPr/>
        </p:nvSpPr>
        <p:spPr>
          <a:xfrm>
            <a:off x="1066800" y="24384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全局几何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D015E5E-8867-4CF8-BD63-89A8941CA7E8}"/>
              </a:ext>
            </a:extLst>
          </p:cNvPr>
          <p:cNvSpPr>
            <a:spLocks noGrp="1"/>
          </p:cNvSpPr>
          <p:nvPr/>
        </p:nvSpPr>
        <p:spPr>
          <a:xfrm>
            <a:off x="2781300" y="2419350"/>
            <a:ext cx="828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RANSAC Homography 解决位置、旋转、尺度与透视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7A6B0A31-92CC-4939-A54D-35F6916CF348}"/>
              </a:ext>
            </a:extLst>
          </p:cNvPr>
          <p:cNvSpPr>
            <a:spLocks noGrp="1"/>
          </p:cNvSpPr>
          <p:nvPr/>
        </p:nvSpPr>
        <p:spPr>
          <a:xfrm>
            <a:off x="876300" y="3067050"/>
            <a:ext cx="10439400" cy="647700"/>
          </a:xfrm>
          <a:prstGeom prst="roundRect">
            <a:avLst>
              <a:gd name="adj" fmla="val 17647"/>
            </a:avLst>
          </a:prstGeom>
          <a:solidFill>
            <a:srgbClr val="10263C"/>
          </a:solidFill>
          <a:ln w="9525">
            <a:solidFill>
              <a:srgbClr val="F4B942"/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79753CF-C464-4B8D-86F6-C8BB733B35E8}"/>
              </a:ext>
            </a:extLst>
          </p:cNvPr>
          <p:cNvSpPr>
            <a:spLocks noGrp="1"/>
          </p:cNvSpPr>
          <p:nvPr/>
        </p:nvSpPr>
        <p:spPr>
          <a:xfrm>
            <a:off x="1066800" y="3248025"/>
            <a:ext cx="1428750" cy="285750"/>
          </a:xfrm>
          <a:prstGeom prst="roundRect">
            <a:avLst>
              <a:gd name="adj" fmla="val 40000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87D7295-EBAE-4357-B478-7BA02DC87F4E}"/>
              </a:ext>
            </a:extLst>
          </p:cNvPr>
          <p:cNvSpPr>
            <a:spLocks noGrp="1"/>
          </p:cNvSpPr>
          <p:nvPr/>
        </p:nvSpPr>
        <p:spPr>
          <a:xfrm>
            <a:off x="1066800" y="32575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局部精配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38AE8B1-C462-466D-B4B0-B8D5B96704F2}"/>
              </a:ext>
            </a:extLst>
          </p:cNvPr>
          <p:cNvSpPr>
            <a:spLocks noGrp="1"/>
          </p:cNvSpPr>
          <p:nvPr/>
        </p:nvSpPr>
        <p:spPr>
          <a:xfrm>
            <a:off x="2781300" y="3238500"/>
            <a:ext cx="828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SIFT + RANSAC + 仿射吸收零件级残余偏差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B75EC63-0268-4D20-9F1E-B0FB33225415}"/>
              </a:ext>
            </a:extLst>
          </p:cNvPr>
          <p:cNvSpPr>
            <a:spLocks noGrp="1"/>
          </p:cNvSpPr>
          <p:nvPr/>
        </p:nvSpPr>
        <p:spPr>
          <a:xfrm>
            <a:off x="876300" y="3886200"/>
            <a:ext cx="10439400" cy="647700"/>
          </a:xfrm>
          <a:prstGeom prst="roundRect">
            <a:avLst>
              <a:gd name="adj" fmla="val 17647"/>
            </a:avLst>
          </a:prstGeom>
          <a:solidFill>
            <a:srgbClr val="16344F"/>
          </a:solidFill>
          <a:ln w="19050">
            <a:solidFill>
              <a:srgbClr val="3CD486"/>
            </a:solidFill>
            <a:prstDash val="solid"/>
          </a:ln>
        </p:spPr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BF3B95B-5014-4B3D-81CA-B0F38066CA6D}"/>
              </a:ext>
            </a:extLst>
          </p:cNvPr>
          <p:cNvSpPr>
            <a:spLocks noGrp="1"/>
          </p:cNvSpPr>
          <p:nvPr/>
        </p:nvSpPr>
        <p:spPr>
          <a:xfrm>
            <a:off x="1066800" y="4067175"/>
            <a:ext cx="1428750" cy="285750"/>
          </a:xfrm>
          <a:prstGeom prst="roundRect">
            <a:avLst>
              <a:gd name="adj" fmla="val 40000"/>
            </a:avLst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55B0BBB-76DF-4F9A-ABF7-90222A4798F4}"/>
              </a:ext>
            </a:extLst>
          </p:cNvPr>
          <p:cNvSpPr>
            <a:spLocks noGrp="1"/>
          </p:cNvSpPr>
          <p:nvPr/>
        </p:nvSpPr>
        <p:spPr>
          <a:xfrm>
            <a:off x="1066800" y="4076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缺陷判定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DC464F1-83A0-4257-AEE9-0883DE46E2BD}"/>
              </a:ext>
            </a:extLst>
          </p:cNvPr>
          <p:cNvSpPr>
            <a:spLocks noGrp="1"/>
          </p:cNvSpPr>
          <p:nvPr/>
        </p:nvSpPr>
        <p:spPr>
          <a:xfrm>
            <a:off x="2781300" y="4057650"/>
            <a:ext cx="828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普通差分控制少印/多印，独立连续性通道保护细线断裂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996FABC-D0FD-48AC-A42B-9F1C53083755}"/>
              </a:ext>
            </a:extLst>
          </p:cNvPr>
          <p:cNvSpPr>
            <a:spLocks noGrp="1"/>
          </p:cNvSpPr>
          <p:nvPr/>
        </p:nvSpPr>
        <p:spPr>
          <a:xfrm>
            <a:off x="876300" y="4705350"/>
            <a:ext cx="10439400" cy="647700"/>
          </a:xfrm>
          <a:prstGeom prst="roundRect">
            <a:avLst>
              <a:gd name="adj" fmla="val 17647"/>
            </a:avLst>
          </a:prstGeom>
          <a:solidFill>
            <a:srgbClr val="10263C"/>
          </a:solidFill>
          <a:ln w="9525">
            <a:solidFill>
              <a:srgbClr val="F06D6D"/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84A6828C-7908-41C5-8D2D-5F9FD5A6B1A8}"/>
              </a:ext>
            </a:extLst>
          </p:cNvPr>
          <p:cNvSpPr>
            <a:spLocks noGrp="1"/>
          </p:cNvSpPr>
          <p:nvPr/>
        </p:nvSpPr>
        <p:spPr>
          <a:xfrm>
            <a:off x="1066800" y="4886325"/>
            <a:ext cx="1428750" cy="285750"/>
          </a:xfrm>
          <a:prstGeom prst="roundRect">
            <a:avLst>
              <a:gd name="adj" fmla="val 40000"/>
            </a:avLst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0040958-768E-4642-80F7-5DA732157223}"/>
              </a:ext>
            </a:extLst>
          </p:cNvPr>
          <p:cNvSpPr>
            <a:spLocks noGrp="1"/>
          </p:cNvSpPr>
          <p:nvPr/>
        </p:nvSpPr>
        <p:spPr>
          <a:xfrm>
            <a:off x="1066800" y="48958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工程保障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39CD232-C96E-4F66-BBFC-D7ABA1D6465D}"/>
              </a:ext>
            </a:extLst>
          </p:cNvPr>
          <p:cNvSpPr>
            <a:spLocks noGrp="1"/>
          </p:cNvSpPr>
          <p:nvPr/>
        </p:nvSpPr>
        <p:spPr>
          <a:xfrm>
            <a:off x="2781300" y="4876800"/>
            <a:ext cx="828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2FA"/>
                </a:solidFill>
                <a:latin typeface="Microsoft YaHei"/>
                <a:ea typeface="Microsoft YaHei"/>
                <a:cs typeface="Microsoft YaHei"/>
              </a:rPr>
              <a:t>参数、日志、图像证据与性能基线支撑复现和迭代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B58CDF-85CA-47A6-9E44-F88ACB6F684B}"/>
              </a:ext>
            </a:extLst>
          </p:cNvPr>
          <p:cNvSpPr>
            <a:spLocks noGrp="1"/>
          </p:cNvSpPr>
          <p:nvPr/>
        </p:nvSpPr>
        <p:spPr>
          <a:xfrm>
            <a:off x="876300" y="5676900"/>
            <a:ext cx="10439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当前不以纯深度学习为主：标注数据不足，而 TIFF 设计图提供了高价值、可解释的先验。</a:t>
            </a:r>
          </a:p>
        </p:txBody>
      </p:sp>
    </p:spTree>
    <p:extLst>
      <p:ext uri="{BB962C8B-B14F-4D97-AF65-F5344CB8AC3E}">
        <p14:creationId xmlns:p14="http://schemas.microsoft.com/office/powerpoint/2010/main" val="1109635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3E6AE2FC-94D0-4AEC-A33D-DF27BB08FA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0776419-9BD0-47E1-BA03-917C3921DB20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858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4C2885-89F6-447F-886D-CFBD373B788F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72AB52-0240-46AC-BB34-75C7BB2E1DC8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二维码是分段锚点，鲁棒性优先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A8F47DDF-080F-4F28-8518-47D68178EA70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52B897-313A-4E22-A66F-7C37626F3EA9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真实帧与当前二维码模块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75FA82-3A3D-4FD5-95EA-565771A3A940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44CD207-C238-41C9-B51F-5CFAEED895A2}"/>
              </a:ext>
            </a:extLst>
          </p:cNvPr>
          <p:cNvSpPr>
            <a:spLocks noGrp="1"/>
          </p:cNvSpPr>
          <p:nvPr/>
        </p:nvSpPr>
        <p:spPr>
          <a:xfrm>
            <a:off x="3009900" y="1847850"/>
            <a:ext cx="266700" cy="200025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0C885C64-9942-4D90-AED2-A408A7ECBD4F}"/>
              </a:ext>
            </a:extLst>
          </p:cNvPr>
          <p:cNvSpPr>
            <a:spLocks noGrp="1"/>
          </p:cNvSpPr>
          <p:nvPr/>
        </p:nvSpPr>
        <p:spPr>
          <a:xfrm>
            <a:off x="3009900" y="2647950"/>
            <a:ext cx="266700" cy="200025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54CD385D-95D4-499A-A789-AF038DA12C27}"/>
              </a:ext>
            </a:extLst>
          </p:cNvPr>
          <p:cNvSpPr>
            <a:spLocks noGrp="1"/>
          </p:cNvSpPr>
          <p:nvPr/>
        </p:nvSpPr>
        <p:spPr>
          <a:xfrm>
            <a:off x="3009900" y="3448050"/>
            <a:ext cx="266700" cy="200025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21DFAF7C-7F86-445C-A9A8-C6F3FCCF854F}"/>
              </a:ext>
            </a:extLst>
          </p:cNvPr>
          <p:cNvSpPr>
            <a:spLocks noGrp="1"/>
          </p:cNvSpPr>
          <p:nvPr/>
        </p:nvSpPr>
        <p:spPr>
          <a:xfrm>
            <a:off x="3009900" y="4248150"/>
            <a:ext cx="266700" cy="200025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C2EBCF2-AF82-44DD-99A6-C7153DBF44C5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2724150" cy="742950"/>
          </a:xfrm>
          <a:prstGeom prst="roundRect">
            <a:avLst>
              <a:gd name="adj" fmla="val 1538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A28D68-130A-43BC-912C-F6286E1FD780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66675" cy="7429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3F06031-E46A-42CF-AC97-EFC56B363CE1}"/>
              </a:ext>
            </a:extLst>
          </p:cNvPr>
          <p:cNvSpPr>
            <a:spLocks noGrp="1"/>
          </p:cNvSpPr>
          <p:nvPr/>
        </p:nvSpPr>
        <p:spPr>
          <a:xfrm>
            <a:off x="742950" y="152400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1. 固定检测区域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C341F25-D0C8-409D-90B3-14A488FADC1C}"/>
              </a:ext>
            </a:extLst>
          </p:cNvPr>
          <p:cNvSpPr>
            <a:spLocks noGrp="1"/>
          </p:cNvSpPr>
          <p:nvPr/>
        </p:nvSpPr>
        <p:spPr>
          <a:xfrm>
            <a:off x="742950" y="1838325"/>
            <a:ext cx="2362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减少背景干扰与无效计算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627FED5-E270-4187-B84C-08AE4AB40053}"/>
              </a:ext>
            </a:extLst>
          </p:cNvPr>
          <p:cNvSpPr>
            <a:spLocks noGrp="1"/>
          </p:cNvSpPr>
          <p:nvPr/>
        </p:nvSpPr>
        <p:spPr>
          <a:xfrm>
            <a:off x="552450" y="2286000"/>
            <a:ext cx="2724150" cy="742950"/>
          </a:xfrm>
          <a:prstGeom prst="roundRect">
            <a:avLst>
              <a:gd name="adj" fmla="val 1538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D7833E6-3242-447E-A94D-C4919F2FDC33}"/>
              </a:ext>
            </a:extLst>
          </p:cNvPr>
          <p:cNvSpPr>
            <a:spLocks noGrp="1"/>
          </p:cNvSpPr>
          <p:nvPr/>
        </p:nvSpPr>
        <p:spPr>
          <a:xfrm>
            <a:off x="552450" y="2286000"/>
            <a:ext cx="66675" cy="7429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71C143F-2DE2-4CA9-BF24-BCC7823E686C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2. 灰度与极性适配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6F401EA-3492-46D2-86A0-63B4DA7485AA}"/>
              </a:ext>
            </a:extLst>
          </p:cNvPr>
          <p:cNvSpPr>
            <a:spLocks noGrp="1"/>
          </p:cNvSpPr>
          <p:nvPr/>
        </p:nvSpPr>
        <p:spPr>
          <a:xfrm>
            <a:off x="742950" y="2695575"/>
            <a:ext cx="2362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兼容亮码、暗码和灰底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1A7FCFA-C358-47A8-BFC4-6690017488C8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2724150" cy="742950"/>
          </a:xfrm>
          <a:prstGeom prst="roundRect">
            <a:avLst>
              <a:gd name="adj" fmla="val 1538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5D412F-E6AA-4EC1-8B88-FCCD270DF35D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66675" cy="7429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518E73-C83C-4BC1-84D6-A75CFFB6B9D8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3. 压缩拉伸候选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9F96E26-38EC-4027-8377-CA1259DAABF6}"/>
              </a:ext>
            </a:extLst>
          </p:cNvPr>
          <p:cNvSpPr>
            <a:spLocks noGrp="1"/>
          </p:cNvSpPr>
          <p:nvPr/>
        </p:nvSpPr>
        <p:spPr>
          <a:xfrm>
            <a:off x="742950" y="3552825"/>
            <a:ext cx="2362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覆盖线扫方向几何形变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EF2BF50-6135-4869-98E0-49C0734E7E75}"/>
              </a:ext>
            </a:extLst>
          </p:cNvPr>
          <p:cNvSpPr>
            <a:spLocks noGrp="1"/>
          </p:cNvSpPr>
          <p:nvPr/>
        </p:nvSpPr>
        <p:spPr>
          <a:xfrm>
            <a:off x="552450" y="4000500"/>
            <a:ext cx="2724150" cy="742950"/>
          </a:xfrm>
          <a:prstGeom prst="roundRect">
            <a:avLst>
              <a:gd name="adj" fmla="val 1538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9E02E90-E7BE-489A-A8D8-3DAF587E1D75}"/>
              </a:ext>
            </a:extLst>
          </p:cNvPr>
          <p:cNvSpPr>
            <a:spLocks noGrp="1"/>
          </p:cNvSpPr>
          <p:nvPr/>
        </p:nvSpPr>
        <p:spPr>
          <a:xfrm>
            <a:off x="552450" y="4000500"/>
            <a:ext cx="66675" cy="7429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4A38680-0229-491A-9AF6-4A47BC665997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4. WeChatQRCode 解码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D9E885-91E2-4807-AD67-642E4E9F598B}"/>
              </a:ext>
            </a:extLst>
          </p:cNvPr>
          <p:cNvSpPr>
            <a:spLocks noGrp="1"/>
          </p:cNvSpPr>
          <p:nvPr/>
        </p:nvSpPr>
        <p:spPr>
          <a:xfrm>
            <a:off x="742950" y="4410075"/>
            <a:ext cx="2362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直接作为主识别器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9AAF7A1-4A15-4B72-B6F5-1F365E6CA522}"/>
              </a:ext>
            </a:extLst>
          </p:cNvPr>
          <p:cNvSpPr>
            <a:spLocks noGrp="1"/>
          </p:cNvSpPr>
          <p:nvPr/>
        </p:nvSpPr>
        <p:spPr>
          <a:xfrm>
            <a:off x="552450" y="4857750"/>
            <a:ext cx="2724150" cy="742950"/>
          </a:xfrm>
          <a:prstGeom prst="roundRect">
            <a:avLst>
              <a:gd name="adj" fmla="val 1538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180FF8B-AFD6-4B70-BC7C-5EAA9A0BD44A}"/>
              </a:ext>
            </a:extLst>
          </p:cNvPr>
          <p:cNvSpPr>
            <a:spLocks noGrp="1"/>
          </p:cNvSpPr>
          <p:nvPr/>
        </p:nvSpPr>
        <p:spPr>
          <a:xfrm>
            <a:off x="552450" y="4857750"/>
            <a:ext cx="66675" cy="7429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33574AD-DCA7-4BDA-8BE8-59ADC42F7E37}"/>
              </a:ext>
            </a:extLst>
          </p:cNvPr>
          <p:cNvSpPr>
            <a:spLocks noGrp="1"/>
          </p:cNvSpPr>
          <p:nvPr/>
        </p:nvSpPr>
        <p:spPr>
          <a:xfrm>
            <a:off x="742950" y="495300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593"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5. 映射回全图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7EEA39D-23F2-4015-AB13-1D5C3D461CCC}"/>
              </a:ext>
            </a:extLst>
          </p:cNvPr>
          <p:cNvSpPr>
            <a:spLocks noGrp="1"/>
          </p:cNvSpPr>
          <p:nvPr/>
        </p:nvSpPr>
        <p:spPr>
          <a:xfrm>
            <a:off x="742950" y="5267325"/>
            <a:ext cx="2362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9206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输出中心、宽高与全局位置</a:t>
            </a:r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3638550" y="1428750"/>
            <a:ext cx="4762500" cy="2952750"/>
          </a:xfrm>
          <a:prstGeom prst="round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1017B987-4B11-4FFE-8B92-672BFF7415F9}"/>
              </a:ext>
            </a:extLst>
          </p:cNvPr>
          <p:cNvSpPr>
            <a:spLocks noGrp="1"/>
          </p:cNvSpPr>
          <p:nvPr/>
        </p:nvSpPr>
        <p:spPr>
          <a:xfrm>
            <a:off x="3638550" y="4048125"/>
            <a:ext cx="4762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8F6DAF1-72B3-4639-9024-944C765645C5}"/>
              </a:ext>
            </a:extLst>
          </p:cNvPr>
          <p:cNvSpPr>
            <a:spLocks noGrp="1"/>
          </p:cNvSpPr>
          <p:nvPr/>
        </p:nvSpPr>
        <p:spPr>
          <a:xfrm>
            <a:off x="3714750" y="4086225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真实帧：二维码同时承担段边界和尺度锚点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7B3C4A3A-78CE-4A21-8686-0709DEE74ECD}"/>
              </a:ext>
            </a:extLst>
          </p:cNvPr>
          <p:cNvSpPr>
            <a:spLocks noGrp="1"/>
          </p:cNvSpPr>
          <p:nvPr/>
        </p:nvSpPr>
        <p:spPr>
          <a:xfrm>
            <a:off x="8705850" y="1428750"/>
            <a:ext cx="2686050" cy="933450"/>
          </a:xfrm>
          <a:prstGeom prst="roundRect">
            <a:avLst>
              <a:gd name="adj" fmla="val 1224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7B5D502-3A21-4086-BC86-E90A7EAEBACA}"/>
              </a:ext>
            </a:extLst>
          </p:cNvPr>
          <p:cNvSpPr>
            <a:spLocks noGrp="1"/>
          </p:cNvSpPr>
          <p:nvPr/>
        </p:nvSpPr>
        <p:spPr>
          <a:xfrm>
            <a:off x="8820150" y="15430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3738" lnSpcReduction="10000"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 个二维码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8076AC9-C18C-4B91-B79E-E49C50FBCFAB}"/>
              </a:ext>
            </a:extLst>
          </p:cNvPr>
          <p:cNvSpPr>
            <a:spLocks noGrp="1"/>
          </p:cNvSpPr>
          <p:nvPr/>
        </p:nvSpPr>
        <p:spPr>
          <a:xfrm>
            <a:off x="8820150" y="1981200"/>
            <a:ext cx="245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定义完整材料段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FC320EC9-9AA1-4A70-A978-9238E7BD424D}"/>
              </a:ext>
            </a:extLst>
          </p:cNvPr>
          <p:cNvSpPr>
            <a:spLocks noGrp="1"/>
          </p:cNvSpPr>
          <p:nvPr/>
        </p:nvSpPr>
        <p:spPr>
          <a:xfrm>
            <a:off x="8705850" y="2533650"/>
            <a:ext cx="2686050" cy="933450"/>
          </a:xfrm>
          <a:prstGeom prst="roundRect">
            <a:avLst>
              <a:gd name="adj" fmla="val 1224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13EF0D7-B488-40DA-8054-DA745EB194B2}"/>
              </a:ext>
            </a:extLst>
          </p:cNvPr>
          <p:cNvSpPr>
            <a:spLocks noGrp="1"/>
          </p:cNvSpPr>
          <p:nvPr/>
        </p:nvSpPr>
        <p:spPr>
          <a:xfrm>
            <a:off x="8820150" y="26479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3738" lnSpcReduction="10000"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多组候选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60CB66D-72AF-4FE7-96B6-82EA14E04709}"/>
              </a:ext>
            </a:extLst>
          </p:cNvPr>
          <p:cNvSpPr>
            <a:spLocks noGrp="1"/>
          </p:cNvSpPr>
          <p:nvPr/>
        </p:nvSpPr>
        <p:spPr>
          <a:xfrm>
            <a:off x="8820150" y="3086100"/>
            <a:ext cx="245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覆盖压缩与拉伸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BE6C7521-A91F-40F6-976C-C15940753B6C}"/>
              </a:ext>
            </a:extLst>
          </p:cNvPr>
          <p:cNvSpPr>
            <a:spLocks noGrp="1"/>
          </p:cNvSpPr>
          <p:nvPr/>
        </p:nvSpPr>
        <p:spPr>
          <a:xfrm>
            <a:off x="8705850" y="3638550"/>
            <a:ext cx="2686050" cy="933450"/>
          </a:xfrm>
          <a:prstGeom prst="roundRect">
            <a:avLst>
              <a:gd name="adj" fmla="val 1224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EAC801F-A136-441E-8FAB-43688EC76D87}"/>
              </a:ext>
            </a:extLst>
          </p:cNvPr>
          <p:cNvSpPr>
            <a:spLocks noGrp="1"/>
          </p:cNvSpPr>
          <p:nvPr/>
        </p:nvSpPr>
        <p:spPr>
          <a:xfrm>
            <a:off x="8820150" y="375285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3738" lnSpcReduction="10000"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主识别器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5BD2C2C-3355-4CB3-A164-9A9B652D9A6E}"/>
              </a:ext>
            </a:extLst>
          </p:cNvPr>
          <p:cNvSpPr>
            <a:spLocks noGrp="1"/>
          </p:cNvSpPr>
          <p:nvPr/>
        </p:nvSpPr>
        <p:spPr>
          <a:xfrm>
            <a:off x="8820150" y="4191000"/>
            <a:ext cx="245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不作为失败后备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22BB98DE-5153-4282-A0F2-439B7A0AEDC7}"/>
              </a:ext>
            </a:extLst>
          </p:cNvPr>
          <p:cNvSpPr>
            <a:spLocks noGrp="1"/>
          </p:cNvSpPr>
          <p:nvPr/>
        </p:nvSpPr>
        <p:spPr>
          <a:xfrm>
            <a:off x="3638550" y="4667250"/>
            <a:ext cx="7753350" cy="1219200"/>
          </a:xfrm>
          <a:prstGeom prst="roundRect">
            <a:avLst>
              <a:gd name="adj" fmla="val 937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528BF0A-E0C9-4B86-95B5-B521CB9CE25C}"/>
              </a:ext>
            </a:extLst>
          </p:cNvPr>
          <p:cNvSpPr>
            <a:spLocks noGrp="1"/>
          </p:cNvSpPr>
          <p:nvPr/>
        </p:nvSpPr>
        <p:spPr>
          <a:xfrm>
            <a:off x="3638550" y="4667250"/>
            <a:ext cx="66675" cy="1219200"/>
          </a:xfrm>
          <a:prstGeom prst="rect">
            <a:avLst/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047CA60-D4B1-487F-9118-6D363799400A}"/>
              </a:ext>
            </a:extLst>
          </p:cNvPr>
          <p:cNvSpPr>
            <a:spLocks noGrp="1"/>
          </p:cNvSpPr>
          <p:nvPr/>
        </p:nvSpPr>
        <p:spPr>
          <a:xfrm>
            <a:off x="3829050" y="481965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技术选择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57CFBB9-528A-4F88-A3A0-7F5F704F150F}"/>
              </a:ext>
            </a:extLst>
          </p:cNvPr>
          <p:cNvSpPr>
            <a:spLocks noGrp="1"/>
          </p:cNvSpPr>
          <p:nvPr/>
        </p:nvSpPr>
        <p:spPr>
          <a:xfrm>
            <a:off x="3829050" y="5191125"/>
            <a:ext cx="7429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不采用“其他识别器失败后再调用”的重复路径：无二维码帧直接返回，流程更简单，结果口径更统一。</a:t>
            </a:r>
          </a:p>
        </p:txBody>
      </p:sp>
    </p:spTree>
    <p:extLst>
      <p:ext uri="{BB962C8B-B14F-4D97-AF65-F5344CB8AC3E}">
        <p14:creationId xmlns:p14="http://schemas.microsoft.com/office/powerpoint/2010/main" val="1486998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专项补充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完善后的二维码整体识别处理逻辑（九步）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来源：QrCodeDetector、ImageStitcher 与真实样本回归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输入与覆盖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095920D-02EA-4A01-AE83-8232F2E87CA6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B9401B-4D1F-4086-A317-D2EDA6AAD531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66675" cy="1066800"/>
          </a:xfrm>
          <a:prstGeom prst="rect">
            <a:avLst/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56AFF8-3FF3-4E60-8AFF-6CE525B6AC74}"/>
              </a:ext>
            </a:extLst>
          </p:cNvPr>
          <p:cNvSpPr>
            <a:spLocks noGrp="1"/>
          </p:cNvSpPr>
          <p:nvPr/>
        </p:nvSpPr>
        <p:spPr>
          <a:xfrm>
            <a:off x="742950" y="20193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01 当前帧优先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07B87B-485C-4828-962C-25E0F43B2E0E}"/>
              </a:ext>
            </a:extLst>
          </p:cNvPr>
          <p:cNvSpPr>
            <a:spLocks noGrp="1"/>
          </p:cNvSpPr>
          <p:nvPr/>
        </p:nvSpPr>
        <p:spPr>
          <a:xfrm>
            <a:off x="742950" y="23907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先查完整单帧；命中后直接输出结果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96DD7BD-BF7D-42E9-969B-75514B8D9B44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46D39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F8114B-FF70-411F-852B-FDE03EC8F9DD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66675" cy="10668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419EDE-FB9F-402B-A368-55380EA0555B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 跨帧补齐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5E6CA3-1A05-422D-8D11-AC10F1C8D37C}"/>
              </a:ext>
            </a:extLst>
          </p:cNvPr>
          <p:cNvSpPr>
            <a:spLocks noGrp="1"/>
          </p:cNvSpPr>
          <p:nvPr/>
        </p:nvSpPr>
        <p:spPr>
          <a:xfrm>
            <a:off x="742950" y="362902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544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未命中时，拼接上一帧尾和当前帧头再识别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F7BD3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66675" cy="1066800"/>
          </a:xfrm>
          <a:prstGeom prst="rect">
            <a:avLst/>
          </a:prstGeom>
          <a:solidFill>
            <a:srgbClr val="F7BD3E"/>
          </a:solidFill>
          <a:ln w="0">
            <a:solidFill>
              <a:srgbClr val="F7BD3E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03 横向保护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noGrp="1"/>
          </p:cNvSpPr>
          <p:nvPr/>
        </p:nvSpPr>
        <p:spPr>
          <a:xfrm>
            <a:off x="74295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4632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扩展固定 ROI 两侧，避免贴边二维码被裁掉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noGrp="1"/>
          </p:cNvSpPr>
          <p:nvPr/>
        </p:nvSpPr>
        <p:spPr>
          <a:xfrm>
            <a:off x="434340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noGrp="1"/>
          </p:cNvSpPr>
          <p:nvPr/>
        </p:nvSpPr>
        <p:spPr>
          <a:xfrm>
            <a:off x="434340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常规识别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138172A-3FEE-48CD-8981-2FAAD47E9F74}"/>
              </a:ext>
            </a:extLst>
          </p:cNvPr>
          <p:cNvSpPr>
            <a:spLocks noGrp="1"/>
          </p:cNvSpPr>
          <p:nvPr/>
        </p:nvSpPr>
        <p:spPr>
          <a:xfrm>
            <a:off x="4343400" y="18669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35C9E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0C4DB07-FB38-4367-B6D1-35BB5D24AAAC}"/>
              </a:ext>
            </a:extLst>
          </p:cNvPr>
          <p:cNvSpPr>
            <a:spLocks noGrp="1"/>
          </p:cNvSpPr>
          <p:nvPr/>
        </p:nvSpPr>
        <p:spPr>
          <a:xfrm>
            <a:off x="4343400" y="1866900"/>
            <a:ext cx="66675" cy="1066800"/>
          </a:xfrm>
          <a:prstGeom prst="rect">
            <a:avLst/>
          </a:prstGeom>
          <a:solidFill>
            <a:srgbClr val="35C9E8"/>
          </a:solidFill>
          <a:ln w="0">
            <a:solidFill>
              <a:srgbClr val="35C9E8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61808AB-0FE4-4BAC-ADA3-CA24F2AEEB1F}"/>
              </a:ext>
            </a:extLst>
          </p:cNvPr>
          <p:cNvSpPr>
            <a:spLocks noGrp="1"/>
          </p:cNvSpPr>
          <p:nvPr/>
        </p:nvSpPr>
        <p:spPr>
          <a:xfrm>
            <a:off x="4533900" y="20193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04 灰度与明暗适配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A27E488-77D7-454F-829F-6F6C363E67C1}"/>
              </a:ext>
            </a:extLst>
          </p:cNvPr>
          <p:cNvSpPr>
            <a:spLocks noGrp="1"/>
          </p:cNvSpPr>
          <p:nvPr/>
        </p:nvSpPr>
        <p:spPr>
          <a:xfrm>
            <a:off x="4533900" y="23907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662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统一转灰度，适配白码、暗底和常见明暗变化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FDEDA5E-6777-481C-8179-CF8FF199733C}"/>
              </a:ext>
            </a:extLst>
          </p:cNvPr>
          <p:cNvSpPr>
            <a:spLocks noGrp="1"/>
          </p:cNvSpPr>
          <p:nvPr/>
        </p:nvSpPr>
        <p:spPr>
          <a:xfrm>
            <a:off x="4343400" y="310515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CF376CC-B3D1-4AE6-95AC-70FC7BA8EA5A}"/>
              </a:ext>
            </a:extLst>
          </p:cNvPr>
          <p:cNvSpPr>
            <a:spLocks noGrp="1"/>
          </p:cNvSpPr>
          <p:nvPr/>
        </p:nvSpPr>
        <p:spPr>
          <a:xfrm>
            <a:off x="4343400" y="3105150"/>
            <a:ext cx="66675" cy="10668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08F4814-A10D-4BDB-88D1-6CF07142CCDB}"/>
              </a:ext>
            </a:extLst>
          </p:cNvPr>
          <p:cNvSpPr>
            <a:spLocks noGrp="1"/>
          </p:cNvSpPr>
          <p:nvPr/>
        </p:nvSpPr>
        <p:spPr>
          <a:xfrm>
            <a:off x="4533900" y="32575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05 常规快速解码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DF51A10-08DB-40AB-9930-5F2B5DBF0440}"/>
              </a:ext>
            </a:extLst>
          </p:cNvPr>
          <p:cNvSpPr>
            <a:spLocks noGrp="1"/>
          </p:cNvSpPr>
          <p:nvPr/>
        </p:nvSpPr>
        <p:spPr>
          <a:xfrm>
            <a:off x="4533900" y="362902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尝试常用纵向尺度，普通样本快速返回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46D39A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66675" cy="10668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06 二维码特征确认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noGrp="1"/>
          </p:cNvSpPr>
          <p:nvPr/>
        </p:nvSpPr>
        <p:spPr>
          <a:xfrm>
            <a:off x="453390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544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查找定位框结构；没有可靠特征就停止增强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noGrp="1"/>
          </p:cNvSpPr>
          <p:nvPr/>
        </p:nvSpPr>
        <p:spPr>
          <a:xfrm>
            <a:off x="81343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noGrp="1"/>
          </p:cNvSpPr>
          <p:nvPr/>
        </p:nvSpPr>
        <p:spPr>
          <a:xfrm>
            <a:off x="81343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困难恢复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3CD9005-F807-4DBB-A642-0BAB2DAA45C8}"/>
              </a:ext>
            </a:extLst>
          </p:cNvPr>
          <p:cNvSpPr>
            <a:spLocks noGrp="1"/>
          </p:cNvSpPr>
          <p:nvPr/>
        </p:nvSpPr>
        <p:spPr>
          <a:xfrm>
            <a:off x="8134350" y="18669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383A1A5-97C2-45BF-999E-778A388813C2}"/>
              </a:ext>
            </a:extLst>
          </p:cNvPr>
          <p:cNvSpPr>
            <a:spLocks noGrp="1"/>
          </p:cNvSpPr>
          <p:nvPr/>
        </p:nvSpPr>
        <p:spPr>
          <a:xfrm>
            <a:off x="8134350" y="186690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5A9FAD3-2A6A-40E9-BA3F-2C2922ABB165}"/>
              </a:ext>
            </a:extLst>
          </p:cNvPr>
          <p:cNvSpPr>
            <a:spLocks noGrp="1"/>
          </p:cNvSpPr>
          <p:nvPr/>
        </p:nvSpPr>
        <p:spPr>
          <a:xfrm>
            <a:off x="8324850" y="20193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07 局部码区提取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50CBAF6-65EB-4649-B002-AB8C3C33C600}"/>
              </a:ext>
            </a:extLst>
          </p:cNvPr>
          <p:cNvSpPr>
            <a:spLocks noGrp="1"/>
          </p:cNvSpPr>
          <p:nvPr/>
        </p:nvSpPr>
        <p:spPr>
          <a:xfrm>
            <a:off x="8324850" y="239077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662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只裁取有效码区，提高二维码在输入图中的占比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6D93A172-6268-4702-B89E-363769D8FFF1}"/>
              </a:ext>
            </a:extLst>
          </p:cNvPr>
          <p:cNvSpPr>
            <a:spLocks noGrp="1"/>
          </p:cNvSpPr>
          <p:nvPr/>
        </p:nvSpPr>
        <p:spPr>
          <a:xfrm>
            <a:off x="8134350" y="310515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F6EE8C8-672F-4302-8A93-E76E250A168A}"/>
              </a:ext>
            </a:extLst>
          </p:cNvPr>
          <p:cNvSpPr>
            <a:spLocks noGrp="1"/>
          </p:cNvSpPr>
          <p:nvPr/>
        </p:nvSpPr>
        <p:spPr>
          <a:xfrm>
            <a:off x="8134350" y="310515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FEFC8CD-1A69-4AEA-B1A6-E634B79E3872}"/>
              </a:ext>
            </a:extLst>
          </p:cNvPr>
          <p:cNvSpPr>
            <a:spLocks noGrp="1"/>
          </p:cNvSpPr>
          <p:nvPr/>
        </p:nvSpPr>
        <p:spPr>
          <a:xfrm>
            <a:off x="8324850" y="325755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08 三定位框透视恢复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08FE6B6-97FD-4D6A-984E-6E2F1F53E260}"/>
              </a:ext>
            </a:extLst>
          </p:cNvPr>
          <p:cNvSpPr>
            <a:spLocks noGrp="1"/>
          </p:cNvSpPr>
          <p:nvPr/>
        </p:nvSpPr>
        <p:spPr>
          <a:xfrm>
            <a:off x="8324850" y="362902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544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定位框可靠时重建码面，透视拉正并补足静区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noGrp="1"/>
          </p:cNvSpPr>
          <p:nvPr/>
        </p:nvSpPr>
        <p:spPr>
          <a:xfrm>
            <a:off x="8324850" y="44958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09 光照复核与坐标还原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noGrp="1"/>
          </p:cNvSpPr>
          <p:nvPr/>
        </p:nvSpPr>
        <p:spPr>
          <a:xfrm>
            <a:off x="8324850" y="486727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662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拉正图仍失败时局部展平；成功后还原全图坐标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noGrp="1"/>
          </p:cNvSpPr>
          <p:nvPr/>
        </p:nvSpPr>
        <p:spPr>
          <a:xfrm>
            <a:off x="1047750" y="56959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按 01→09 顺序执行；任一步成功即返回，透视与光照恢复只在定位框证据可靠时启动。</a:t>
            </a:r>
          </a:p>
        </p:txBody>
      </p:sp>
    </p:spTree>
    <p:extLst>
      <p:ext uri="{BB962C8B-B14F-4D97-AF65-F5344CB8AC3E}">
        <p14:creationId xmlns:p14="http://schemas.microsoft.com/office/powerpoint/2010/main" val="1233650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真实样本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三类真实难样本已进入识别链路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来源：用户提供的离线图库真实样本与当前版本回归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跨帧 + 形变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F7BD3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66675" cy="1066800"/>
          </a:xfrm>
          <a:prstGeom prst="rect">
            <a:avLst/>
          </a:prstGeom>
          <a:solidFill>
            <a:srgbClr val="F7BD3E"/>
          </a:solidFill>
          <a:ln w="0">
            <a:solidFill>
              <a:srgbClr val="F7BD3E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跨帧组合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noGrp="1"/>
          </p:cNvSpPr>
          <p:nvPr/>
        </p:nvSpPr>
        <p:spPr>
          <a:xfrm>
            <a:off x="74295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识别成功｜补齐上下两帧后再解码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noGrp="1"/>
          </p:cNvSpPr>
          <p:nvPr/>
        </p:nvSpPr>
        <p:spPr>
          <a:xfrm>
            <a:off x="434340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noGrp="1"/>
          </p:cNvSpPr>
          <p:nvPr/>
        </p:nvSpPr>
        <p:spPr>
          <a:xfrm>
            <a:off x="434340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贴边 + 模糊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46D39A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66675" cy="10668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边缘恢复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noGrp="1"/>
          </p:cNvSpPr>
          <p:nvPr/>
        </p:nvSpPr>
        <p:spPr>
          <a:xfrm>
            <a:off x="453390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识别成功｜保护带、补静区、动态尺寸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noGrp="1"/>
          </p:cNvSpPr>
          <p:nvPr/>
        </p:nvSpPr>
        <p:spPr>
          <a:xfrm>
            <a:off x="81343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noGrp="1"/>
          </p:cNvSpPr>
          <p:nvPr/>
        </p:nvSpPr>
        <p:spPr>
          <a:xfrm>
            <a:off x="81343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低对比黑码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noGrp="1"/>
          </p:cNvSpPr>
          <p:nvPr/>
        </p:nvSpPr>
        <p:spPr>
          <a:xfrm>
            <a:off x="8324850" y="44958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黑码适配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noGrp="1"/>
          </p:cNvSpPr>
          <p:nvPr/>
        </p:nvSpPr>
        <p:spPr>
          <a:xfrm>
            <a:off x="8324850" y="486727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识别成功｜反极性定位、原灰度解码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noGrp="1"/>
          </p:cNvSpPr>
          <p:nvPr/>
        </p:nvSpPr>
        <p:spPr>
          <a:xfrm>
            <a:off x="1047750" y="56959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当前结论：三类真实困难样本已覆盖；后续持续扩充回归图库，用数据衡量整体识别率与处理节拍。</a:t>
            </a:r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57391" y="1866900"/>
            <a:ext cx="2361969" cy="2381250"/>
          </a:xfrm>
          <a:prstGeom prst="roundRect">
            <a:avLst>
              <a:gd name="adj" fmla="val 4800"/>
            </a:avLst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097748" y="1866900"/>
            <a:ext cx="1863154" cy="2381250"/>
          </a:xfrm>
          <a:prstGeom prst="roundRect">
            <a:avLst>
              <a:gd name="adj" fmla="val 4800"/>
            </a:avLst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66344" y="1866900"/>
            <a:ext cx="2641212" cy="2381250"/>
          </a:xfrm>
          <a:prstGeom prst="roundRect">
            <a:avLst>
              <a:gd name="adj" fmla="val 4800"/>
            </a:avLst>
          </a:prstGeom>
        </p:spPr>
      </p:pic>
    </p:spTree>
    <p:extLst>
      <p:ext uri="{BB962C8B-B14F-4D97-AF65-F5344CB8AC3E}">
        <p14:creationId xmlns:p14="http://schemas.microsoft.com/office/powerpoint/2010/main" val="1233650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858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真实案例 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弱曝光二维码：几何恢复后成功识别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来源：实际难样本 · QrCodeDetector 实测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09A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noGrp="1"/>
          </p:cNvSpPr>
          <p:nvPr/>
        </p:nvSpPr>
        <p:spPr>
          <a:xfrm>
            <a:off x="552450" y="3171825"/>
            <a:ext cx="2857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noGrp="1"/>
          </p:cNvSpPr>
          <p:nvPr/>
        </p:nvSpPr>
        <p:spPr>
          <a:xfrm>
            <a:off x="628650" y="3209925"/>
            <a:ext cx="2705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原始局部：过曝、模糊与背景条纹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noGrp="1"/>
          </p:cNvSpPr>
          <p:nvPr/>
        </p:nvSpPr>
        <p:spPr>
          <a:xfrm>
            <a:off x="552450" y="5400675"/>
            <a:ext cx="2857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noGrp="1"/>
          </p:cNvSpPr>
          <p:nvPr/>
        </p:nvSpPr>
        <p:spPr>
          <a:xfrm>
            <a:off x="628650" y="5438775"/>
            <a:ext cx="2705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透视拉正：恢复标准 21×21 码面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noGrp="1"/>
          </p:cNvSpPr>
          <p:nvPr/>
        </p:nvSpPr>
        <p:spPr>
          <a:xfrm>
            <a:off x="48768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noGrp="1"/>
          </p:cNvSpPr>
          <p:nvPr/>
        </p:nvSpPr>
        <p:spPr>
          <a:xfrm>
            <a:off x="66675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noGrp="1"/>
          </p:cNvSpPr>
          <p:nvPr/>
        </p:nvSpPr>
        <p:spPr>
          <a:xfrm>
            <a:off x="84582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1162050" cy="1200150"/>
          </a:xfrm>
          <a:prstGeom prst="roundRect">
            <a:avLst>
              <a:gd name="adj" fmla="val 9836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66675" cy="120015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noGrp="1"/>
          </p:cNvSpPr>
          <p:nvPr/>
        </p:nvSpPr>
        <p:spPr>
          <a:xfrm>
            <a:off x="3905250" y="2152650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常规失败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noGrp="1"/>
          </p:cNvSpPr>
          <p:nvPr/>
        </p:nvSpPr>
        <p:spPr>
          <a:xfrm>
            <a:off x="3905250" y="2524125"/>
            <a:ext cx="838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过曝模糊</a:t>
            </a:r>
          </a:p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直接失败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noGrp="1"/>
          </p:cNvSpPr>
          <p:nvPr/>
        </p:nvSpPr>
        <p:spPr>
          <a:xfrm>
            <a:off x="5181600" y="2000250"/>
            <a:ext cx="14859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noGrp="1"/>
          </p:cNvSpPr>
          <p:nvPr/>
        </p:nvSpPr>
        <p:spPr>
          <a:xfrm>
            <a:off x="5181600" y="2000250"/>
            <a:ext cx="66675" cy="12001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noGrp="1"/>
          </p:cNvSpPr>
          <p:nvPr/>
        </p:nvSpPr>
        <p:spPr>
          <a:xfrm>
            <a:off x="5372100" y="21526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定位框确认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noGrp="1"/>
          </p:cNvSpPr>
          <p:nvPr/>
        </p:nvSpPr>
        <p:spPr>
          <a:xfrm>
            <a:off x="5372100" y="2524125"/>
            <a:ext cx="1162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稳定找到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三个定位框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noGrp="1"/>
          </p:cNvSpPr>
          <p:nvPr/>
        </p:nvSpPr>
        <p:spPr>
          <a:xfrm>
            <a:off x="6972300" y="2000250"/>
            <a:ext cx="14859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noGrp="1"/>
          </p:cNvSpPr>
          <p:nvPr/>
        </p:nvSpPr>
        <p:spPr>
          <a:xfrm>
            <a:off x="6972300" y="2000250"/>
            <a:ext cx="66675" cy="12001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noGrp="1"/>
          </p:cNvSpPr>
          <p:nvPr/>
        </p:nvSpPr>
        <p:spPr>
          <a:xfrm>
            <a:off x="7162800" y="21526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透视拉正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noGrp="1"/>
          </p:cNvSpPr>
          <p:nvPr/>
        </p:nvSpPr>
        <p:spPr>
          <a:xfrm>
            <a:off x="7162800" y="2524125"/>
            <a:ext cx="1162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恢复 21×21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标准码面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16383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66675" cy="12001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noGrp="1"/>
          </p:cNvSpPr>
          <p:nvPr/>
        </p:nvSpPr>
        <p:spPr>
          <a:xfrm>
            <a:off x="8953500" y="21526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光照复核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noGrp="1"/>
          </p:cNvSpPr>
          <p:nvPr/>
        </p:nvSpPr>
        <p:spPr>
          <a:xfrm>
            <a:off x="8953500" y="2524125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局部展平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再次解码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noGrp="1"/>
          </p:cNvSpPr>
          <p:nvPr/>
        </p:nvSpPr>
        <p:spPr>
          <a:xfrm>
            <a:off x="10553700" y="2000250"/>
            <a:ext cx="1085850" cy="1200150"/>
          </a:xfrm>
          <a:prstGeom prst="roundRect">
            <a:avLst>
              <a:gd name="adj" fmla="val 10526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noGrp="1"/>
          </p:cNvSpPr>
          <p:nvPr/>
        </p:nvSpPr>
        <p:spPr>
          <a:xfrm>
            <a:off x="10553700" y="2000250"/>
            <a:ext cx="66675" cy="12001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noGrp="1"/>
          </p:cNvSpPr>
          <p:nvPr/>
        </p:nvSpPr>
        <p:spPr>
          <a:xfrm>
            <a:off x="10744200" y="215265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成功输出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noGrp="1"/>
          </p:cNvSpPr>
          <p:nvPr/>
        </p:nvSpPr>
        <p:spPr>
          <a:xfrm>
            <a:off x="10744200" y="2524125"/>
            <a:ext cx="76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文本位置</a:t>
            </a:r>
          </a:p>
          <a:p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同时返回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noGrp="1"/>
          </p:cNvSpPr>
          <p:nvPr/>
        </p:nvSpPr>
        <p:spPr>
          <a:xfrm>
            <a:off x="3714750" y="3714750"/>
            <a:ext cx="379095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noGrp="1"/>
          </p:cNvSpPr>
          <p:nvPr/>
        </p:nvSpPr>
        <p:spPr>
          <a:xfrm>
            <a:off x="3714750" y="3714750"/>
            <a:ext cx="66675" cy="15049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noGrp="1"/>
          </p:cNvSpPr>
          <p:nvPr/>
        </p:nvSpPr>
        <p:spPr>
          <a:xfrm>
            <a:off x="3905250" y="3867150"/>
            <a:ext cx="346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难点在哪里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noGrp="1"/>
          </p:cNvSpPr>
          <p:nvPr/>
        </p:nvSpPr>
        <p:spPr>
          <a:xfrm>
            <a:off x="3905250" y="4238625"/>
            <a:ext cx="3467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白色带区域局部过曝，二维码又有模糊和背景条纹；直接缩放后，黑白模块容易被错误采样。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noGrp="1"/>
          </p:cNvSpPr>
          <p:nvPr/>
        </p:nvSpPr>
        <p:spPr>
          <a:xfrm>
            <a:off x="7772400" y="3714750"/>
            <a:ext cx="386715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noGrp="1"/>
          </p:cNvSpPr>
          <p:nvPr/>
        </p:nvSpPr>
        <p:spPr>
          <a:xfrm>
            <a:off x="7772400" y="3714750"/>
            <a:ext cx="66675" cy="15049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noGrp="1"/>
          </p:cNvSpPr>
          <p:nvPr/>
        </p:nvSpPr>
        <p:spPr>
          <a:xfrm>
            <a:off x="7962900" y="386715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优化为什么有效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noGrp="1"/>
          </p:cNvSpPr>
          <p:nvPr/>
        </p:nvSpPr>
        <p:spPr>
          <a:xfrm>
            <a:off x="7962900" y="4238625"/>
            <a:ext cx="3543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先用三个定位框恢复真实码面；原灰度仍失败时，仅对拉正后的小图做光照展平，再交给同一解码器确认。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noGrp="1"/>
          </p:cNvSpPr>
          <p:nvPr/>
        </p:nvSpPr>
        <p:spPr>
          <a:xfrm>
            <a:off x="4000500" y="5486400"/>
            <a:ext cx="73342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noGrp="1"/>
          </p:cNvSpPr>
          <p:nvPr/>
        </p:nvSpPr>
        <p:spPr>
          <a:xfrm>
            <a:off x="4000500" y="5495925"/>
            <a:ext cx="733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识别结果：ZJ_202606302651265_RT ｜ 21×21 ｜ 三定位框透视恢复 ｜ 局部光照展平</a:t>
            </a:r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3"/>
          <a:srcRect t="14346" b="14346"/>
          <a:stretch>
            <a:fillRect/>
          </a:stretch>
        </p:blipFill>
        <p:spPr>
          <a:xfrm>
            <a:off x="552450" y="1504950"/>
            <a:ext cx="2857500" cy="2000250"/>
          </a:xfrm>
          <a:prstGeom prst="round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81075" y="3733800"/>
            <a:ext cx="2000250" cy="200025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94430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991867A3-2DB9-40F6-BA1C-A4BD1F648C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FFB5EED-5C9B-4F27-BCC2-9CDE2EA1E8D9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858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5B1658-EAE6-4570-823F-4A5570F14803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4F6FD3-8CFD-4D96-BF89-A6EE9EFE607B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全局对准先解决“大方向正确”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CAE2B62D-D6CE-4D9F-92E0-62D6901589E7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BF4CD8-4846-404F-8678-A59CD5D8CAE2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来源：上下两排 20 mm Mark 与当前全局粗对准流程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8614EB1-7DEC-4BC6-868B-2E8967C8555C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13365" y="1428750"/>
            <a:ext cx="2545421" cy="4343400"/>
          </a:xfrm>
          <a:prstGeom prst="roundRect">
            <a:avLst>
              <a:gd name="adj" fmla="val 2632"/>
            </a:avLst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1763998-7D76-4FD9-B5E4-313D692E5AAB}"/>
              </a:ext>
            </a:extLst>
          </p:cNvPr>
          <p:cNvSpPr>
            <a:spLocks noGrp="1"/>
          </p:cNvSpPr>
          <p:nvPr/>
        </p:nvSpPr>
        <p:spPr>
          <a:xfrm>
            <a:off x="552450" y="5438775"/>
            <a:ext cx="466725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FF019E-38E0-4D91-B9EB-39826C1378D9}"/>
              </a:ext>
            </a:extLst>
          </p:cNvPr>
          <p:cNvSpPr>
            <a:spLocks noGrp="1"/>
          </p:cNvSpPr>
          <p:nvPr/>
        </p:nvSpPr>
        <p:spPr>
          <a:xfrm>
            <a:off x="628650" y="5476875"/>
            <a:ext cx="4514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全局粗对准后的真实 CIS 预览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8580AE8-9D86-4E1B-9C4A-8C652960C4EE}"/>
              </a:ext>
            </a:extLst>
          </p:cNvPr>
          <p:cNvSpPr>
            <a:spLocks noGrp="1"/>
          </p:cNvSpPr>
          <p:nvPr/>
        </p:nvSpPr>
        <p:spPr>
          <a:xfrm>
            <a:off x="5505450" y="1428750"/>
            <a:ext cx="2686050" cy="1905000"/>
          </a:xfrm>
          <a:prstGeom prst="roundRect">
            <a:avLst>
              <a:gd name="adj" fmla="val 6000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B54C4C-8EAD-44F2-BB65-F12E5DB5011D}"/>
              </a:ext>
            </a:extLst>
          </p:cNvPr>
          <p:cNvSpPr>
            <a:spLocks noGrp="1"/>
          </p:cNvSpPr>
          <p:nvPr/>
        </p:nvSpPr>
        <p:spPr>
          <a:xfrm>
            <a:off x="5505450" y="1428750"/>
            <a:ext cx="66675" cy="19050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02C55B-8C94-4583-9218-65597BD53096}"/>
              </a:ext>
            </a:extLst>
          </p:cNvPr>
          <p:cNvSpPr>
            <a:spLocks noGrp="1"/>
          </p:cNvSpPr>
          <p:nvPr/>
        </p:nvSpPr>
        <p:spPr>
          <a:xfrm>
            <a:off x="5695950" y="1581150"/>
            <a:ext cx="2362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 物理基准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73F2A0-E849-4891-AAA4-295CF552917A}"/>
              </a:ext>
            </a:extLst>
          </p:cNvPr>
          <p:cNvSpPr>
            <a:spLocks noGrp="1"/>
          </p:cNvSpPr>
          <p:nvPr/>
        </p:nvSpPr>
        <p:spPr>
          <a:xfrm>
            <a:off x="5695950" y="1952625"/>
            <a:ext cx="23622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上排 Y = 50 mm</a:t>
            </a:r>
          </a:p>
          <a:p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下排 Y = 970 mm</a:t>
            </a:r>
          </a:p>
          <a:p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Mark 直径 = 20 mm</a:t>
            </a:r>
          </a:p>
          <a:p>
            <a:pPr algn="l">
              <a:lnSpc>
                <a:spcPct val="116000"/>
              </a:lnSpc>
              <a:buNone/>
              <a:def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pxPerMm = 300 / 25.4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B3E41802-3188-4C1F-8F41-B96C46BABAC6}"/>
              </a:ext>
            </a:extLst>
          </p:cNvPr>
          <p:cNvSpPr>
            <a:spLocks noGrp="1"/>
          </p:cNvSpPr>
          <p:nvPr/>
        </p:nvSpPr>
        <p:spPr>
          <a:xfrm>
            <a:off x="8439150" y="1428750"/>
            <a:ext cx="3200400" cy="1905000"/>
          </a:xfrm>
          <a:prstGeom prst="roundRect">
            <a:avLst>
              <a:gd name="adj" fmla="val 6000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72E11C-A6EC-4890-9F68-2B1EF24785C1}"/>
              </a:ext>
            </a:extLst>
          </p:cNvPr>
          <p:cNvSpPr>
            <a:spLocks noGrp="1"/>
          </p:cNvSpPr>
          <p:nvPr/>
        </p:nvSpPr>
        <p:spPr>
          <a:xfrm>
            <a:off x="8439150" y="1428750"/>
            <a:ext cx="66675" cy="190500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F3C338C-5B27-4EEF-98A0-E8A1A69642D8}"/>
              </a:ext>
            </a:extLst>
          </p:cNvPr>
          <p:cNvSpPr>
            <a:spLocks noGrp="1"/>
          </p:cNvSpPr>
          <p:nvPr/>
        </p:nvSpPr>
        <p:spPr>
          <a:xfrm>
            <a:off x="8629650" y="1581150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CIS 扫描基准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06BFD8A-1CDB-4214-B534-5B1D4C9451A7}"/>
              </a:ext>
            </a:extLst>
          </p:cNvPr>
          <p:cNvSpPr>
            <a:spLocks noGrp="1"/>
          </p:cNvSpPr>
          <p:nvPr/>
        </p:nvSpPr>
        <p:spPr>
          <a:xfrm>
            <a:off x="8629650" y="1952625"/>
            <a:ext cx="28765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下排 = 第二个 QR 在拼接段内的 Y</a:t>
            </a:r>
          </a:p>
          <a:p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上排 = 下排 − 920 × (QR高/60)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F631C90-0C37-4FA6-AC0A-7FDF043FBA81}"/>
              </a:ext>
            </a:extLst>
          </p:cNvPr>
          <p:cNvSpPr>
            <a:spLocks noGrp="1"/>
          </p:cNvSpPr>
          <p:nvPr/>
        </p:nvSpPr>
        <p:spPr>
          <a:xfrm>
            <a:off x="5505450" y="3638550"/>
            <a:ext cx="194310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410567D7-D3D7-4D31-8281-417E751F0F19}"/>
              </a:ext>
            </a:extLst>
          </p:cNvPr>
          <p:cNvSpPr>
            <a:spLocks noGrp="1"/>
          </p:cNvSpPr>
          <p:nvPr/>
        </p:nvSpPr>
        <p:spPr>
          <a:xfrm>
            <a:off x="5657850" y="3829050"/>
            <a:ext cx="476250" cy="476250"/>
          </a:xfrm>
          <a:prstGeom prst="ellipse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05427B1-2892-49BF-932A-24CCFFFC8F05}"/>
              </a:ext>
            </a:extLst>
          </p:cNvPr>
          <p:cNvSpPr>
            <a:spLocks noGrp="1"/>
          </p:cNvSpPr>
          <p:nvPr/>
        </p:nvSpPr>
        <p:spPr>
          <a:xfrm>
            <a:off x="5657850" y="382905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6BBF101-BE45-498E-92CE-A82168CC08D4}"/>
              </a:ext>
            </a:extLst>
          </p:cNvPr>
          <p:cNvSpPr>
            <a:spLocks noGrp="1"/>
          </p:cNvSpPr>
          <p:nvPr/>
        </p:nvSpPr>
        <p:spPr>
          <a:xfrm>
            <a:off x="6267450" y="3733800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8058" lnSpcReduction="20000"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预测 Mark 区域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1C88821-92C4-4A7B-9E92-56A1D25A8179}"/>
              </a:ext>
            </a:extLst>
          </p:cNvPr>
          <p:cNvSpPr>
            <a:spLocks noGrp="1"/>
          </p:cNvSpPr>
          <p:nvPr/>
        </p:nvSpPr>
        <p:spPr>
          <a:xfrm>
            <a:off x="6267450" y="418147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65696" lnSpcReduction="20000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只在有规律的位置检测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BC377EB-7D6A-4AC8-A4D7-96D893C62A39}"/>
              </a:ext>
            </a:extLst>
          </p:cNvPr>
          <p:cNvSpPr>
            <a:spLocks noGrp="1"/>
          </p:cNvSpPr>
          <p:nvPr/>
        </p:nvSpPr>
        <p:spPr>
          <a:xfrm>
            <a:off x="7639050" y="3638550"/>
            <a:ext cx="194310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1E17171F-07A7-44E4-8550-3163744EEDF0}"/>
              </a:ext>
            </a:extLst>
          </p:cNvPr>
          <p:cNvSpPr>
            <a:spLocks noGrp="1"/>
          </p:cNvSpPr>
          <p:nvPr/>
        </p:nvSpPr>
        <p:spPr>
          <a:xfrm>
            <a:off x="7791450" y="3829050"/>
            <a:ext cx="476250" cy="476250"/>
          </a:xfrm>
          <a:prstGeom prst="ellipse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11826F7-0C18-4CD5-9B24-721EBC34ADA6}"/>
              </a:ext>
            </a:extLst>
          </p:cNvPr>
          <p:cNvSpPr>
            <a:spLocks noGrp="1"/>
          </p:cNvSpPr>
          <p:nvPr/>
        </p:nvSpPr>
        <p:spPr>
          <a:xfrm>
            <a:off x="7791450" y="382905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70D508B-28B2-452A-9EA3-F29C48658FD3}"/>
              </a:ext>
            </a:extLst>
          </p:cNvPr>
          <p:cNvSpPr>
            <a:spLocks noGrp="1"/>
          </p:cNvSpPr>
          <p:nvPr/>
        </p:nvSpPr>
        <p:spPr>
          <a:xfrm>
            <a:off x="8401050" y="3733800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识别并配对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9D2CEA8-C532-42A5-BEBC-EF381029CA2D}"/>
              </a:ext>
            </a:extLst>
          </p:cNvPr>
          <p:cNvSpPr>
            <a:spLocks noGrp="1"/>
          </p:cNvSpPr>
          <p:nvPr/>
        </p:nvSpPr>
        <p:spPr>
          <a:xfrm>
            <a:off x="8401050" y="418147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65696" lnSpcReduction="20000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圆度、直径与排列关系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4736FBE-1EE7-489D-A8C2-975F371F3D04}"/>
              </a:ext>
            </a:extLst>
          </p:cNvPr>
          <p:cNvSpPr>
            <a:spLocks noGrp="1"/>
          </p:cNvSpPr>
          <p:nvPr/>
        </p:nvSpPr>
        <p:spPr>
          <a:xfrm>
            <a:off x="9772650" y="3638550"/>
            <a:ext cx="186690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8A43E61C-4549-42EB-9596-0ED66B09F191}"/>
              </a:ext>
            </a:extLst>
          </p:cNvPr>
          <p:cNvSpPr>
            <a:spLocks noGrp="1"/>
          </p:cNvSpPr>
          <p:nvPr/>
        </p:nvSpPr>
        <p:spPr>
          <a:xfrm>
            <a:off x="9925050" y="3829050"/>
            <a:ext cx="476250" cy="476250"/>
          </a:xfrm>
          <a:prstGeom prst="ellipse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AB69707-11B6-4619-B2D3-7504831C6A9F}"/>
              </a:ext>
            </a:extLst>
          </p:cNvPr>
          <p:cNvSpPr>
            <a:spLocks noGrp="1"/>
          </p:cNvSpPr>
          <p:nvPr/>
        </p:nvSpPr>
        <p:spPr>
          <a:xfrm>
            <a:off x="9925050" y="382905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C523A52-CEB4-4A90-9FBD-9228398EA2F7}"/>
              </a:ext>
            </a:extLst>
          </p:cNvPr>
          <p:cNvSpPr>
            <a:spLocks noGrp="1"/>
          </p:cNvSpPr>
          <p:nvPr/>
        </p:nvSpPr>
        <p:spPr>
          <a:xfrm>
            <a:off x="10534650" y="3733800"/>
            <a:ext cx="971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655"/>
          </a:bodyPr>
          <a:lstStyle/>
          <a:p>
            <a:pPr algn="l">
              <a:lnSpc>
                <a:spcPct val="98000"/>
              </a:lnSpc>
              <a:buNone/>
              <a:def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全局粗对准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2F796AD-DF95-41DE-B464-C80A2954E582}"/>
              </a:ext>
            </a:extLst>
          </p:cNvPr>
          <p:cNvSpPr>
            <a:spLocks noGrp="1"/>
          </p:cNvSpPr>
          <p:nvPr/>
        </p:nvSpPr>
        <p:spPr>
          <a:xfrm>
            <a:off x="10534650" y="4181475"/>
            <a:ext cx="971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76411" lnSpcReduction="20000"/>
          </a:bodyPr>
          <a:lstStyle/>
          <a:p>
            <a:pPr algn="l">
              <a:lnSpc>
                <a:spcPct val="108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剔除异常点后拟合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CB1D30C1-6CE5-4D79-8145-EDFC4BC8C3BF}"/>
              </a:ext>
            </a:extLst>
          </p:cNvPr>
          <p:cNvSpPr>
            <a:spLocks noGrp="1"/>
          </p:cNvSpPr>
          <p:nvPr/>
        </p:nvSpPr>
        <p:spPr>
          <a:xfrm>
            <a:off x="5981700" y="4876800"/>
            <a:ext cx="5219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7C93E2B-237C-4035-9E4A-C9F01E1AA07E}"/>
              </a:ext>
            </a:extLst>
          </p:cNvPr>
          <p:cNvSpPr>
            <a:spLocks noGrp="1"/>
          </p:cNvSpPr>
          <p:nvPr/>
        </p:nvSpPr>
        <p:spPr>
          <a:xfrm>
            <a:off x="5981700" y="4886325"/>
            <a:ext cx="5219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对准失败必须有明确状态，不用错误矩阵继续检测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24BAF04-C1AE-482F-AA50-72C5E0943A77}"/>
              </a:ext>
            </a:extLst>
          </p:cNvPr>
          <p:cNvSpPr>
            <a:spLocks noGrp="1"/>
          </p:cNvSpPr>
          <p:nvPr/>
        </p:nvSpPr>
        <p:spPr>
          <a:xfrm>
            <a:off x="5581650" y="5410200"/>
            <a:ext cx="5981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全局粗对准稳定、易解释，是默认整图模型；剩余偏差交给零件精对准。</a:t>
            </a:r>
          </a:p>
        </p:txBody>
      </p:sp>
    </p:spTree>
    <p:extLst>
      <p:ext uri="{BB962C8B-B14F-4D97-AF65-F5344CB8AC3E}">
        <p14:creationId xmlns:p14="http://schemas.microsoft.com/office/powerpoint/2010/main" val="1585955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B4D66DD9-EFA8-40AB-876B-FBD3B3751E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539F77C-3284-4B32-8ED9-299C2D8258DD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858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3F3CB9-8AD5-4158-9614-A513A52AA1A3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可选增强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A2BCB4-A283-4274-84E0-72FA1D3ABE68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侧边 9 对 Mark：保留能力，默认关闭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74D94E73-2723-4AFB-93B4-4F36B1C31275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3D588C-3328-47D1-9E72-30B5D9E032EE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来源：当前侧边 Mark 实现、对比测试与配置开关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BFD866-CE03-44F9-801B-39C1FA65F7C2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83990" y="1428750"/>
            <a:ext cx="3099420" cy="4457700"/>
          </a:xfrm>
          <a:prstGeom prst="roundRect">
            <a:avLst>
              <a:gd name="adj" fmla="val 2564"/>
            </a:avLst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D27FCC8-90DE-4401-82D9-6FC5C0016E99}"/>
              </a:ext>
            </a:extLst>
          </p:cNvPr>
          <p:cNvSpPr>
            <a:spLocks noGrp="1"/>
          </p:cNvSpPr>
          <p:nvPr/>
        </p:nvSpPr>
        <p:spPr>
          <a:xfrm>
            <a:off x="552450" y="5553075"/>
            <a:ext cx="4762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3D1F73-72F1-4512-AE97-A67DA3EFCF37}"/>
              </a:ext>
            </a:extLst>
          </p:cNvPr>
          <p:cNvSpPr>
            <a:spLocks noGrp="1"/>
          </p:cNvSpPr>
          <p:nvPr/>
        </p:nvSpPr>
        <p:spPr>
          <a:xfrm>
            <a:off x="628650" y="5591175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 CIS 侧边 Mark 与控制网格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F59CA4C6-A0F8-4E7C-8F14-45E59A034E8A}"/>
              </a:ext>
            </a:extLst>
          </p:cNvPr>
          <p:cNvSpPr>
            <a:spLocks noGrp="1"/>
          </p:cNvSpPr>
          <p:nvPr/>
        </p:nvSpPr>
        <p:spPr>
          <a:xfrm>
            <a:off x="5867400" y="1676400"/>
            <a:ext cx="2686050" cy="0"/>
          </a:xfrm>
          <a:prstGeom prst="line">
            <a:avLst/>
          </a:prstGeom>
          <a:noFill/>
          <a:ln w="28575">
            <a:solidFill>
              <a:srgbClr val="3CD486"/>
            </a:solidFill>
            <a:prstDash val="solid"/>
          </a:ln>
        </p:spPr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E80CF70B-6B41-44B5-A311-9CF7145C6621}"/>
              </a:ext>
            </a:extLst>
          </p:cNvPr>
          <p:cNvSpPr>
            <a:spLocks noGrp="1"/>
          </p:cNvSpPr>
          <p:nvPr/>
        </p:nvSpPr>
        <p:spPr>
          <a:xfrm>
            <a:off x="5867400" y="1952625"/>
            <a:ext cx="268605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BC7EED75-4293-48F8-8F76-05259CCCEDBF}"/>
              </a:ext>
            </a:extLst>
          </p:cNvPr>
          <p:cNvSpPr>
            <a:spLocks noGrp="1"/>
          </p:cNvSpPr>
          <p:nvPr/>
        </p:nvSpPr>
        <p:spPr>
          <a:xfrm>
            <a:off x="5867400" y="2228850"/>
            <a:ext cx="268605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97E35EBF-AAD2-43CF-9F30-94F4535B3DAE}"/>
              </a:ext>
            </a:extLst>
          </p:cNvPr>
          <p:cNvSpPr>
            <a:spLocks noGrp="1"/>
          </p:cNvSpPr>
          <p:nvPr/>
        </p:nvSpPr>
        <p:spPr>
          <a:xfrm>
            <a:off x="5867400" y="2505075"/>
            <a:ext cx="268605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2F431BCF-AC9C-4824-9ECD-54B51AB077A6}"/>
              </a:ext>
            </a:extLst>
          </p:cNvPr>
          <p:cNvSpPr>
            <a:spLocks noGrp="1"/>
          </p:cNvSpPr>
          <p:nvPr/>
        </p:nvSpPr>
        <p:spPr>
          <a:xfrm>
            <a:off x="5867400" y="2781300"/>
            <a:ext cx="268605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D6A6198D-BBF0-4706-938C-A32E673A4668}"/>
              </a:ext>
            </a:extLst>
          </p:cNvPr>
          <p:cNvSpPr>
            <a:spLocks noGrp="1"/>
          </p:cNvSpPr>
          <p:nvPr/>
        </p:nvSpPr>
        <p:spPr>
          <a:xfrm>
            <a:off x="5867400" y="3057525"/>
            <a:ext cx="268605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9FE37C0A-6EE4-4B65-9063-F39025759248}"/>
              </a:ext>
            </a:extLst>
          </p:cNvPr>
          <p:cNvSpPr>
            <a:spLocks noGrp="1"/>
          </p:cNvSpPr>
          <p:nvPr/>
        </p:nvSpPr>
        <p:spPr>
          <a:xfrm>
            <a:off x="5867400" y="3333750"/>
            <a:ext cx="268605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9824204E-F1E4-4969-8AC6-BFA5C6E07E62}"/>
              </a:ext>
            </a:extLst>
          </p:cNvPr>
          <p:cNvSpPr>
            <a:spLocks noGrp="1"/>
          </p:cNvSpPr>
          <p:nvPr/>
        </p:nvSpPr>
        <p:spPr>
          <a:xfrm>
            <a:off x="5867400" y="3609975"/>
            <a:ext cx="268605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6FB60A7C-189F-4135-A7C2-48D1CCEC5C95}"/>
              </a:ext>
            </a:extLst>
          </p:cNvPr>
          <p:cNvSpPr>
            <a:spLocks noGrp="1"/>
          </p:cNvSpPr>
          <p:nvPr/>
        </p:nvSpPr>
        <p:spPr>
          <a:xfrm>
            <a:off x="5867400" y="3886200"/>
            <a:ext cx="268605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4C318704-B65C-49DD-AAE3-F65CD478E7D5}"/>
              </a:ext>
            </a:extLst>
          </p:cNvPr>
          <p:cNvSpPr>
            <a:spLocks noGrp="1"/>
          </p:cNvSpPr>
          <p:nvPr/>
        </p:nvSpPr>
        <p:spPr>
          <a:xfrm>
            <a:off x="5867400" y="4162425"/>
            <a:ext cx="268605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B9DFAFFF-0691-48BD-8116-395116F29CF3}"/>
              </a:ext>
            </a:extLst>
          </p:cNvPr>
          <p:cNvSpPr>
            <a:spLocks noGrp="1"/>
          </p:cNvSpPr>
          <p:nvPr/>
        </p:nvSpPr>
        <p:spPr>
          <a:xfrm>
            <a:off x="5867400" y="4438650"/>
            <a:ext cx="2686050" cy="0"/>
          </a:xfrm>
          <a:prstGeom prst="line">
            <a:avLst/>
          </a:prstGeom>
          <a:noFill/>
          <a:ln w="28575">
            <a:solidFill>
              <a:srgbClr val="3CD486"/>
            </a:solidFill>
            <a:prstDash val="solid"/>
          </a:ln>
        </p:spPr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D8680EEE-7741-4244-AADD-F77228D9F74E}"/>
              </a:ext>
            </a:extLst>
          </p:cNvPr>
          <p:cNvSpPr>
            <a:spLocks noGrp="1"/>
          </p:cNvSpPr>
          <p:nvPr/>
        </p:nvSpPr>
        <p:spPr>
          <a:xfrm>
            <a:off x="5867400" y="1676400"/>
            <a:ext cx="0" cy="2762250"/>
          </a:xfrm>
          <a:prstGeom prst="line">
            <a:avLst/>
          </a:prstGeom>
          <a:noFill/>
          <a:ln w="28575">
            <a:solidFill>
              <a:srgbClr val="F06D6D"/>
            </a:solidFill>
            <a:prstDash val="solid"/>
          </a:ln>
        </p:spPr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0A1B7C80-8B9D-427E-9E3D-97362BF732DC}"/>
              </a:ext>
            </a:extLst>
          </p:cNvPr>
          <p:cNvSpPr>
            <a:spLocks noGrp="1"/>
          </p:cNvSpPr>
          <p:nvPr/>
        </p:nvSpPr>
        <p:spPr>
          <a:xfrm>
            <a:off x="7210425" y="1676400"/>
            <a:ext cx="0" cy="2762250"/>
          </a:xfrm>
          <a:prstGeom prst="line">
            <a:avLst/>
          </a:prstGeom>
          <a:noFill/>
          <a:ln w="28575">
            <a:solidFill>
              <a:srgbClr val="3CD486"/>
            </a:solidFill>
            <a:prstDash val="solid"/>
          </a:ln>
        </p:spPr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C128FACA-EFC6-46EF-A342-5C0F0B52FC37}"/>
              </a:ext>
            </a:extLst>
          </p:cNvPr>
          <p:cNvSpPr>
            <a:spLocks noGrp="1"/>
          </p:cNvSpPr>
          <p:nvPr/>
        </p:nvSpPr>
        <p:spPr>
          <a:xfrm>
            <a:off x="8553450" y="1676400"/>
            <a:ext cx="0" cy="2762250"/>
          </a:xfrm>
          <a:prstGeom prst="line">
            <a:avLst/>
          </a:prstGeom>
          <a:noFill/>
          <a:ln w="28575">
            <a:solidFill>
              <a:srgbClr val="F06D6D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9B9D021-8852-4913-895D-09587B806781}"/>
              </a:ext>
            </a:extLst>
          </p:cNvPr>
          <p:cNvSpPr>
            <a:spLocks noGrp="1"/>
          </p:cNvSpPr>
          <p:nvPr/>
        </p:nvSpPr>
        <p:spPr>
          <a:xfrm>
            <a:off x="5619750" y="1314450"/>
            <a:ext cx="1009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rPr>
              <a:t>左侧实测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FC747E6-36D3-442F-A973-F217792B0D83}"/>
              </a:ext>
            </a:extLst>
          </p:cNvPr>
          <p:cNvSpPr>
            <a:spLocks noGrp="1"/>
          </p:cNvSpPr>
          <p:nvPr/>
        </p:nvSpPr>
        <p:spPr>
          <a:xfrm>
            <a:off x="6781800" y="13144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1578" lnSpcReduction="10000"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中心保持 H0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2C0F0C-6434-495D-9140-FCDC5BF37FF0}"/>
              </a:ext>
            </a:extLst>
          </p:cNvPr>
          <p:cNvSpPr>
            <a:spLocks noGrp="1"/>
          </p:cNvSpPr>
          <p:nvPr/>
        </p:nvSpPr>
        <p:spPr>
          <a:xfrm>
            <a:off x="8077200" y="1314450"/>
            <a:ext cx="1009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06D6D"/>
                </a:solidFill>
                <a:latin typeface="Microsoft YaHei"/>
                <a:ea typeface="Microsoft YaHei"/>
                <a:cs typeface="Microsoft YaHei"/>
              </a:rPr>
              <a:t>右侧实测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EDB5E7B9-C645-405F-B36B-9D60BFCA00BA}"/>
              </a:ext>
            </a:extLst>
          </p:cNvPr>
          <p:cNvSpPr>
            <a:spLocks noGrp="1"/>
          </p:cNvSpPr>
          <p:nvPr/>
        </p:nvSpPr>
        <p:spPr>
          <a:xfrm>
            <a:off x="8915400" y="1428750"/>
            <a:ext cx="272415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2A6955E-BAE6-433E-B971-716519E981A8}"/>
              </a:ext>
            </a:extLst>
          </p:cNvPr>
          <p:cNvSpPr>
            <a:spLocks noGrp="1"/>
          </p:cNvSpPr>
          <p:nvPr/>
        </p:nvSpPr>
        <p:spPr>
          <a:xfrm>
            <a:off x="8915400" y="1428750"/>
            <a:ext cx="66675" cy="15049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13F12BC-BA27-4D87-9155-9F8459767D82}"/>
              </a:ext>
            </a:extLst>
          </p:cNvPr>
          <p:cNvSpPr>
            <a:spLocks noGrp="1"/>
          </p:cNvSpPr>
          <p:nvPr/>
        </p:nvSpPr>
        <p:spPr>
          <a:xfrm>
            <a:off x="9105900" y="15811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适用场景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B903124-F956-4DFF-A7BA-502721906034}"/>
              </a:ext>
            </a:extLst>
          </p:cNvPr>
          <p:cNvSpPr>
            <a:spLocks noGrp="1"/>
          </p:cNvSpPr>
          <p:nvPr/>
        </p:nvSpPr>
        <p:spPr>
          <a:xfrm>
            <a:off x="9105900" y="1952625"/>
            <a:ext cx="2400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355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膜片边缘热胀冷缩明显、且多层小 Mark 检测稳定时，用于描述边缘非线性残差。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8DD17A2C-ED0E-4718-BA1B-D6E33B323C30}"/>
              </a:ext>
            </a:extLst>
          </p:cNvPr>
          <p:cNvSpPr>
            <a:spLocks noGrp="1"/>
          </p:cNvSpPr>
          <p:nvPr/>
        </p:nvSpPr>
        <p:spPr>
          <a:xfrm>
            <a:off x="8915400" y="3143250"/>
            <a:ext cx="272415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D3FF61A-F9E0-458F-B167-7B6E60F93CFA}"/>
              </a:ext>
            </a:extLst>
          </p:cNvPr>
          <p:cNvSpPr>
            <a:spLocks noGrp="1"/>
          </p:cNvSpPr>
          <p:nvPr/>
        </p:nvSpPr>
        <p:spPr>
          <a:xfrm>
            <a:off x="8915400" y="3143250"/>
            <a:ext cx="66675" cy="150495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6C4DC34-CBE4-4D94-9A42-69750983400D}"/>
              </a:ext>
            </a:extLst>
          </p:cNvPr>
          <p:cNvSpPr>
            <a:spLocks noGrp="1"/>
          </p:cNvSpPr>
          <p:nvPr/>
        </p:nvSpPr>
        <p:spPr>
          <a:xfrm>
            <a:off x="9105900" y="32956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校正机制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3578E73-D8E3-4497-9346-32944B0E8D23}"/>
              </a:ext>
            </a:extLst>
          </p:cNvPr>
          <p:cNvSpPr>
            <a:spLocks noGrp="1"/>
          </p:cNvSpPr>
          <p:nvPr/>
        </p:nvSpPr>
        <p:spPr>
          <a:xfrm>
            <a:off x="9105900" y="3667125"/>
            <a:ext cx="2400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9515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左右残差向中心平滑衰减；中心区域继续沿用 H0，避免用边缘形变猜测中部。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C8A1423E-7F6C-4AE3-9341-29EB8EE39C57}"/>
              </a:ext>
            </a:extLst>
          </p:cNvPr>
          <p:cNvSpPr>
            <a:spLocks noGrp="1"/>
          </p:cNvSpPr>
          <p:nvPr/>
        </p:nvSpPr>
        <p:spPr>
          <a:xfrm>
            <a:off x="8915400" y="4857750"/>
            <a:ext cx="2724150" cy="1028700"/>
          </a:xfrm>
          <a:prstGeom prst="roundRect">
            <a:avLst>
              <a:gd name="adj" fmla="val 11111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22164C2-D261-4D86-B33F-33FDED4F8EAC}"/>
              </a:ext>
            </a:extLst>
          </p:cNvPr>
          <p:cNvSpPr>
            <a:spLocks noGrp="1"/>
          </p:cNvSpPr>
          <p:nvPr/>
        </p:nvSpPr>
        <p:spPr>
          <a:xfrm>
            <a:off x="8915400" y="4857750"/>
            <a:ext cx="66675" cy="10287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FBCA4A6-EF86-4A02-A166-617D61D65F2E}"/>
              </a:ext>
            </a:extLst>
          </p:cNvPr>
          <p:cNvSpPr>
            <a:spLocks noGrp="1"/>
          </p:cNvSpPr>
          <p:nvPr/>
        </p:nvSpPr>
        <p:spPr>
          <a:xfrm>
            <a:off x="9105900" y="5010150"/>
            <a:ext cx="2400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门控与降级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18C3A22-47AB-4169-9357-CBAB5A7BC666}"/>
              </a:ext>
            </a:extLst>
          </p:cNvPr>
          <p:cNvSpPr>
            <a:spLocks noGrp="1"/>
          </p:cNvSpPr>
          <p:nvPr/>
        </p:nvSpPr>
        <p:spPr>
          <a:xfrm>
            <a:off x="9105900" y="5381625"/>
            <a:ext cx="2400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78707" lnSpcReduction="10000"/>
          </a:bodyPr>
          <a:lstStyle/>
          <a:p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有效点不足、网格不平滑或存在翻折时，明确回退 H0，不让增强功能降低稳定性。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D747211E-87D8-4EDB-836A-04AE5F369401}"/>
              </a:ext>
            </a:extLst>
          </p:cNvPr>
          <p:cNvSpPr>
            <a:spLocks noGrp="1"/>
          </p:cNvSpPr>
          <p:nvPr/>
        </p:nvSpPr>
        <p:spPr>
          <a:xfrm>
            <a:off x="5810250" y="4953000"/>
            <a:ext cx="2952750" cy="285750"/>
          </a:xfrm>
          <a:prstGeom prst="roundRect">
            <a:avLst>
              <a:gd name="adj" fmla="val 40000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9A0C3BE-7899-4362-AF8B-B7C20F618FEF}"/>
              </a:ext>
            </a:extLst>
          </p:cNvPr>
          <p:cNvSpPr>
            <a:spLocks noGrp="1"/>
          </p:cNvSpPr>
          <p:nvPr/>
        </p:nvSpPr>
        <p:spPr>
          <a:xfrm>
            <a:off x="5810250" y="4962525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2483" lnSpcReduction="20000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实测提升并不稳定：当前默认关闭，通过开关保留后续数据化评估能力</a:t>
            </a:r>
          </a:p>
        </p:txBody>
      </p:sp>
    </p:spTree>
    <p:extLst>
      <p:ext uri="{BB962C8B-B14F-4D97-AF65-F5344CB8AC3E}">
        <p14:creationId xmlns:p14="http://schemas.microsoft.com/office/powerpoint/2010/main" val="2143640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858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③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零件级 SIFT 精对准，决定差分质量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零件模板、CIS 实拍与对比验证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2450" y="1504950"/>
            <a:ext cx="2857500" cy="2000250"/>
          </a:xfrm>
          <a:prstGeom prst="round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noGrp="1"/>
          </p:cNvSpPr>
          <p:nvPr/>
        </p:nvSpPr>
        <p:spPr>
          <a:xfrm>
            <a:off x="552450" y="3171825"/>
            <a:ext cx="2857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noGrp="1"/>
          </p:cNvSpPr>
          <p:nvPr/>
        </p:nvSpPr>
        <p:spPr>
          <a:xfrm>
            <a:off x="628650" y="3209925"/>
            <a:ext cx="2705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 设计零件</a:t>
            </a: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52450" y="3733800"/>
            <a:ext cx="2857500" cy="2000250"/>
          </a:xfrm>
          <a:prstGeom prst="round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noGrp="1"/>
          </p:cNvSpPr>
          <p:nvPr/>
        </p:nvSpPr>
        <p:spPr>
          <a:xfrm>
            <a:off x="552450" y="5400675"/>
            <a:ext cx="2857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noGrp="1"/>
          </p:cNvSpPr>
          <p:nvPr/>
        </p:nvSpPr>
        <p:spPr>
          <a:xfrm>
            <a:off x="628650" y="5438775"/>
            <a:ext cx="2705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H0 后 CIS 零件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noGrp="1"/>
          </p:cNvSpPr>
          <p:nvPr/>
        </p:nvSpPr>
        <p:spPr>
          <a:xfrm>
            <a:off x="48768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noGrp="1"/>
          </p:cNvSpPr>
          <p:nvPr/>
        </p:nvSpPr>
        <p:spPr>
          <a:xfrm>
            <a:off x="66675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noGrp="1"/>
          </p:cNvSpPr>
          <p:nvPr/>
        </p:nvSpPr>
        <p:spPr>
          <a:xfrm>
            <a:off x="84582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1162050" cy="1200150"/>
          </a:xfrm>
          <a:prstGeom prst="roundRect">
            <a:avLst>
              <a:gd name="adj" fmla="val 9836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66675" cy="120015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noGrp="1"/>
          </p:cNvSpPr>
          <p:nvPr/>
        </p:nvSpPr>
        <p:spPr>
          <a:xfrm>
            <a:off x="3905250" y="2152650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统一尺度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noGrp="1"/>
          </p:cNvSpPr>
          <p:nvPr/>
        </p:nvSpPr>
        <p:spPr>
          <a:xfrm>
            <a:off x="3905250" y="2524125"/>
            <a:ext cx="838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控制计算量</a:t>
            </a:r>
          </a:p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保留结构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noGrp="1"/>
          </p:cNvSpPr>
          <p:nvPr/>
        </p:nvSpPr>
        <p:spPr>
          <a:xfrm>
            <a:off x="5181600" y="2000250"/>
            <a:ext cx="14859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noGrp="1"/>
          </p:cNvSpPr>
          <p:nvPr/>
        </p:nvSpPr>
        <p:spPr>
          <a:xfrm>
            <a:off x="5181600" y="2000250"/>
            <a:ext cx="66675" cy="12001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noGrp="1"/>
          </p:cNvSpPr>
          <p:nvPr/>
        </p:nvSpPr>
        <p:spPr>
          <a:xfrm>
            <a:off x="5372100" y="21526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提取特征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noGrp="1"/>
          </p:cNvSpPr>
          <p:nvPr/>
        </p:nvSpPr>
        <p:spPr>
          <a:xfrm>
            <a:off x="5372100" y="2524125"/>
            <a:ext cx="1162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3779" lnSpcReduction="2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拐角 / 边缘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形成“特征指纹”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noGrp="1"/>
          </p:cNvSpPr>
          <p:nvPr/>
        </p:nvSpPr>
        <p:spPr>
          <a:xfrm>
            <a:off x="6972300" y="2000250"/>
            <a:ext cx="14859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noGrp="1"/>
          </p:cNvSpPr>
          <p:nvPr/>
        </p:nvSpPr>
        <p:spPr>
          <a:xfrm>
            <a:off x="6972300" y="2000250"/>
            <a:ext cx="66675" cy="12001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noGrp="1"/>
          </p:cNvSpPr>
          <p:nvPr/>
        </p:nvSpPr>
        <p:spPr>
          <a:xfrm>
            <a:off x="7162800" y="21526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匹配筛选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noGrp="1"/>
          </p:cNvSpPr>
          <p:nvPr/>
        </p:nvSpPr>
        <p:spPr>
          <a:xfrm>
            <a:off x="7162800" y="2524125"/>
            <a:ext cx="1162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寻找相同指纹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Lowe 0.6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16383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66675" cy="12001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noGrp="1"/>
          </p:cNvSpPr>
          <p:nvPr/>
        </p:nvSpPr>
        <p:spPr>
          <a:xfrm>
            <a:off x="8953500" y="21526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RANSAC 剔错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noGrp="1"/>
          </p:cNvSpPr>
          <p:nvPr/>
        </p:nvSpPr>
        <p:spPr>
          <a:xfrm>
            <a:off x="8953500" y="2524125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排除错误对应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noGrp="1"/>
          </p:cNvSpPr>
          <p:nvPr/>
        </p:nvSpPr>
        <p:spPr>
          <a:xfrm>
            <a:off x="10553700" y="2000250"/>
            <a:ext cx="1085850" cy="1200150"/>
          </a:xfrm>
          <a:prstGeom prst="roundRect">
            <a:avLst>
              <a:gd name="adj" fmla="val 10526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noGrp="1"/>
          </p:cNvSpPr>
          <p:nvPr/>
        </p:nvSpPr>
        <p:spPr>
          <a:xfrm>
            <a:off x="10553700" y="2000250"/>
            <a:ext cx="66675" cy="12001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noGrp="1"/>
          </p:cNvSpPr>
          <p:nvPr/>
        </p:nvSpPr>
        <p:spPr>
          <a:xfrm>
            <a:off x="10744200" y="215265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仿射对齐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noGrp="1"/>
          </p:cNvSpPr>
          <p:nvPr/>
        </p:nvSpPr>
        <p:spPr>
          <a:xfrm>
            <a:off x="10744200" y="2524125"/>
            <a:ext cx="76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4865" lnSpcReduction="10000"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消除局部残差</a:t>
            </a:r>
          </a:p>
          <a:p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Cubic Warp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noGrp="1"/>
          </p:cNvSpPr>
          <p:nvPr/>
        </p:nvSpPr>
        <p:spPr>
          <a:xfrm>
            <a:off x="3714750" y="3714750"/>
            <a:ext cx="379095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noGrp="1"/>
          </p:cNvSpPr>
          <p:nvPr/>
        </p:nvSpPr>
        <p:spPr>
          <a:xfrm>
            <a:off x="3714750" y="3714750"/>
            <a:ext cx="66675" cy="15049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noGrp="1"/>
          </p:cNvSpPr>
          <p:nvPr/>
        </p:nvSpPr>
        <p:spPr>
          <a:xfrm>
            <a:off x="3905250" y="3867150"/>
            <a:ext cx="346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SIFT 原理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noGrp="1"/>
          </p:cNvSpPr>
          <p:nvPr/>
        </p:nvSpPr>
        <p:spPr>
          <a:xfrm>
            <a:off x="3905250" y="4238625"/>
            <a:ext cx="3467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SIFT把拐角、边缘变成“特征指纹”，在设计图与实拍图中找到相同指纹；RANSAC去掉错配后，反推局部位置、角度和尺度差。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noGrp="1"/>
          </p:cNvSpPr>
          <p:nvPr/>
        </p:nvSpPr>
        <p:spPr>
          <a:xfrm>
            <a:off x="7772400" y="3714750"/>
            <a:ext cx="386715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noGrp="1"/>
          </p:cNvSpPr>
          <p:nvPr/>
        </p:nvSpPr>
        <p:spPr>
          <a:xfrm>
            <a:off x="7772400" y="3714750"/>
            <a:ext cx="66675" cy="15049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noGrp="1"/>
          </p:cNvSpPr>
          <p:nvPr/>
        </p:nvSpPr>
        <p:spPr>
          <a:xfrm>
            <a:off x="7962900" y="386715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为什么保留原路线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noGrp="1"/>
          </p:cNvSpPr>
          <p:nvPr/>
        </p:nvSpPr>
        <p:spPr>
          <a:xfrm>
            <a:off x="7962900" y="4238625"/>
            <a:ext cx="3543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多轮对比表明原 SIFT + RANSAC + 仿射路径更稳定；优化重点转向缓存、并行和资源释放。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noGrp="1"/>
          </p:cNvSpPr>
          <p:nvPr/>
        </p:nvSpPr>
        <p:spPr>
          <a:xfrm>
            <a:off x="4000500" y="5486400"/>
            <a:ext cx="73342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noGrp="1"/>
          </p:cNvSpPr>
          <p:nvPr/>
        </p:nvSpPr>
        <p:spPr>
          <a:xfrm>
            <a:off x="4000500" y="5495925"/>
            <a:ext cx="733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技术选择：不为了“算法更新”牺牲已验证的对准效果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835AC184-EA64-494B-9C35-029AE19408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5A0BCD84-3C21-4D39-8F24-9AD5E0763BDE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858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AB7D2B-8E04-488A-A671-41471DD10F28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关键路径 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A72BBE-BF0F-475E-8A05-97A89403F424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差分检测同时处理“少印”和“多印”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7B41DC16-CD4A-4B1A-8B6C-8FAC59FAE3B5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0DBA1AB-87C2-40C2-84A1-776C45984068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真实零件三联结果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961B19-0326-43EB-A5C4-DC8F81969613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2450" y="2056139"/>
            <a:ext cx="6286500" cy="2117071"/>
          </a:xfrm>
          <a:prstGeom prst="round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CA00404-79B3-4A0F-938B-CF51FE7C9328}"/>
              </a:ext>
            </a:extLst>
          </p:cNvPr>
          <p:cNvSpPr>
            <a:spLocks noGrp="1"/>
          </p:cNvSpPr>
          <p:nvPr/>
        </p:nvSpPr>
        <p:spPr>
          <a:xfrm>
            <a:off x="552450" y="4467225"/>
            <a:ext cx="6286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2D127D-3260-438E-B6AF-42135BED2478}"/>
              </a:ext>
            </a:extLst>
          </p:cNvPr>
          <p:cNvSpPr>
            <a:spLocks noGrp="1"/>
          </p:cNvSpPr>
          <p:nvPr/>
        </p:nvSpPr>
        <p:spPr>
          <a:xfrm>
            <a:off x="628650" y="4505325"/>
            <a:ext cx="6134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真实证据链：设计二值图 / CIS 判定图 / 差分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91C8638-05D1-4526-9959-BE5EE52F5B0A}"/>
              </a:ext>
            </a:extLst>
          </p:cNvPr>
          <p:cNvSpPr>
            <a:spLocks noGrp="1"/>
          </p:cNvSpPr>
          <p:nvPr/>
        </p:nvSpPr>
        <p:spPr>
          <a:xfrm>
            <a:off x="7219950" y="1428750"/>
            <a:ext cx="2038350" cy="1428750"/>
          </a:xfrm>
          <a:prstGeom prst="roundRect">
            <a:avLst>
              <a:gd name="adj" fmla="val 8000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B41FEB1-3E49-4406-B332-88515CAAEE37}"/>
              </a:ext>
            </a:extLst>
          </p:cNvPr>
          <p:cNvSpPr>
            <a:spLocks noGrp="1"/>
          </p:cNvSpPr>
          <p:nvPr/>
        </p:nvSpPr>
        <p:spPr>
          <a:xfrm>
            <a:off x="7219950" y="1428750"/>
            <a:ext cx="66675" cy="1428750"/>
          </a:xfrm>
          <a:prstGeom prst="rect">
            <a:avLst/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48869AC-F76E-4B44-ACC1-1FBCD8FFD130}"/>
              </a:ext>
            </a:extLst>
          </p:cNvPr>
          <p:cNvSpPr>
            <a:spLocks noGrp="1"/>
          </p:cNvSpPr>
          <p:nvPr/>
        </p:nvSpPr>
        <p:spPr>
          <a:xfrm>
            <a:off x="7410450" y="15811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内部缺失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9AB6B69-CF02-4EC6-B865-E772BFD474B7}"/>
              </a:ext>
            </a:extLst>
          </p:cNvPr>
          <p:cNvSpPr>
            <a:spLocks noGrp="1"/>
          </p:cNvSpPr>
          <p:nvPr/>
        </p:nvSpPr>
        <p:spPr>
          <a:xfrm>
            <a:off x="7410450" y="1952625"/>
            <a:ext cx="1714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306"/>
          </a:bodyPr>
          <a:lstStyle/>
          <a:p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dilate(CIS)</a:t>
            </a:r>
          </a:p>
          <a:p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Alpha − CISdilate</a:t>
            </a:r>
          </a:p>
          <a:p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断墨 / 漏印候选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5A1715D-73B3-4D54-8452-CAC8A2C37237}"/>
              </a:ext>
            </a:extLst>
          </p:cNvPr>
          <p:cNvSpPr>
            <a:spLocks noGrp="1"/>
          </p:cNvSpPr>
          <p:nvPr/>
        </p:nvSpPr>
        <p:spPr>
          <a:xfrm>
            <a:off x="9486900" y="1428750"/>
            <a:ext cx="2152650" cy="1428750"/>
          </a:xfrm>
          <a:prstGeom prst="roundRect">
            <a:avLst>
              <a:gd name="adj" fmla="val 8000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75F680C-1154-49E0-BC37-5F5BD085AAEC}"/>
              </a:ext>
            </a:extLst>
          </p:cNvPr>
          <p:cNvSpPr>
            <a:spLocks noGrp="1"/>
          </p:cNvSpPr>
          <p:nvPr/>
        </p:nvSpPr>
        <p:spPr>
          <a:xfrm>
            <a:off x="9486900" y="1428750"/>
            <a:ext cx="66675" cy="14287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41A836-7FCE-4B09-BE95-7B8E85E23DD6}"/>
              </a:ext>
            </a:extLst>
          </p:cNvPr>
          <p:cNvSpPr>
            <a:spLocks noGrp="1"/>
          </p:cNvSpPr>
          <p:nvPr/>
        </p:nvSpPr>
        <p:spPr>
          <a:xfrm>
            <a:off x="9677400" y="15811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外部多余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55E764B-FF24-4152-9FDB-FF24E6A8A137}"/>
              </a:ext>
            </a:extLst>
          </p:cNvPr>
          <p:cNvSpPr>
            <a:spLocks noGrp="1"/>
          </p:cNvSpPr>
          <p:nvPr/>
        </p:nvSpPr>
        <p:spPr>
          <a:xfrm>
            <a:off x="9677400" y="1952625"/>
            <a:ext cx="18288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8306"/>
          </a:bodyPr>
          <a:lstStyle/>
          <a:p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dilate(Alpha)</a:t>
            </a:r>
          </a:p>
          <a:p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CIS − Alphadilate</a:t>
            </a:r>
          </a:p>
          <a:p>
            <a:pPr algn="l">
              <a:lnSpc>
                <a:spcPct val="116000"/>
              </a:lnSpc>
              <a:buNone/>
              <a:def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飞墨 / 脏污候选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6C00F99-520C-47CF-9ED7-69BBA7EB5FF8}"/>
              </a:ext>
            </a:extLst>
          </p:cNvPr>
          <p:cNvSpPr>
            <a:spLocks noGrp="1"/>
          </p:cNvSpPr>
          <p:nvPr/>
        </p:nvSpPr>
        <p:spPr>
          <a:xfrm>
            <a:off x="7219950" y="3143250"/>
            <a:ext cx="4419600" cy="1123950"/>
          </a:xfrm>
          <a:prstGeom prst="roundRect">
            <a:avLst>
              <a:gd name="adj" fmla="val 10169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2C97636-3C84-43EF-B3EF-DCC65F1FFFFD}"/>
              </a:ext>
            </a:extLst>
          </p:cNvPr>
          <p:cNvSpPr>
            <a:spLocks noGrp="1"/>
          </p:cNvSpPr>
          <p:nvPr/>
        </p:nvSpPr>
        <p:spPr>
          <a:xfrm>
            <a:off x="7219950" y="3143250"/>
            <a:ext cx="66675" cy="112395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BA88BD1-5189-4711-B4B0-8A2836A3B9D5}"/>
              </a:ext>
            </a:extLst>
          </p:cNvPr>
          <p:cNvSpPr>
            <a:spLocks noGrp="1"/>
          </p:cNvSpPr>
          <p:nvPr/>
        </p:nvSpPr>
        <p:spPr>
          <a:xfrm>
            <a:off x="7410450" y="32956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轮廓容差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B0E33DD-0D0A-4D71-826D-D0BA4F8275A6}"/>
              </a:ext>
            </a:extLst>
          </p:cNvPr>
          <p:cNvSpPr>
            <a:spLocks noGrp="1"/>
          </p:cNvSpPr>
          <p:nvPr/>
        </p:nvSpPr>
        <p:spPr>
          <a:xfrm>
            <a:off x="7410450" y="3667125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7194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对设计轮廓设置内外容差，吸收无法完全消除的重采样和配准误差。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DAFF063-6A7E-4AEA-B9FD-3EAB66CB32C9}"/>
              </a:ext>
            </a:extLst>
          </p:cNvPr>
          <p:cNvSpPr>
            <a:spLocks noGrp="1"/>
          </p:cNvSpPr>
          <p:nvPr/>
        </p:nvSpPr>
        <p:spPr>
          <a:xfrm>
            <a:off x="7219950" y="4514850"/>
            <a:ext cx="4419600" cy="1238250"/>
          </a:xfrm>
          <a:prstGeom prst="roundRect">
            <a:avLst>
              <a:gd name="adj" fmla="val 9231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148B22-4799-45BE-B9B5-FF8AE3047226}"/>
              </a:ext>
            </a:extLst>
          </p:cNvPr>
          <p:cNvSpPr>
            <a:spLocks noGrp="1"/>
          </p:cNvSpPr>
          <p:nvPr/>
        </p:nvSpPr>
        <p:spPr>
          <a:xfrm>
            <a:off x="7219950" y="4514850"/>
            <a:ext cx="66675" cy="12382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5635F9C-8CDB-47B8-8958-BF99782B8D3B}"/>
              </a:ext>
            </a:extLst>
          </p:cNvPr>
          <p:cNvSpPr>
            <a:spLocks noGrp="1"/>
          </p:cNvSpPr>
          <p:nvPr/>
        </p:nvSpPr>
        <p:spPr>
          <a:xfrm>
            <a:off x="7410450" y="46672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零件级结论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08D936C-46C8-485E-B31E-76B96B6E5FD6}"/>
              </a:ext>
            </a:extLst>
          </p:cNvPr>
          <p:cNvSpPr>
            <a:spLocks noGrp="1"/>
          </p:cNvSpPr>
          <p:nvPr/>
        </p:nvSpPr>
        <p:spPr>
          <a:xfrm>
            <a:off x="7410450" y="5038725"/>
            <a:ext cx="4095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输出候选位置、面积和数量，并在同一张图中保留缺陷框与差异证据。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FF7531D2-3B94-4790-B52C-DB5FADC3BF2E}"/>
              </a:ext>
            </a:extLst>
          </p:cNvPr>
          <p:cNvSpPr>
            <a:spLocks noGrp="1"/>
          </p:cNvSpPr>
          <p:nvPr/>
        </p:nvSpPr>
        <p:spPr>
          <a:xfrm>
            <a:off x="704850" y="5181600"/>
            <a:ext cx="60007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6C2F33-8815-4E91-ADC9-A97161D40ADB}"/>
              </a:ext>
            </a:extLst>
          </p:cNvPr>
          <p:cNvSpPr>
            <a:spLocks noGrp="1"/>
          </p:cNvSpPr>
          <p:nvPr/>
        </p:nvSpPr>
        <p:spPr>
          <a:xfrm>
            <a:off x="704850" y="5191125"/>
            <a:ext cx="600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普通差分通道负责稳定控制大多数少印、多印与脏污缺陷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1F0ACC4-BA50-424C-BC0A-AECC1FECF5A6}"/>
              </a:ext>
            </a:extLst>
          </p:cNvPr>
          <p:cNvSpPr>
            <a:spLocks noGrp="1"/>
          </p:cNvSpPr>
          <p:nvPr/>
        </p:nvSpPr>
        <p:spPr>
          <a:xfrm>
            <a:off x="704850" y="5638800"/>
            <a:ext cx="600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细小轮廓断裂由独立连续性通道补充，避免与普通面积规则相互牵制</a:t>
            </a:r>
          </a:p>
        </p:txBody>
      </p:sp>
    </p:spTree>
    <p:extLst>
      <p:ext uri="{BB962C8B-B14F-4D97-AF65-F5344CB8AC3E}">
        <p14:creationId xmlns:p14="http://schemas.microsoft.com/office/powerpoint/2010/main" val="1149236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ADF27F8B-4CDD-443B-B14D-0D3689C65A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81C8383-1401-4606-8160-671E8D33B08E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AD5D45-E978-41B1-8283-9F68ED61B43D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核心难点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8AD13E-1783-4560-84AC-C1190B51B472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既要抑制轮廓误报，也不能漏掉真实断线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4C9C452E-31B2-435C-A5E3-6BCF96359DA6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48B1D0-DEB7-4C9E-B5B3-A6800D765C6E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真实细线断裂样例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78F52B-07D3-46FD-9A91-0428CE8B9A89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2450" y="1524000"/>
            <a:ext cx="4857750" cy="3981450"/>
          </a:xfrm>
          <a:prstGeom prst="round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3F141F4-F6E9-4C37-ABF5-A37092246D22}"/>
              </a:ext>
            </a:extLst>
          </p:cNvPr>
          <p:cNvSpPr>
            <a:spLocks noGrp="1"/>
          </p:cNvSpPr>
          <p:nvPr/>
        </p:nvSpPr>
        <p:spPr>
          <a:xfrm>
            <a:off x="552450" y="5172075"/>
            <a:ext cx="485775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F91C92-B2AA-49A8-81D9-B68267270B23}"/>
              </a:ext>
            </a:extLst>
          </p:cNvPr>
          <p:cNvSpPr>
            <a:spLocks noGrp="1"/>
          </p:cNvSpPr>
          <p:nvPr/>
        </p:nvSpPr>
        <p:spPr>
          <a:xfrm>
            <a:off x="628650" y="5210175"/>
            <a:ext cx="4705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左：TIFF 设计细线｜右：CIS 实拍断裂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0027DA8-7D35-4957-AB27-0B108E5C0A80}"/>
              </a:ext>
            </a:extLst>
          </p:cNvPr>
          <p:cNvSpPr>
            <a:spLocks noGrp="1"/>
          </p:cNvSpPr>
          <p:nvPr/>
        </p:nvSpPr>
        <p:spPr>
          <a:xfrm>
            <a:off x="5715000" y="1524000"/>
            <a:ext cx="2800350" cy="1790700"/>
          </a:xfrm>
          <a:prstGeom prst="roundRect">
            <a:avLst>
              <a:gd name="adj" fmla="val 638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28155F-CF75-4D1F-8C3D-325B3ECB7FB1}"/>
              </a:ext>
            </a:extLst>
          </p:cNvPr>
          <p:cNvSpPr>
            <a:spLocks noGrp="1"/>
          </p:cNvSpPr>
          <p:nvPr/>
        </p:nvSpPr>
        <p:spPr>
          <a:xfrm>
            <a:off x="5715000" y="1524000"/>
            <a:ext cx="66675" cy="17907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8C7F89-C066-4F63-9482-BED408918252}"/>
              </a:ext>
            </a:extLst>
          </p:cNvPr>
          <p:cNvSpPr>
            <a:spLocks noGrp="1"/>
          </p:cNvSpPr>
          <p:nvPr/>
        </p:nvSpPr>
        <p:spPr>
          <a:xfrm>
            <a:off x="5905500" y="16764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01 误报来自轮廓错位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D82519-E64A-4D5C-89AD-68ACDC506C29}"/>
              </a:ext>
            </a:extLst>
          </p:cNvPr>
          <p:cNvSpPr>
            <a:spLocks noGrp="1"/>
          </p:cNvSpPr>
          <p:nvPr/>
        </p:nvSpPr>
        <p:spPr>
          <a:xfrm>
            <a:off x="5905500" y="2047875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即使完成二次配准，重采样和轻微形变仍可能在边缘留下细轮廓。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E4C1122-7AFF-4C5C-8B42-F6211C0B6B98}"/>
              </a:ext>
            </a:extLst>
          </p:cNvPr>
          <p:cNvSpPr>
            <a:spLocks noGrp="1"/>
          </p:cNvSpPr>
          <p:nvPr/>
        </p:nvSpPr>
        <p:spPr>
          <a:xfrm>
            <a:off x="8743950" y="1524000"/>
            <a:ext cx="2800350" cy="1790700"/>
          </a:xfrm>
          <a:prstGeom prst="roundRect">
            <a:avLst>
              <a:gd name="adj" fmla="val 638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2BF21F-E142-4A2F-A26F-F0C35F59C4CB}"/>
              </a:ext>
            </a:extLst>
          </p:cNvPr>
          <p:cNvSpPr>
            <a:spLocks noGrp="1"/>
          </p:cNvSpPr>
          <p:nvPr/>
        </p:nvSpPr>
        <p:spPr>
          <a:xfrm>
            <a:off x="8743950" y="1524000"/>
            <a:ext cx="66675" cy="179070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171BD03-30A0-4A78-80CE-6D5FDB10FC0E}"/>
              </a:ext>
            </a:extLst>
          </p:cNvPr>
          <p:cNvSpPr>
            <a:spLocks noGrp="1"/>
          </p:cNvSpPr>
          <p:nvPr/>
        </p:nvSpPr>
        <p:spPr>
          <a:xfrm>
            <a:off x="8934450" y="16764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 传统措施是边缘屏蔽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9DCEE40-B111-4913-B100-93726C70BABD}"/>
              </a:ext>
            </a:extLst>
          </p:cNvPr>
          <p:cNvSpPr>
            <a:spLocks noGrp="1"/>
          </p:cNvSpPr>
          <p:nvPr/>
        </p:nvSpPr>
        <p:spPr>
          <a:xfrm>
            <a:off x="8934450" y="2047875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内外轮廓容差能显著压低误报，是普通差分稳定运行的基础。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BF68B2B-B076-49A7-A66D-564C23541D2E}"/>
              </a:ext>
            </a:extLst>
          </p:cNvPr>
          <p:cNvSpPr>
            <a:spLocks noGrp="1"/>
          </p:cNvSpPr>
          <p:nvPr/>
        </p:nvSpPr>
        <p:spPr>
          <a:xfrm>
            <a:off x="5715000" y="3562350"/>
            <a:ext cx="2800350" cy="1790700"/>
          </a:xfrm>
          <a:prstGeom prst="roundRect">
            <a:avLst>
              <a:gd name="adj" fmla="val 638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57316E1-C26F-4591-8988-28741F427484}"/>
              </a:ext>
            </a:extLst>
          </p:cNvPr>
          <p:cNvSpPr>
            <a:spLocks noGrp="1"/>
          </p:cNvSpPr>
          <p:nvPr/>
        </p:nvSpPr>
        <p:spPr>
          <a:xfrm>
            <a:off x="5715000" y="3562350"/>
            <a:ext cx="66675" cy="179070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B2C423-A074-4481-A54B-1B964588B139}"/>
              </a:ext>
            </a:extLst>
          </p:cNvPr>
          <p:cNvSpPr>
            <a:spLocks noGrp="1"/>
          </p:cNvSpPr>
          <p:nvPr/>
        </p:nvSpPr>
        <p:spPr>
          <a:xfrm>
            <a:off x="5905500" y="37147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03 新风险是遮住真断线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A3227FB-4C4D-4180-A57B-510D4DFC5470}"/>
              </a:ext>
            </a:extLst>
          </p:cNvPr>
          <p:cNvSpPr>
            <a:spLocks noGrp="1"/>
          </p:cNvSpPr>
          <p:nvPr/>
        </p:nvSpPr>
        <p:spPr>
          <a:xfrm>
            <a:off x="5905500" y="4086225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原图案本身很细，断裂恰好位于屏蔽带内时，普通差分会被清零。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FAD8ED0-4448-4E8D-8FAF-895664B1DC46}"/>
              </a:ext>
            </a:extLst>
          </p:cNvPr>
          <p:cNvSpPr>
            <a:spLocks noGrp="1"/>
          </p:cNvSpPr>
          <p:nvPr/>
        </p:nvSpPr>
        <p:spPr>
          <a:xfrm>
            <a:off x="8743950" y="3562350"/>
            <a:ext cx="2800350" cy="1790700"/>
          </a:xfrm>
          <a:prstGeom prst="roundRect">
            <a:avLst>
              <a:gd name="adj" fmla="val 638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1AC6668-17B7-4C27-8B78-CD8308BE5EA1}"/>
              </a:ext>
            </a:extLst>
          </p:cNvPr>
          <p:cNvSpPr>
            <a:spLocks noGrp="1"/>
          </p:cNvSpPr>
          <p:nvPr/>
        </p:nvSpPr>
        <p:spPr>
          <a:xfrm>
            <a:off x="8743950" y="3562350"/>
            <a:ext cx="66675" cy="17907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E7580F6-B81F-4B0A-88DD-F299ABE20DBF}"/>
              </a:ext>
            </a:extLst>
          </p:cNvPr>
          <p:cNvSpPr>
            <a:spLocks noGrp="1"/>
          </p:cNvSpPr>
          <p:nvPr/>
        </p:nvSpPr>
        <p:spPr>
          <a:xfrm>
            <a:off x="8934450" y="37147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04 先减误报，再查断线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C218E01-1CA5-4AB5-AA15-FC496B91F311}"/>
              </a:ext>
            </a:extLst>
          </p:cNvPr>
          <p:cNvSpPr>
            <a:spLocks noGrp="1"/>
          </p:cNvSpPr>
          <p:nvPr/>
        </p:nvSpPr>
        <p:spPr>
          <a:xfrm>
            <a:off x="8934450" y="4086225"/>
            <a:ext cx="247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先屏蔽边缘假轮廓，减少误报；再单独检查设计细线是否断开，补回真实缺陷。</a:t>
            </a:r>
          </a:p>
        </p:txBody>
      </p:sp>
    </p:spTree>
    <p:extLst>
      <p:ext uri="{BB962C8B-B14F-4D97-AF65-F5344CB8AC3E}">
        <p14:creationId xmlns:p14="http://schemas.microsoft.com/office/powerpoint/2010/main" val="536653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858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最新优化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细线断裂的判定：中间缺一段，两侧仍有线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来源：FineLineFolder6Probe 与正式检测结果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52450" y="1504950"/>
            <a:ext cx="2857500" cy="2000250"/>
          </a:xfrm>
          <a:prstGeom prst="round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noGrp="1"/>
          </p:cNvSpPr>
          <p:nvPr/>
        </p:nvSpPr>
        <p:spPr>
          <a:xfrm>
            <a:off x="552450" y="3171825"/>
            <a:ext cx="2857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noGrp="1"/>
          </p:cNvSpPr>
          <p:nvPr/>
        </p:nvSpPr>
        <p:spPr>
          <a:xfrm>
            <a:off x="628650" y="3209925"/>
            <a:ext cx="2705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假缺口：错位后仍然连通</a:t>
            </a: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52450" y="3733800"/>
            <a:ext cx="2857500" cy="2000250"/>
          </a:xfrm>
          <a:prstGeom prst="round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noGrp="1"/>
          </p:cNvSpPr>
          <p:nvPr/>
        </p:nvSpPr>
        <p:spPr>
          <a:xfrm>
            <a:off x="552450" y="5400675"/>
            <a:ext cx="2857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noGrp="1"/>
          </p:cNvSpPr>
          <p:nvPr/>
        </p:nvSpPr>
        <p:spPr>
          <a:xfrm>
            <a:off x="628650" y="5438775"/>
            <a:ext cx="2705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真断裂：中间确实缺一段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noGrp="1"/>
          </p:cNvSpPr>
          <p:nvPr/>
        </p:nvSpPr>
        <p:spPr>
          <a:xfrm>
            <a:off x="48768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noGrp="1"/>
          </p:cNvSpPr>
          <p:nvPr/>
        </p:nvSpPr>
        <p:spPr>
          <a:xfrm>
            <a:off x="66675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noGrp="1"/>
          </p:cNvSpPr>
          <p:nvPr/>
        </p:nvSpPr>
        <p:spPr>
          <a:xfrm>
            <a:off x="84582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1162050" cy="1200150"/>
          </a:xfrm>
          <a:prstGeom prst="roundRect">
            <a:avLst>
              <a:gd name="adj" fmla="val 9836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66675" cy="120015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noGrp="1"/>
          </p:cNvSpPr>
          <p:nvPr/>
        </p:nvSpPr>
        <p:spPr>
          <a:xfrm>
            <a:off x="3905250" y="2152650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限定范围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noGrp="1"/>
          </p:cNvSpPr>
          <p:nvPr/>
        </p:nvSpPr>
        <p:spPr>
          <a:xfrm>
            <a:off x="3905250" y="2524125"/>
            <a:ext cx="838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328" lnSpcReduction="20000"/>
          </a:bodyPr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只看屏蔽区</a:t>
            </a:r>
          </a:p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内的设计细线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noGrp="1"/>
          </p:cNvSpPr>
          <p:nvPr/>
        </p:nvSpPr>
        <p:spPr>
          <a:xfrm>
            <a:off x="5181600" y="2000250"/>
            <a:ext cx="14859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noGrp="1"/>
          </p:cNvSpPr>
          <p:nvPr/>
        </p:nvSpPr>
        <p:spPr>
          <a:xfrm>
            <a:off x="5181600" y="2000250"/>
            <a:ext cx="66675" cy="12001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noGrp="1"/>
          </p:cNvSpPr>
          <p:nvPr/>
        </p:nvSpPr>
        <p:spPr>
          <a:xfrm>
            <a:off x="5372100" y="21526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定义缺口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noGrp="1"/>
          </p:cNvSpPr>
          <p:nvPr/>
        </p:nvSpPr>
        <p:spPr>
          <a:xfrm>
            <a:off x="5372100" y="2524125"/>
            <a:ext cx="1162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TIFF 有线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CIS 连续缺失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noGrp="1"/>
          </p:cNvSpPr>
          <p:nvPr/>
        </p:nvSpPr>
        <p:spPr>
          <a:xfrm>
            <a:off x="6972300" y="2000250"/>
            <a:ext cx="14859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noGrp="1"/>
          </p:cNvSpPr>
          <p:nvPr/>
        </p:nvSpPr>
        <p:spPr>
          <a:xfrm>
            <a:off x="6972300" y="2000250"/>
            <a:ext cx="66675" cy="12001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noGrp="1"/>
          </p:cNvSpPr>
          <p:nvPr/>
        </p:nvSpPr>
        <p:spPr>
          <a:xfrm>
            <a:off x="7162800" y="21526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427"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确认尺寸门槛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noGrp="1"/>
          </p:cNvSpPr>
          <p:nvPr/>
        </p:nvSpPr>
        <p:spPr>
          <a:xfrm>
            <a:off x="7162800" y="2524125"/>
            <a:ext cx="1162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长度≥0.5 mm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线宽≤2 mm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16383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66675" cy="12001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noGrp="1"/>
          </p:cNvSpPr>
          <p:nvPr/>
        </p:nvSpPr>
        <p:spPr>
          <a:xfrm>
            <a:off x="8953500" y="21526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确认两侧线段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noGrp="1"/>
          </p:cNvSpPr>
          <p:nvPr/>
        </p:nvSpPr>
        <p:spPr>
          <a:xfrm>
            <a:off x="8953500" y="2524125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缺口前后
都有同一条线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noGrp="1"/>
          </p:cNvSpPr>
          <p:nvPr/>
        </p:nvSpPr>
        <p:spPr>
          <a:xfrm>
            <a:off x="10553700" y="2000250"/>
            <a:ext cx="1085850" cy="1200150"/>
          </a:xfrm>
          <a:prstGeom prst="roundRect">
            <a:avLst>
              <a:gd name="adj" fmla="val 10526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noGrp="1"/>
          </p:cNvSpPr>
          <p:nvPr/>
        </p:nvSpPr>
        <p:spPr>
          <a:xfrm>
            <a:off x="10553700" y="2000250"/>
            <a:ext cx="66675" cy="12001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noGrp="1"/>
          </p:cNvSpPr>
          <p:nvPr/>
        </p:nvSpPr>
        <p:spPr>
          <a:xfrm>
            <a:off x="10744200" y="215265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2578" lnSpcReduction="10000"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排除假断线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noGrp="1"/>
          </p:cNvSpPr>
          <p:nvPr/>
        </p:nvSpPr>
        <p:spPr>
          <a:xfrm>
            <a:off x="10744200" y="2524125"/>
            <a:ext cx="76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平移或连通</a:t>
            </a:r>
          </a:p>
          <a:p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则不报缺陷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noGrp="1"/>
          </p:cNvSpPr>
          <p:nvPr/>
        </p:nvSpPr>
        <p:spPr>
          <a:xfrm>
            <a:off x="3714750" y="3714750"/>
            <a:ext cx="379095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noGrp="1"/>
          </p:cNvSpPr>
          <p:nvPr/>
        </p:nvSpPr>
        <p:spPr>
          <a:xfrm>
            <a:off x="3714750" y="3714750"/>
            <a:ext cx="66675" cy="15049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noGrp="1"/>
          </p:cNvSpPr>
          <p:nvPr/>
        </p:nvSpPr>
        <p:spPr>
          <a:xfrm>
            <a:off x="3905250" y="3867150"/>
            <a:ext cx="346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缺口的具体定义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noGrp="1"/>
          </p:cNvSpPr>
          <p:nvPr/>
        </p:nvSpPr>
        <p:spPr>
          <a:xfrm>
            <a:off x="3905250" y="4238625"/>
            <a:ext cx="3467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TIFF 本应有细线，而 CIS 沿线方向连续少了一段；该段达到最小长度，并且属于细线范围。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noGrp="1"/>
          </p:cNvSpPr>
          <p:nvPr/>
        </p:nvSpPr>
        <p:spPr>
          <a:xfrm>
            <a:off x="7772400" y="3714750"/>
            <a:ext cx="386715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noGrp="1"/>
          </p:cNvSpPr>
          <p:nvPr/>
        </p:nvSpPr>
        <p:spPr>
          <a:xfrm>
            <a:off x="7772400" y="3714750"/>
            <a:ext cx="66675" cy="15049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noGrp="1"/>
          </p:cNvSpPr>
          <p:nvPr/>
        </p:nvSpPr>
        <p:spPr>
          <a:xfrm>
            <a:off x="7962900" y="386715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“两侧仍有线”是什么意思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noGrp="1"/>
          </p:cNvSpPr>
          <p:nvPr/>
        </p:nvSpPr>
        <p:spPr>
          <a:xfrm>
            <a:off x="7962900" y="4238625"/>
            <a:ext cx="3543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沿同一条设计线，缺口前后都还有线段，CIS 两侧也能看到对应线条；说明只是中间断开，不是整条线消失。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noGrp="1"/>
          </p:cNvSpPr>
          <p:nvPr/>
        </p:nvSpPr>
        <p:spPr>
          <a:xfrm>
            <a:off x="4000500" y="5486400"/>
            <a:ext cx="73342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noGrp="1"/>
          </p:cNvSpPr>
          <p:nvPr/>
        </p:nvSpPr>
        <p:spPr>
          <a:xfrm>
            <a:off x="4000500" y="5495925"/>
            <a:ext cx="733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最终判定：缺口达标 + 两侧线段存在 + 无法用平移或绕行连接解释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5ECF4464-2A8F-4134-834B-7447190572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B538D3D-946A-483E-80EA-9A190F8A4F63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858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617E1F-056A-43F8-BC11-2FE25944BC52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真实案例 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22F417-B9FC-4145-8E20-29472C010353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291：右侧细线断裂被定位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0D7A9E2B-1E25-4A7D-936D-029E6F426BD2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71EA303-D16E-4E82-B4DA-97B4FB3A544B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来源：moreMarks\6 · 291c1994cb7048d0a3ff72fffc3c15c4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3C1893-E9C7-4C8D-B9B0-9042B1C67BE9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3"/>
          <a:srcRect l="92500" t="43000" r="500" b="48000"/>
          <a:stretch>
            <a:fillRect/>
          </a:stretch>
        </p:blipFill>
        <p:spPr>
          <a:xfrm>
            <a:off x="552450" y="1504950"/>
            <a:ext cx="2857500" cy="2000250"/>
          </a:xfrm>
          <a:prstGeom prst="round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EBB80FF-D967-449B-8017-0B9B657CCB19}"/>
              </a:ext>
            </a:extLst>
          </p:cNvPr>
          <p:cNvSpPr>
            <a:spLocks noGrp="1"/>
          </p:cNvSpPr>
          <p:nvPr/>
        </p:nvSpPr>
        <p:spPr>
          <a:xfrm>
            <a:off x="552450" y="3171825"/>
            <a:ext cx="2857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F0CDB9-2F9E-43A4-AC50-AF3A028460AB}"/>
              </a:ext>
            </a:extLst>
          </p:cNvPr>
          <p:cNvSpPr>
            <a:spLocks noGrp="1"/>
          </p:cNvSpPr>
          <p:nvPr/>
        </p:nvSpPr>
        <p:spPr>
          <a:xfrm>
            <a:off x="628650" y="3209925"/>
            <a:ext cx="2705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CIS 原图断裂近景</a:t>
            </a: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4"/>
          <a:srcRect l="59000" t="31000" r="33300" b="31000"/>
          <a:stretch>
            <a:fillRect/>
          </a:stretch>
        </p:blipFill>
        <p:spPr>
          <a:xfrm>
            <a:off x="552450" y="3733800"/>
            <a:ext cx="2857500" cy="2000250"/>
          </a:xfrm>
          <a:prstGeom prst="round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4836C1C4-DEA1-49A0-9D80-1A0A9558E486}"/>
              </a:ext>
            </a:extLst>
          </p:cNvPr>
          <p:cNvSpPr>
            <a:spLocks noGrp="1"/>
          </p:cNvSpPr>
          <p:nvPr/>
        </p:nvSpPr>
        <p:spPr>
          <a:xfrm>
            <a:off x="552450" y="5400675"/>
            <a:ext cx="2857500" cy="333375"/>
          </a:xfrm>
          <a:prstGeom prst="rect">
            <a:avLst/>
          </a:prstGeom>
          <a:solidFill>
            <a:srgbClr val="071421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A8550C-21D7-4365-98AB-AB87074A6AFD}"/>
              </a:ext>
            </a:extLst>
          </p:cNvPr>
          <p:cNvSpPr>
            <a:spLocks noGrp="1"/>
          </p:cNvSpPr>
          <p:nvPr/>
        </p:nvSpPr>
        <p:spPr>
          <a:xfrm>
            <a:off x="628650" y="5438775"/>
            <a:ext cx="2705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正式检测框选结果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1BC6A7C7-3632-4A29-972C-6D4E92FD6C7E}"/>
              </a:ext>
            </a:extLst>
          </p:cNvPr>
          <p:cNvSpPr>
            <a:spLocks noGrp="1"/>
          </p:cNvSpPr>
          <p:nvPr/>
        </p:nvSpPr>
        <p:spPr>
          <a:xfrm>
            <a:off x="48768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0431D83D-13B7-4550-B9F3-6D5D12E0B842}"/>
              </a:ext>
            </a:extLst>
          </p:cNvPr>
          <p:cNvSpPr>
            <a:spLocks noGrp="1"/>
          </p:cNvSpPr>
          <p:nvPr/>
        </p:nvSpPr>
        <p:spPr>
          <a:xfrm>
            <a:off x="66675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3E6499BC-308F-4F17-B491-61FCEFD4A45F}"/>
              </a:ext>
            </a:extLst>
          </p:cNvPr>
          <p:cNvSpPr>
            <a:spLocks noGrp="1"/>
          </p:cNvSpPr>
          <p:nvPr/>
        </p:nvSpPr>
        <p:spPr>
          <a:xfrm>
            <a:off x="8458200" y="2486025"/>
            <a:ext cx="304800" cy="209550"/>
          </a:xfrm>
          <a:prstGeom prst="rightArrow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1EC20D1-488C-4437-B81C-5065E8EF1BB5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1162050" cy="1200150"/>
          </a:xfrm>
          <a:prstGeom prst="roundRect">
            <a:avLst>
              <a:gd name="adj" fmla="val 9836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4DE2905-B509-4DEB-9188-3AE5EAC19138}"/>
              </a:ext>
            </a:extLst>
          </p:cNvPr>
          <p:cNvSpPr>
            <a:spLocks noGrp="1"/>
          </p:cNvSpPr>
          <p:nvPr/>
        </p:nvSpPr>
        <p:spPr>
          <a:xfrm>
            <a:off x="3714750" y="2000250"/>
            <a:ext cx="66675" cy="120015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B9E474-56ED-4DB2-860A-96694EBF47AB}"/>
              </a:ext>
            </a:extLst>
          </p:cNvPr>
          <p:cNvSpPr>
            <a:spLocks noGrp="1"/>
          </p:cNvSpPr>
          <p:nvPr/>
        </p:nvSpPr>
        <p:spPr>
          <a:xfrm>
            <a:off x="3905250" y="2152650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真实断裂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E7C91C-7A65-4787-A0A2-C5103F892CB4}"/>
              </a:ext>
            </a:extLst>
          </p:cNvPr>
          <p:cNvSpPr>
            <a:spLocks noGrp="1"/>
          </p:cNvSpPr>
          <p:nvPr/>
        </p:nvSpPr>
        <p:spPr>
          <a:xfrm>
            <a:off x="3905250" y="2524125"/>
            <a:ext cx="8382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CIS 局部</a:t>
            </a:r>
          </a:p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真实缺口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A3787C-3329-43C3-933D-3FC5FDF0E857}"/>
              </a:ext>
            </a:extLst>
          </p:cNvPr>
          <p:cNvSpPr>
            <a:spLocks noGrp="1"/>
          </p:cNvSpPr>
          <p:nvPr/>
        </p:nvSpPr>
        <p:spPr>
          <a:xfrm>
            <a:off x="5181600" y="2000250"/>
            <a:ext cx="14859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0E0618-9FA8-47EB-8787-576AA55997A9}"/>
              </a:ext>
            </a:extLst>
          </p:cNvPr>
          <p:cNvSpPr>
            <a:spLocks noGrp="1"/>
          </p:cNvSpPr>
          <p:nvPr/>
        </p:nvSpPr>
        <p:spPr>
          <a:xfrm>
            <a:off x="5181600" y="2000250"/>
            <a:ext cx="66675" cy="12001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E02F4D9-117D-4BF0-AD0D-4BA8C160E7FF}"/>
              </a:ext>
            </a:extLst>
          </p:cNvPr>
          <p:cNvSpPr>
            <a:spLocks noGrp="1"/>
          </p:cNvSpPr>
          <p:nvPr/>
        </p:nvSpPr>
        <p:spPr>
          <a:xfrm>
            <a:off x="5372100" y="21526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位于右侧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F685BD-FBEF-4336-8AE9-C734F9C2D178}"/>
              </a:ext>
            </a:extLst>
          </p:cNvPr>
          <p:cNvSpPr>
            <a:spLocks noGrp="1"/>
          </p:cNvSpPr>
          <p:nvPr/>
        </p:nvSpPr>
        <p:spPr>
          <a:xfrm>
            <a:off x="5372100" y="2524125"/>
            <a:ext cx="1162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与设计细线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对应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F6F21CE3-D77D-4BCA-A36C-CAB0E4732EC2}"/>
              </a:ext>
            </a:extLst>
          </p:cNvPr>
          <p:cNvSpPr>
            <a:spLocks noGrp="1"/>
          </p:cNvSpPr>
          <p:nvPr/>
        </p:nvSpPr>
        <p:spPr>
          <a:xfrm>
            <a:off x="6972300" y="2000250"/>
            <a:ext cx="14859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C1CEC1-82B2-49E9-BDB9-B7F5D4BCC3D8}"/>
              </a:ext>
            </a:extLst>
          </p:cNvPr>
          <p:cNvSpPr>
            <a:spLocks noGrp="1"/>
          </p:cNvSpPr>
          <p:nvPr/>
        </p:nvSpPr>
        <p:spPr>
          <a:xfrm>
            <a:off x="6972300" y="2000250"/>
            <a:ext cx="66675" cy="12001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2EADAA0-5D88-4CE7-A71E-DECF3B805E47}"/>
              </a:ext>
            </a:extLst>
          </p:cNvPr>
          <p:cNvSpPr>
            <a:spLocks noGrp="1"/>
          </p:cNvSpPr>
          <p:nvPr/>
        </p:nvSpPr>
        <p:spPr>
          <a:xfrm>
            <a:off x="7162800" y="2152650"/>
            <a:ext cx="1162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落在边缘带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91D4C4-9DA7-48E6-AE6B-D93F52182B60}"/>
              </a:ext>
            </a:extLst>
          </p:cNvPr>
          <p:cNvSpPr>
            <a:spLocks noGrp="1"/>
          </p:cNvSpPr>
          <p:nvPr/>
        </p:nvSpPr>
        <p:spPr>
          <a:xfrm>
            <a:off x="7162800" y="2524125"/>
            <a:ext cx="11620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原屏蔽区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易漏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DAF3A89-D953-4BA0-B80A-BE7028309254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1638300" cy="1200150"/>
          </a:xfrm>
          <a:prstGeom prst="roundRect">
            <a:avLst>
              <a:gd name="adj" fmla="val 952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3C6080-AD87-41CD-87DD-71E337989914}"/>
              </a:ext>
            </a:extLst>
          </p:cNvPr>
          <p:cNvSpPr>
            <a:spLocks noGrp="1"/>
          </p:cNvSpPr>
          <p:nvPr/>
        </p:nvSpPr>
        <p:spPr>
          <a:xfrm>
            <a:off x="8763000" y="2000250"/>
            <a:ext cx="66675" cy="12001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F871448-4F05-4D91-A497-0B854EE12D62}"/>
              </a:ext>
            </a:extLst>
          </p:cNvPr>
          <p:cNvSpPr>
            <a:spLocks noGrp="1"/>
          </p:cNvSpPr>
          <p:nvPr/>
        </p:nvSpPr>
        <p:spPr>
          <a:xfrm>
            <a:off x="8953500" y="2152650"/>
            <a:ext cx="1314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连续性复核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7531FB-68A9-419A-BD8D-B47A2AF4B7C3}"/>
              </a:ext>
            </a:extLst>
          </p:cNvPr>
          <p:cNvSpPr>
            <a:spLocks noGrp="1"/>
          </p:cNvSpPr>
          <p:nvPr/>
        </p:nvSpPr>
        <p:spPr>
          <a:xfrm>
            <a:off x="8953500" y="2524125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缺口两端仍连通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2189E29-DF02-4B0E-894F-453682657EE1}"/>
              </a:ext>
            </a:extLst>
          </p:cNvPr>
          <p:cNvSpPr>
            <a:spLocks noGrp="1"/>
          </p:cNvSpPr>
          <p:nvPr/>
        </p:nvSpPr>
        <p:spPr>
          <a:xfrm>
            <a:off x="10553700" y="2000250"/>
            <a:ext cx="1085850" cy="1200150"/>
          </a:xfrm>
          <a:prstGeom prst="roundRect">
            <a:avLst>
              <a:gd name="adj" fmla="val 10526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A93C946-5014-4048-ACF8-949460DED1C0}"/>
              </a:ext>
            </a:extLst>
          </p:cNvPr>
          <p:cNvSpPr>
            <a:spLocks noGrp="1"/>
          </p:cNvSpPr>
          <p:nvPr/>
        </p:nvSpPr>
        <p:spPr>
          <a:xfrm>
            <a:off x="10553700" y="2000250"/>
            <a:ext cx="66675" cy="12001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DEE404F-8DA4-4C56-B38D-A8D0B02088A6}"/>
              </a:ext>
            </a:extLst>
          </p:cNvPr>
          <p:cNvSpPr>
            <a:spLocks noGrp="1"/>
          </p:cNvSpPr>
          <p:nvPr/>
        </p:nvSpPr>
        <p:spPr>
          <a:xfrm>
            <a:off x="10744200" y="2152650"/>
            <a:ext cx="76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输出坐标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205E9B2-3D16-4E5B-8E07-76912E222E8D}"/>
              </a:ext>
            </a:extLst>
          </p:cNvPr>
          <p:cNvSpPr>
            <a:spLocks noGrp="1"/>
          </p:cNvSpPr>
          <p:nvPr/>
        </p:nvSpPr>
        <p:spPr>
          <a:xfrm>
            <a:off x="10744200" y="2524125"/>
            <a:ext cx="76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进入缺陷</a:t>
            </a:r>
          </a:p>
          <a:p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5C86CAC-3A56-41E9-B205-493C08169D24}"/>
              </a:ext>
            </a:extLst>
          </p:cNvPr>
          <p:cNvSpPr>
            <a:spLocks noGrp="1"/>
          </p:cNvSpPr>
          <p:nvPr/>
        </p:nvSpPr>
        <p:spPr>
          <a:xfrm>
            <a:off x="3714750" y="3714750"/>
            <a:ext cx="379095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75DBEE0-0AE8-4970-99C3-F972C080B4EB}"/>
              </a:ext>
            </a:extLst>
          </p:cNvPr>
          <p:cNvSpPr>
            <a:spLocks noGrp="1"/>
          </p:cNvSpPr>
          <p:nvPr/>
        </p:nvSpPr>
        <p:spPr>
          <a:xfrm>
            <a:off x="3714750" y="3714750"/>
            <a:ext cx="66675" cy="15049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C0542A1-64B5-4422-AF9F-F073F177A47D}"/>
              </a:ext>
            </a:extLst>
          </p:cNvPr>
          <p:cNvSpPr>
            <a:spLocks noGrp="1"/>
          </p:cNvSpPr>
          <p:nvPr/>
        </p:nvSpPr>
        <p:spPr>
          <a:xfrm>
            <a:off x="3905250" y="3867150"/>
            <a:ext cx="3467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检出意义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9525B9F-AD31-455F-BEFE-329FDF53BFFC}"/>
              </a:ext>
            </a:extLst>
          </p:cNvPr>
          <p:cNvSpPr>
            <a:spLocks noGrp="1"/>
          </p:cNvSpPr>
          <p:nvPr/>
        </p:nvSpPr>
        <p:spPr>
          <a:xfrm>
            <a:off x="3905250" y="4238625"/>
            <a:ext cx="34671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该缺口位于原轮廓屏蔽区域，过去可能被清零；现在由独立细线通道补回。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9B9AF64-23AF-45C7-9044-55569C2AAF4A}"/>
              </a:ext>
            </a:extLst>
          </p:cNvPr>
          <p:cNvSpPr>
            <a:spLocks noGrp="1"/>
          </p:cNvSpPr>
          <p:nvPr/>
        </p:nvSpPr>
        <p:spPr>
          <a:xfrm>
            <a:off x="7772400" y="3714750"/>
            <a:ext cx="3867150" cy="1504950"/>
          </a:xfrm>
          <a:prstGeom prst="roundRect">
            <a:avLst>
              <a:gd name="adj" fmla="val 759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B4E0235-BEDA-43F2-AFFA-BC0D12494C59}"/>
              </a:ext>
            </a:extLst>
          </p:cNvPr>
          <p:cNvSpPr>
            <a:spLocks noGrp="1"/>
          </p:cNvSpPr>
          <p:nvPr/>
        </p:nvSpPr>
        <p:spPr>
          <a:xfrm>
            <a:off x="7772400" y="3714750"/>
            <a:ext cx="66675" cy="15049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67CFB98-DDCD-40BF-A042-A1A30D51BFBD}"/>
              </a:ext>
            </a:extLst>
          </p:cNvPr>
          <p:cNvSpPr>
            <a:spLocks noGrp="1"/>
          </p:cNvSpPr>
          <p:nvPr/>
        </p:nvSpPr>
        <p:spPr>
          <a:xfrm>
            <a:off x="7962900" y="3867150"/>
            <a:ext cx="3543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判断依据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DEBA95A-B245-4D7E-907F-8446338E3CA1}"/>
              </a:ext>
            </a:extLst>
          </p:cNvPr>
          <p:cNvSpPr>
            <a:spLocks noGrp="1"/>
          </p:cNvSpPr>
          <p:nvPr/>
        </p:nvSpPr>
        <p:spPr>
          <a:xfrm>
            <a:off x="7962900" y="4238625"/>
            <a:ext cx="3543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不是只看灰度深浅，而是同时检查设计细线、连续缺口长度和两端结构支撑。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49C0F7D5-0774-4118-9D20-08E901D33126}"/>
              </a:ext>
            </a:extLst>
          </p:cNvPr>
          <p:cNvSpPr>
            <a:spLocks noGrp="1"/>
          </p:cNvSpPr>
          <p:nvPr/>
        </p:nvSpPr>
        <p:spPr>
          <a:xfrm>
            <a:off x="4000500" y="5486400"/>
            <a:ext cx="733425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1F6BE2B-A99E-43AD-83C8-A6020633ED45}"/>
              </a:ext>
            </a:extLst>
          </p:cNvPr>
          <p:cNvSpPr>
            <a:spLocks noGrp="1"/>
          </p:cNvSpPr>
          <p:nvPr/>
        </p:nvSpPr>
        <p:spPr>
          <a:xfrm>
            <a:off x="4000500" y="5495925"/>
            <a:ext cx="7334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紫色框：细线断裂通道输出｜样例来源：moreMarks\6</a:t>
            </a:r>
          </a:p>
        </p:txBody>
      </p:sp>
    </p:spTree>
    <p:extLst>
      <p:ext uri="{BB962C8B-B14F-4D97-AF65-F5344CB8AC3E}">
        <p14:creationId xmlns:p14="http://schemas.microsoft.com/office/powerpoint/2010/main" val="494430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工艺监控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新增白墨墨量检测：在缺陷检测前发现供墨异常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来源：ImageAligner、InspectionJobRunner 与真实白墨样本回归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12A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启动与定位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095920D-02EA-4A01-AE83-8232F2E87CA6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B9401B-4D1F-4086-A317-D2EDA6AAD531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66675" cy="1066800"/>
          </a:xfrm>
          <a:prstGeom prst="rect">
            <a:avLst/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56AFF8-3FF3-4E60-8AFF-6CE525B6AC74}"/>
              </a:ext>
            </a:extLst>
          </p:cNvPr>
          <p:cNvSpPr>
            <a:spLocks noGrp="1"/>
          </p:cNvSpPr>
          <p:nvPr/>
        </p:nvSpPr>
        <p:spPr>
          <a:xfrm>
            <a:off x="742950" y="20193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01 功能开关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07B87B-485C-4828-962C-25E0F43B2E0E}"/>
              </a:ext>
            </a:extLst>
          </p:cNvPr>
          <p:cNvSpPr>
            <a:spLocks noGrp="1"/>
          </p:cNvSpPr>
          <p:nvPr/>
        </p:nvSpPr>
        <p:spPr>
          <a:xfrm>
            <a:off x="742950" y="23907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系统设置独立启用；关闭时不改变原流程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96DD7BD-BF7D-42E9-969B-75514B8D9B44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46D39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F8114B-FF70-411F-852B-FDE03EC8F9DD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66675" cy="10668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419EDE-FB9F-402B-A368-55380EA0555B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02 定位 Bottom 区域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5E6CA3-1A05-422D-8D11-AC10F1C8D37C}"/>
              </a:ext>
            </a:extLst>
          </p:cNvPr>
          <p:cNvSpPr>
            <a:spLocks noGrp="1"/>
          </p:cNvSpPr>
          <p:nvPr/>
        </p:nvSpPr>
        <p:spPr>
          <a:xfrm>
            <a:off x="742950" y="362902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由第二二维码锁定底排 Mark 条带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F7BD3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66675" cy="1066800"/>
          </a:xfrm>
          <a:prstGeom prst="rect">
            <a:avLst/>
          </a:prstGeom>
          <a:solidFill>
            <a:srgbClr val="F7BD3E"/>
          </a:solidFill>
          <a:ln w="0">
            <a:solidFill>
              <a:srgbClr val="F7BD3E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03 常规圆检测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noGrp="1"/>
          </p:cNvSpPr>
          <p:nvPr/>
        </p:nvSpPr>
        <p:spPr>
          <a:xfrm>
            <a:off x="74295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按位置、尺寸和圆度提取底排圆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noGrp="1"/>
          </p:cNvSpPr>
          <p:nvPr/>
        </p:nvSpPr>
        <p:spPr>
          <a:xfrm>
            <a:off x="434340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noGrp="1"/>
          </p:cNvSpPr>
          <p:nvPr/>
        </p:nvSpPr>
        <p:spPr>
          <a:xfrm>
            <a:off x="434340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整排采样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138172A-3FEE-48CD-8981-2FAAD47E9F74}"/>
              </a:ext>
            </a:extLst>
          </p:cNvPr>
          <p:cNvSpPr>
            <a:spLocks noGrp="1"/>
          </p:cNvSpPr>
          <p:nvPr/>
        </p:nvSpPr>
        <p:spPr>
          <a:xfrm>
            <a:off x="4343400" y="18669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35C9E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0C4DB07-FB38-4367-B6D1-35BB5D24AAAC}"/>
              </a:ext>
            </a:extLst>
          </p:cNvPr>
          <p:cNvSpPr>
            <a:spLocks noGrp="1"/>
          </p:cNvSpPr>
          <p:nvPr/>
        </p:nvSpPr>
        <p:spPr>
          <a:xfrm>
            <a:off x="4343400" y="1866900"/>
            <a:ext cx="66675" cy="1066800"/>
          </a:xfrm>
          <a:prstGeom prst="rect">
            <a:avLst/>
          </a:prstGeom>
          <a:solidFill>
            <a:srgbClr val="35C9E8"/>
          </a:solidFill>
          <a:ln w="0">
            <a:solidFill>
              <a:srgbClr val="35C9E8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61808AB-0FE4-4BAC-ADA3-CA24F2AEEB1F}"/>
              </a:ext>
            </a:extLst>
          </p:cNvPr>
          <p:cNvSpPr>
            <a:spLocks noGrp="1"/>
          </p:cNvSpPr>
          <p:nvPr/>
        </p:nvSpPr>
        <p:spPr>
          <a:xfrm>
            <a:off x="4533900" y="20193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04 低对比度兜底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A27E488-77D7-454F-829F-6F6C363E67C1}"/>
              </a:ext>
            </a:extLst>
          </p:cNvPr>
          <p:cNvSpPr>
            <a:spLocks noGrp="1"/>
          </p:cNvSpPr>
          <p:nvPr/>
        </p:nvSpPr>
        <p:spPr>
          <a:xfrm>
            <a:off x="4533900" y="23907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完全无墨时启用受限 Hough 兜底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FDEDA5E-6777-481C-8179-CF8FF199733C}"/>
              </a:ext>
            </a:extLst>
          </p:cNvPr>
          <p:cNvSpPr>
            <a:spLocks noGrp="1"/>
          </p:cNvSpPr>
          <p:nvPr/>
        </p:nvSpPr>
        <p:spPr>
          <a:xfrm>
            <a:off x="4343400" y="310515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CF376CC-B3D1-4AE6-95AC-70FC7BA8EA5A}"/>
              </a:ext>
            </a:extLst>
          </p:cNvPr>
          <p:cNvSpPr>
            <a:spLocks noGrp="1"/>
          </p:cNvSpPr>
          <p:nvPr/>
        </p:nvSpPr>
        <p:spPr>
          <a:xfrm>
            <a:off x="4343400" y="3105150"/>
            <a:ext cx="66675" cy="10668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08F4814-A10D-4BDB-88D1-6CF07142CCDB}"/>
              </a:ext>
            </a:extLst>
          </p:cNvPr>
          <p:cNvSpPr>
            <a:spLocks noGrp="1"/>
          </p:cNvSpPr>
          <p:nvPr/>
        </p:nvSpPr>
        <p:spPr>
          <a:xfrm>
            <a:off x="4533900" y="32575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05 整排几何校正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DF51A10-08DB-40AB-9930-5F2B5DBF0440}"/>
              </a:ext>
            </a:extLst>
          </p:cNvPr>
          <p:cNvSpPr>
            <a:spLocks noGrp="1"/>
          </p:cNvSpPr>
          <p:nvPr/>
        </p:nvSpPr>
        <p:spPr>
          <a:xfrm>
            <a:off x="4533900" y="362902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用圆心共线、直径相同修正偏心圆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46D39A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66675" cy="10668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06 内外区域采样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noGrp="1"/>
          </p:cNvSpPr>
          <p:nvPr/>
        </p:nvSpPr>
        <p:spPr>
          <a:xfrm>
            <a:off x="453390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圆内测白墨，圆外环带估算局部背景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noGrp="1"/>
          </p:cNvSpPr>
          <p:nvPr/>
        </p:nvSpPr>
        <p:spPr>
          <a:xfrm>
            <a:off x="81343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noGrp="1"/>
          </p:cNvSpPr>
          <p:nvPr/>
        </p:nvSpPr>
        <p:spPr>
          <a:xfrm>
            <a:off x="81343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判定与输出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3CD9005-F807-4DBB-A642-0BAB2DAA45C8}"/>
              </a:ext>
            </a:extLst>
          </p:cNvPr>
          <p:cNvSpPr>
            <a:spLocks noGrp="1"/>
          </p:cNvSpPr>
          <p:nvPr/>
        </p:nvSpPr>
        <p:spPr>
          <a:xfrm>
            <a:off x="8134350" y="18669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383A1A5-97C2-45BF-999E-778A388813C2}"/>
              </a:ext>
            </a:extLst>
          </p:cNvPr>
          <p:cNvSpPr>
            <a:spLocks noGrp="1"/>
          </p:cNvSpPr>
          <p:nvPr/>
        </p:nvSpPr>
        <p:spPr>
          <a:xfrm>
            <a:off x="8134350" y="186690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5A9FAD3-2A6A-40E9-BA3F-2C2922ABB165}"/>
              </a:ext>
            </a:extLst>
          </p:cNvPr>
          <p:cNvSpPr>
            <a:spLocks noGrp="1"/>
          </p:cNvSpPr>
          <p:nvPr/>
        </p:nvSpPr>
        <p:spPr>
          <a:xfrm>
            <a:off x="8324850" y="20193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07 计算质量指标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50CBAF6-65EB-4649-B002-AB8C3C33C600}"/>
              </a:ext>
            </a:extLst>
          </p:cNvPr>
          <p:cNvSpPr>
            <a:spLocks noGrp="1"/>
          </p:cNvSpPr>
          <p:nvPr/>
        </p:nvSpPr>
        <p:spPr>
          <a:xfrm>
            <a:off x="8324850" y="239077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综合灰度、对比和波动判断缺墨与拉丝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6D93A172-6268-4702-B89E-363769D8FFF1}"/>
              </a:ext>
            </a:extLst>
          </p:cNvPr>
          <p:cNvSpPr>
            <a:spLocks noGrp="1"/>
          </p:cNvSpPr>
          <p:nvPr/>
        </p:nvSpPr>
        <p:spPr>
          <a:xfrm>
            <a:off x="8134350" y="310515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F6EE8C8-672F-4302-8A93-E76E250A168A}"/>
              </a:ext>
            </a:extLst>
          </p:cNvPr>
          <p:cNvSpPr>
            <a:spLocks noGrp="1"/>
          </p:cNvSpPr>
          <p:nvPr/>
        </p:nvSpPr>
        <p:spPr>
          <a:xfrm>
            <a:off x="8134350" y="310515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FEFC8CD-1A69-4AEA-B1A6-E634B79E3872}"/>
              </a:ext>
            </a:extLst>
          </p:cNvPr>
          <p:cNvSpPr>
            <a:spLocks noGrp="1"/>
          </p:cNvSpPr>
          <p:nvPr/>
        </p:nvSpPr>
        <p:spPr>
          <a:xfrm>
            <a:off x="8324850" y="325755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08 墨量分级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08FE6B6-97FD-4D6A-984E-6E2F1F53E260}"/>
              </a:ext>
            </a:extLst>
          </p:cNvPr>
          <p:cNvSpPr>
            <a:spLocks noGrp="1"/>
          </p:cNvSpPr>
          <p:nvPr/>
        </p:nvSpPr>
        <p:spPr>
          <a:xfrm>
            <a:off x="8324850" y="362902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相对正常值按 20% 分档，并识别无墨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noGrp="1"/>
          </p:cNvSpPr>
          <p:nvPr/>
        </p:nvSpPr>
        <p:spPr>
          <a:xfrm>
            <a:off x="8324850" y="44958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09 告警与留痕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noGrp="1"/>
          </p:cNvSpPr>
          <p:nvPr/>
        </p:nvSpPr>
        <p:spPr>
          <a:xfrm>
            <a:off x="8324850" y="486727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弹窗告警、写日志并保存标注预览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noGrp="1"/>
          </p:cNvSpPr>
          <p:nvPr/>
        </p:nvSpPr>
        <p:spPr>
          <a:xfrm>
            <a:off x="1047750" y="56959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复用稳定的底排 Mark：只检查少量局部区域，在缺陷检测前完成连续供墨状态判断。</a:t>
            </a:r>
          </a:p>
        </p:txBody>
      </p:sp>
    </p:spTree>
    <p:extLst>
      <p:ext uri="{BB962C8B-B14F-4D97-AF65-F5344CB8AC3E}">
        <p14:creationId xmlns:p14="http://schemas.microsoft.com/office/powerpoint/2010/main" val="1233650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新增效果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真实无白墨样本：自动判定、告警并留下可视证据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来源：用户提供的白墨样本与 20260731 离线回归结果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12B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正常出墨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F7BD3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66675" cy="1066800"/>
          </a:xfrm>
          <a:prstGeom prst="rect">
            <a:avLst/>
          </a:prstGeom>
          <a:solidFill>
            <a:srgbClr val="F7BD3E"/>
          </a:solidFill>
          <a:ln w="0">
            <a:solidFill>
              <a:srgbClr val="F7BD3E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亮度基准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noGrp="1"/>
          </p:cNvSpPr>
          <p:nvPr/>
        </p:nvSpPr>
        <p:spPr>
          <a:xfrm>
            <a:off x="74295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圆内白墨明显亮于背景｜作为正常参考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noGrp="1"/>
          </p:cNvSpPr>
          <p:nvPr/>
        </p:nvSpPr>
        <p:spPr>
          <a:xfrm>
            <a:off x="434340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noGrp="1"/>
          </p:cNvSpPr>
          <p:nvPr/>
        </p:nvSpPr>
        <p:spPr>
          <a:xfrm>
            <a:off x="434340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完全无墨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46D39A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66675" cy="10668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异常识别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noGrp="1"/>
          </p:cNvSpPr>
          <p:nvPr/>
        </p:nvSpPr>
        <p:spPr>
          <a:xfrm>
            <a:off x="453390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整体转暗且拉丝明显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noGrp="1"/>
          </p:cNvSpPr>
          <p:nvPr/>
        </p:nvSpPr>
        <p:spPr>
          <a:xfrm>
            <a:off x="81343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noGrp="1"/>
          </p:cNvSpPr>
          <p:nvPr/>
        </p:nvSpPr>
        <p:spPr>
          <a:xfrm>
            <a:off x="81343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检测标注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noGrp="1"/>
          </p:cNvSpPr>
          <p:nvPr/>
        </p:nvSpPr>
        <p:spPr>
          <a:xfrm>
            <a:off x="8324850" y="44958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结果留痕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noGrp="1"/>
          </p:cNvSpPr>
          <p:nvPr/>
        </p:nvSpPr>
        <p:spPr>
          <a:xfrm>
            <a:off x="8324850" y="486727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6 个 Mark 稳定标注｜D4 偏心自动修正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noGrp="1"/>
          </p:cNvSpPr>
          <p:nvPr/>
        </p:nvSpPr>
        <p:spPr>
          <a:xfrm>
            <a:off x="1047750" y="56959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实测：状态 NoInk、相对墨量 0.0%、检测到 6 个底排 Mark；预览、日志与弹窗同步输出。</a:t>
            </a:r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3"/>
          <a:srcRect l="43250" r="43250"/>
          <a:stretch>
            <a:fillRect/>
          </a:stretch>
        </p:blipFill>
        <p:spPr>
          <a:xfrm>
            <a:off x="1057370" y="1866900"/>
            <a:ext cx="2362010" cy="2381250"/>
          </a:xfrm>
          <a:prstGeom prst="roundRect">
            <a:avLst>
              <a:gd name="adj" fmla="val 6452"/>
            </a:avLst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4"/>
          <a:srcRect l="44261" r="44261"/>
          <a:stretch>
            <a:fillRect/>
          </a:stretch>
        </p:blipFill>
        <p:spPr>
          <a:xfrm>
            <a:off x="5097780" y="1866900"/>
            <a:ext cx="1863185" cy="2381250"/>
          </a:xfrm>
          <a:prstGeom prst="roundRect">
            <a:avLst>
              <a:gd name="adj" fmla="val 8180"/>
            </a:avLst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>
          <a:blip r:embed="rId5"/>
          <a:srcRect l="6881" r="6881"/>
          <a:stretch>
            <a:fillRect/>
          </a:stretch>
        </p:blipFill>
        <p:spPr>
          <a:xfrm>
            <a:off x="8566309" y="1866900"/>
            <a:ext cx="2641187" cy="2381250"/>
          </a:xfrm>
          <a:prstGeom prst="roundRect">
            <a:avLst>
              <a:gd name="adj" fmla="val 6400"/>
            </a:avLst>
          </a:prstGeom>
        </p:spPr>
      </p:pic>
    </p:spTree>
    <p:extLst>
      <p:ext uri="{BB962C8B-B14F-4D97-AF65-F5344CB8AC3E}">
        <p14:creationId xmlns:p14="http://schemas.microsoft.com/office/powerpoint/2010/main" val="12336501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>
            <a:extLst>
              <a:ext uri="{FF2B5EF4-FFF2-40B4-BE49-F238E27FC236}">
                <a16:creationId xmlns:a16="http://schemas.microsoft.com/office/drawing/2014/main" id="{7507C7F8-856C-40FF-8A37-983370C2FA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9D45CA0-05A1-48E4-85C8-7DB2F3BD47C3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15D6A7-26E9-4ED6-B8E0-1BD47A10DB8A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运行效率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36AB82-FE0B-4CB9-8703-C72DD13075FF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端到端 3.97 秒，逐件检测占约一半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F5A87DF1-B32E-46DF-9D98-4B20C4DE2B6E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6D4BE7-681A-4560-876B-9A1ED170F1AD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来源：SysRunLog_20260804.txt · 单次离线批次 · Debug x64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85EB86-1B79-4B25-AABF-8A558D4A0D87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7384F87F-1390-4B27-97BE-136512F636D5}"/>
              </a:ext>
            </a:extLst>
          </p:cNvPr>
          <p:cNvSpPr>
            <a:spLocks noGrp="1"/>
          </p:cNvSpPr>
          <p:nvPr/>
        </p:nvSpPr>
        <p:spPr>
          <a:xfrm>
            <a:off x="1962150" y="1809750"/>
            <a:ext cx="0" cy="3028950"/>
          </a:xfrm>
          <a:prstGeom prst="line">
            <a:avLst/>
          </a:prstGeom>
          <a:noFill/>
          <a:ln w="19050">
            <a:solidFill>
              <a:srgbClr val="28506D"/>
            </a:solidFill>
            <a:prstDash val="solid"/>
          </a:ln>
        </p:spPr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0275413F-8768-4B5F-98E6-5B071D72CBCC}"/>
              </a:ext>
            </a:extLst>
          </p:cNvPr>
          <p:cNvSpPr>
            <a:spLocks noGrp="1"/>
          </p:cNvSpPr>
          <p:nvPr/>
        </p:nvSpPr>
        <p:spPr>
          <a:xfrm>
            <a:off x="4972050" y="1809750"/>
            <a:ext cx="0" cy="3028950"/>
          </a:xfrm>
          <a:prstGeom prst="line">
            <a:avLst/>
          </a:prstGeom>
          <a:noFill/>
          <a:ln w="19050">
            <a:solidFill>
              <a:srgbClr val="28506D"/>
            </a:solidFill>
            <a:prstDash val="solid"/>
          </a:ln>
        </p:spPr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04181520-CEB8-460C-B86C-3B314DE1511A}"/>
              </a:ext>
            </a:extLst>
          </p:cNvPr>
          <p:cNvSpPr>
            <a:spLocks noGrp="1"/>
          </p:cNvSpPr>
          <p:nvPr/>
        </p:nvSpPr>
        <p:spPr>
          <a:xfrm>
            <a:off x="7981950" y="1809750"/>
            <a:ext cx="0" cy="3028950"/>
          </a:xfrm>
          <a:prstGeom prst="line">
            <a:avLst/>
          </a:prstGeom>
          <a:noFill/>
          <a:ln w="19050">
            <a:solidFill>
              <a:srgbClr val="28506D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0BF728F-D012-4F07-BE4B-D3B4A10FA318}"/>
              </a:ext>
            </a:extLst>
          </p:cNvPr>
          <p:cNvSpPr>
            <a:spLocks noGrp="1"/>
          </p:cNvSpPr>
          <p:nvPr/>
        </p:nvSpPr>
        <p:spPr>
          <a:xfrm>
            <a:off x="952500" y="1428750"/>
            <a:ext cx="1981200" cy="285750"/>
          </a:xfrm>
          <a:prstGeom prst="roundRect">
            <a:avLst>
              <a:gd name="adj" fmla="val 40000"/>
            </a:avLst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3C512A-2624-4B9A-9330-E0138CDF0631}"/>
              </a:ext>
            </a:extLst>
          </p:cNvPr>
          <p:cNvSpPr>
            <a:spLocks noGrp="1"/>
          </p:cNvSpPr>
          <p:nvPr/>
        </p:nvSpPr>
        <p:spPr>
          <a:xfrm>
            <a:off x="952500" y="1438275"/>
            <a:ext cx="1981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分段与拼接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70CCD6C-2C41-44F1-BCC9-DEAA72370428}"/>
              </a:ext>
            </a:extLst>
          </p:cNvPr>
          <p:cNvSpPr>
            <a:spLocks noGrp="1"/>
          </p:cNvSpPr>
          <p:nvPr/>
        </p:nvSpPr>
        <p:spPr>
          <a:xfrm>
            <a:off x="3962400" y="1428750"/>
            <a:ext cx="1981200" cy="285750"/>
          </a:xfrm>
          <a:prstGeom prst="roundRect">
            <a:avLst>
              <a:gd name="adj" fmla="val 40000"/>
            </a:avLst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2AFF6A-5D3E-4730-9B4E-25878CA94B49}"/>
              </a:ext>
            </a:extLst>
          </p:cNvPr>
          <p:cNvSpPr>
            <a:spLocks noGrp="1"/>
          </p:cNvSpPr>
          <p:nvPr/>
        </p:nvSpPr>
        <p:spPr>
          <a:xfrm>
            <a:off x="3962400" y="1438275"/>
            <a:ext cx="1981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白墨与排版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EC7FA07-CBD0-4753-9E33-30E207832EC6}"/>
              </a:ext>
            </a:extLst>
          </p:cNvPr>
          <p:cNvSpPr>
            <a:spLocks noGrp="1"/>
          </p:cNvSpPr>
          <p:nvPr/>
        </p:nvSpPr>
        <p:spPr>
          <a:xfrm>
            <a:off x="6972300" y="1428750"/>
            <a:ext cx="1981200" cy="285750"/>
          </a:xfrm>
          <a:prstGeom prst="roundRect">
            <a:avLst>
              <a:gd name="adj" fmla="val 40000"/>
            </a:avLst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4F9F1CD-82B2-4307-B2B4-5DEF7A99452A}"/>
              </a:ext>
            </a:extLst>
          </p:cNvPr>
          <p:cNvSpPr>
            <a:spLocks noGrp="1"/>
          </p:cNvSpPr>
          <p:nvPr/>
        </p:nvSpPr>
        <p:spPr>
          <a:xfrm>
            <a:off x="6972300" y="1438275"/>
            <a:ext cx="1981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全局对准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775AFC5-C2AF-40A6-8D4F-92545198FB92}"/>
              </a:ext>
            </a:extLst>
          </p:cNvPr>
          <p:cNvSpPr>
            <a:spLocks noGrp="1"/>
          </p:cNvSpPr>
          <p:nvPr/>
        </p:nvSpPr>
        <p:spPr>
          <a:xfrm>
            <a:off x="9982200" y="1428750"/>
            <a:ext cx="1600200" cy="285750"/>
          </a:xfrm>
          <a:prstGeom prst="roundRect">
            <a:avLst>
              <a:gd name="adj" fmla="val 40000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A3E5903-AD68-4E71-B095-2E00910146C7}"/>
              </a:ext>
            </a:extLst>
          </p:cNvPr>
          <p:cNvSpPr>
            <a:spLocks noGrp="1"/>
          </p:cNvSpPr>
          <p:nvPr/>
        </p:nvSpPr>
        <p:spPr>
          <a:xfrm>
            <a:off x="9982200" y="1438275"/>
            <a:ext cx="1600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逐件检测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715087C-F0D5-403A-A4D2-38E690B11A10}"/>
              </a:ext>
            </a:extLst>
          </p:cNvPr>
          <p:cNvSpPr>
            <a:spLocks noGrp="1"/>
          </p:cNvSpPr>
          <p:nvPr/>
        </p:nvSpPr>
        <p:spPr>
          <a:xfrm>
            <a:off x="876300" y="2057400"/>
            <a:ext cx="2152650" cy="685800"/>
          </a:xfrm>
          <a:prstGeom prst="roundRect">
            <a:avLst>
              <a:gd name="adj" fmla="val 16667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703709D-224F-439B-A5A1-5AEBB8CCAA2C}"/>
              </a:ext>
            </a:extLst>
          </p:cNvPr>
          <p:cNvSpPr>
            <a:spLocks noGrp="1"/>
          </p:cNvSpPr>
          <p:nvPr/>
        </p:nvSpPr>
        <p:spPr>
          <a:xfrm>
            <a:off x="876300" y="2057400"/>
            <a:ext cx="66675" cy="685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CC10FAC-7CC3-4709-B5F4-0FAC694894AB}"/>
              </a:ext>
            </a:extLst>
          </p:cNvPr>
          <p:cNvSpPr>
            <a:spLocks noGrp="1"/>
          </p:cNvSpPr>
          <p:nvPr/>
        </p:nvSpPr>
        <p:spPr>
          <a:xfrm>
            <a:off x="1066800" y="220980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0.91 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D973D13-6F55-4507-9D48-6A546D320502}"/>
              </a:ext>
            </a:extLst>
          </p:cNvPr>
          <p:cNvSpPr>
            <a:spLocks noGrp="1"/>
          </p:cNvSpPr>
          <p:nvPr/>
        </p:nvSpPr>
        <p:spPr>
          <a:xfrm>
            <a:off x="1066800" y="2524125"/>
            <a:ext cx="1828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6839" lnSpcReduction="20000"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6帧 · 2QR · 拼接完成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50220B8-8596-4435-9F0C-CD3779A1AEB2}"/>
              </a:ext>
            </a:extLst>
          </p:cNvPr>
          <p:cNvSpPr>
            <a:spLocks noGrp="1"/>
          </p:cNvSpPr>
          <p:nvPr/>
        </p:nvSpPr>
        <p:spPr>
          <a:xfrm>
            <a:off x="3886200" y="2057400"/>
            <a:ext cx="215265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45E6B9E-D130-4288-9F9B-FE6A1DEC7317}"/>
              </a:ext>
            </a:extLst>
          </p:cNvPr>
          <p:cNvSpPr>
            <a:spLocks noGrp="1"/>
          </p:cNvSpPr>
          <p:nvPr/>
        </p:nvSpPr>
        <p:spPr>
          <a:xfrm>
            <a:off x="3886200" y="2057400"/>
            <a:ext cx="66675" cy="8763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621EF08-23C4-4B4E-8884-176EF99BD9CB}"/>
              </a:ext>
            </a:extLst>
          </p:cNvPr>
          <p:cNvSpPr>
            <a:spLocks noGrp="1"/>
          </p:cNvSpPr>
          <p:nvPr/>
        </p:nvSpPr>
        <p:spPr>
          <a:xfrm>
            <a:off x="4076700" y="220980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白墨 0.19 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F862196-0386-421C-9AAF-61FD035C6414}"/>
              </a:ext>
            </a:extLst>
          </p:cNvPr>
          <p:cNvSpPr>
            <a:spLocks noGrp="1"/>
          </p:cNvSpPr>
          <p:nvPr/>
        </p:nvSpPr>
        <p:spPr>
          <a:xfrm>
            <a:off x="4076700" y="2581275"/>
            <a:ext cx="1828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785"/>
          </a:bodyPr>
          <a:lstStyle/>
          <a:p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核心 0.12 s · 预览 0.07 s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CE6B2E6-DC98-4C91-9F7C-3297667AA6D7}"/>
              </a:ext>
            </a:extLst>
          </p:cNvPr>
          <p:cNvSpPr>
            <a:spLocks noGrp="1"/>
          </p:cNvSpPr>
          <p:nvPr/>
        </p:nvSpPr>
        <p:spPr>
          <a:xfrm>
            <a:off x="6896100" y="2057400"/>
            <a:ext cx="215265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C639E7E-202D-40FB-8E41-0A667E301FE9}"/>
              </a:ext>
            </a:extLst>
          </p:cNvPr>
          <p:cNvSpPr>
            <a:spLocks noGrp="1"/>
          </p:cNvSpPr>
          <p:nvPr/>
        </p:nvSpPr>
        <p:spPr>
          <a:xfrm>
            <a:off x="6896100" y="2057400"/>
            <a:ext cx="66675" cy="8763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15886F5-F84A-4213-9D33-E3F63FB8655E}"/>
              </a:ext>
            </a:extLst>
          </p:cNvPr>
          <p:cNvSpPr>
            <a:spLocks noGrp="1"/>
          </p:cNvSpPr>
          <p:nvPr/>
        </p:nvSpPr>
        <p:spPr>
          <a:xfrm>
            <a:off x="7086600" y="220980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Mark 检测 0.26 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6C593ED-4430-4E8D-8F22-AD38B1615A5F}"/>
              </a:ext>
            </a:extLst>
          </p:cNvPr>
          <p:cNvSpPr>
            <a:spLocks noGrp="1"/>
          </p:cNvSpPr>
          <p:nvPr/>
        </p:nvSpPr>
        <p:spPr>
          <a:xfrm>
            <a:off x="7086600" y="2581275"/>
            <a:ext cx="1828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785"/>
          </a:bodyPr>
          <a:lstStyle/>
          <a:p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Top 7 / Bottom 7 · Passed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E55FD38-F551-4617-AF2D-1BF48A65140D}"/>
              </a:ext>
            </a:extLst>
          </p:cNvPr>
          <p:cNvSpPr>
            <a:spLocks noGrp="1"/>
          </p:cNvSpPr>
          <p:nvPr/>
        </p:nvSpPr>
        <p:spPr>
          <a:xfrm>
            <a:off x="9867900" y="2057400"/>
            <a:ext cx="1790700" cy="876300"/>
          </a:xfrm>
          <a:prstGeom prst="roundRect">
            <a:avLst>
              <a:gd name="adj" fmla="val 13043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CF799E2-F0B0-4F06-85BB-489E55DF432C}"/>
              </a:ext>
            </a:extLst>
          </p:cNvPr>
          <p:cNvSpPr>
            <a:spLocks noGrp="1"/>
          </p:cNvSpPr>
          <p:nvPr/>
        </p:nvSpPr>
        <p:spPr>
          <a:xfrm>
            <a:off x="9867900" y="2057400"/>
            <a:ext cx="66675" cy="8763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6F43411-DFA6-49AC-A5BA-C57E41895BB0}"/>
              </a:ext>
            </a:extLst>
          </p:cNvPr>
          <p:cNvSpPr>
            <a:spLocks noGrp="1"/>
          </p:cNvSpPr>
          <p:nvPr/>
        </p:nvSpPr>
        <p:spPr>
          <a:xfrm>
            <a:off x="10058400" y="2209800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批次 1.98 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483981-5BF7-4EFF-90D3-8D02F0BB2D10}"/>
              </a:ext>
            </a:extLst>
          </p:cNvPr>
          <p:cNvSpPr>
            <a:spLocks noGrp="1"/>
          </p:cNvSpPr>
          <p:nvPr/>
        </p:nvSpPr>
        <p:spPr>
          <a:xfrm>
            <a:off x="10058400" y="2581275"/>
            <a:ext cx="1466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9 件 · 核心 1.63 s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24D49332-4BBA-46F3-AB08-923E26788623}"/>
              </a:ext>
            </a:extLst>
          </p:cNvPr>
          <p:cNvSpPr>
            <a:spLocks noGrp="1"/>
          </p:cNvSpPr>
          <p:nvPr/>
        </p:nvSpPr>
        <p:spPr>
          <a:xfrm>
            <a:off x="6896100" y="3333750"/>
            <a:ext cx="2152650" cy="1104900"/>
          </a:xfrm>
          <a:prstGeom prst="roundRect">
            <a:avLst>
              <a:gd name="adj" fmla="val 1034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258C00B-97E7-46DA-95FD-DE0FFF04FBB1}"/>
              </a:ext>
            </a:extLst>
          </p:cNvPr>
          <p:cNvSpPr>
            <a:spLocks noGrp="1"/>
          </p:cNvSpPr>
          <p:nvPr/>
        </p:nvSpPr>
        <p:spPr>
          <a:xfrm>
            <a:off x="6896100" y="3333750"/>
            <a:ext cx="66675" cy="110490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17817C4-5C8D-4A11-AA79-90317C7671D1}"/>
              </a:ext>
            </a:extLst>
          </p:cNvPr>
          <p:cNvSpPr>
            <a:spLocks noGrp="1"/>
          </p:cNvSpPr>
          <p:nvPr/>
        </p:nvSpPr>
        <p:spPr>
          <a:xfrm>
            <a:off x="7086600" y="34861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图像变换 0.05 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B292219-516D-45ED-AAA0-03919B5FAC08}"/>
              </a:ext>
            </a:extLst>
          </p:cNvPr>
          <p:cNvSpPr>
            <a:spLocks noGrp="1"/>
          </p:cNvSpPr>
          <p:nvPr/>
        </p:nvSpPr>
        <p:spPr>
          <a:xfrm>
            <a:off x="7086600" y="3857625"/>
            <a:ext cx="1828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GlobalOnly / Passed</a:t>
            </a:r>
          </a:p>
          <a:p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侧边 Mark 本次关闭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691036C-C9E4-4BF8-A915-7F931CC6B002}"/>
              </a:ext>
            </a:extLst>
          </p:cNvPr>
          <p:cNvSpPr>
            <a:spLocks noGrp="1"/>
          </p:cNvSpPr>
          <p:nvPr/>
        </p:nvSpPr>
        <p:spPr>
          <a:xfrm>
            <a:off x="3886200" y="3333750"/>
            <a:ext cx="2152650" cy="1104900"/>
          </a:xfrm>
          <a:prstGeom prst="roundRect">
            <a:avLst>
              <a:gd name="adj" fmla="val 1034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0BAC9A0-AE31-4BF9-B040-429D3DDDE5C9}"/>
              </a:ext>
            </a:extLst>
          </p:cNvPr>
          <p:cNvSpPr>
            <a:spLocks noGrp="1"/>
          </p:cNvSpPr>
          <p:nvPr/>
        </p:nvSpPr>
        <p:spPr>
          <a:xfrm>
            <a:off x="3886200" y="3333750"/>
            <a:ext cx="66675" cy="11049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47A8A50-BBCB-4FCE-B7CD-8DE7EECFBD1E}"/>
              </a:ext>
            </a:extLst>
          </p:cNvPr>
          <p:cNvSpPr>
            <a:spLocks noGrp="1"/>
          </p:cNvSpPr>
          <p:nvPr/>
        </p:nvSpPr>
        <p:spPr>
          <a:xfrm>
            <a:off x="4076700" y="34861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排版 / TIFF 0.55 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9FC7F5C-9405-47F6-8EFB-F45F803284FA}"/>
              </a:ext>
            </a:extLst>
          </p:cNvPr>
          <p:cNvSpPr>
            <a:spLocks noGrp="1"/>
          </p:cNvSpPr>
          <p:nvPr/>
        </p:nvSpPr>
        <p:spPr>
          <a:xfrm>
            <a:off x="4076700" y="3857625"/>
            <a:ext cx="1828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日志解析 0.05 s</a:t>
            </a:r>
          </a:p>
          <a:p>
            <a:pPr algn="l">
              <a:lnSpc>
                <a:spcPct val="116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加载与预处理 0.51 s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80BF53B-5BC2-43D8-AF3F-5A9F35BD8C0C}"/>
              </a:ext>
            </a:extLst>
          </p:cNvPr>
          <p:cNvSpPr>
            <a:spLocks noGrp="1"/>
          </p:cNvSpPr>
          <p:nvPr/>
        </p:nvSpPr>
        <p:spPr>
          <a:xfrm>
            <a:off x="552450" y="5105400"/>
            <a:ext cx="2095500" cy="933450"/>
          </a:xfrm>
          <a:prstGeom prst="roundRect">
            <a:avLst>
              <a:gd name="adj" fmla="val 1224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47CB4A5-3B24-40DF-B506-CD332D2CEE21}"/>
              </a:ext>
            </a:extLst>
          </p:cNvPr>
          <p:cNvSpPr>
            <a:spLocks noGrp="1"/>
          </p:cNvSpPr>
          <p:nvPr/>
        </p:nvSpPr>
        <p:spPr>
          <a:xfrm>
            <a:off x="666750" y="5219700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6238"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CD486"/>
                </a:solidFill>
                <a:latin typeface="Microsoft YaHei"/>
                <a:ea typeface="Microsoft YaHei"/>
                <a:cs typeface="Microsoft YaHei"/>
              </a:rPr>
              <a:t>端到端 3.97 s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DF05A53-7BE8-480B-96CF-783F02EF633C}"/>
              </a:ext>
            </a:extLst>
          </p:cNvPr>
          <p:cNvSpPr>
            <a:spLocks noGrp="1"/>
          </p:cNvSpPr>
          <p:nvPr/>
        </p:nvSpPr>
        <p:spPr>
          <a:xfrm>
            <a:off x="666750" y="565785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采集启动 → 缺陷结果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E0CA73F4-4AEB-42C8-8612-682B991D7AF1}"/>
              </a:ext>
            </a:extLst>
          </p:cNvPr>
          <p:cNvSpPr>
            <a:spLocks noGrp="1"/>
          </p:cNvSpPr>
          <p:nvPr/>
        </p:nvSpPr>
        <p:spPr>
          <a:xfrm>
            <a:off x="2838450" y="5105400"/>
            <a:ext cx="2095500" cy="933450"/>
          </a:xfrm>
          <a:prstGeom prst="roundRect">
            <a:avLst>
              <a:gd name="adj" fmla="val 1224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4C00CE1-F867-4BD0-9E55-199C44B5A116}"/>
              </a:ext>
            </a:extLst>
          </p:cNvPr>
          <p:cNvSpPr>
            <a:spLocks noGrp="1"/>
          </p:cNvSpPr>
          <p:nvPr/>
        </p:nvSpPr>
        <p:spPr>
          <a:xfrm>
            <a:off x="2952750" y="5219700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65772" lnSpcReduction="20000"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典型单件 1.145s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B176812-A9E7-4B80-91DE-A667CE893C54}"/>
              </a:ext>
            </a:extLst>
          </p:cNvPr>
          <p:cNvSpPr>
            <a:spLocks noGrp="1"/>
          </p:cNvSpPr>
          <p:nvPr/>
        </p:nvSpPr>
        <p:spPr>
          <a:xfrm>
            <a:off x="2952750" y="565785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中位值 · 95%≤1.306s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7231A1F2-F0B3-444E-93E3-C7490834243E}"/>
              </a:ext>
            </a:extLst>
          </p:cNvPr>
          <p:cNvSpPr>
            <a:spLocks noGrp="1"/>
          </p:cNvSpPr>
          <p:nvPr/>
        </p:nvSpPr>
        <p:spPr>
          <a:xfrm>
            <a:off x="5124450" y="5105400"/>
            <a:ext cx="2095500" cy="933450"/>
          </a:xfrm>
          <a:prstGeom prst="roundRect">
            <a:avLst>
              <a:gd name="adj" fmla="val 1224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5587E39-A07F-4BC4-BAFA-47CDA7B3A26C}"/>
              </a:ext>
            </a:extLst>
          </p:cNvPr>
          <p:cNvSpPr>
            <a:spLocks noGrp="1"/>
          </p:cNvSpPr>
          <p:nvPr/>
        </p:nvSpPr>
        <p:spPr>
          <a:xfrm>
            <a:off x="5238750" y="5219700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3738" lnSpcReduction="10000"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4C8DFF"/>
                </a:solidFill>
                <a:latin typeface="Microsoft YaHei"/>
                <a:ea typeface="Microsoft YaHei"/>
                <a:cs typeface="Microsoft YaHei"/>
              </a:rPr>
              <a:t>缓存 7 / 9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6CA200B-2B16-4315-8E9C-F3F3C8FC8BC5}"/>
              </a:ext>
            </a:extLst>
          </p:cNvPr>
          <p:cNvSpPr>
            <a:spLocks noGrp="1"/>
          </p:cNvSpPr>
          <p:nvPr/>
        </p:nvSpPr>
        <p:spPr>
          <a:xfrm>
            <a:off x="5238750" y="565785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命中率 78% · 模板 2</a:t>
            </a: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D87F70AD-F2C4-4585-94AA-FAB161CF072F}"/>
              </a:ext>
            </a:extLst>
          </p:cNvPr>
          <p:cNvSpPr>
            <a:spLocks noGrp="1"/>
          </p:cNvSpPr>
          <p:nvPr/>
        </p:nvSpPr>
        <p:spPr>
          <a:xfrm>
            <a:off x="7410450" y="5105400"/>
            <a:ext cx="2095500" cy="933450"/>
          </a:xfrm>
          <a:prstGeom prst="roundRect">
            <a:avLst>
              <a:gd name="adj" fmla="val 1224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E4EB3B4-BC97-43CE-8B76-43E8DD7B0406}"/>
              </a:ext>
            </a:extLst>
          </p:cNvPr>
          <p:cNvSpPr>
            <a:spLocks noGrp="1"/>
          </p:cNvSpPr>
          <p:nvPr/>
        </p:nvSpPr>
        <p:spPr>
          <a:xfrm>
            <a:off x="7524750" y="5219700"/>
            <a:ext cx="1866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3738" lnSpcReduction="10000"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4B942"/>
                </a:solidFill>
                <a:latin typeface="Microsoft YaHei"/>
                <a:ea typeface="Microsoft YaHei"/>
                <a:cs typeface="Microsoft YaHei"/>
              </a:rPr>
              <a:t>并行度 8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2E93E86-2DDB-482D-B9A8-DA50A00ECD1E}"/>
              </a:ext>
            </a:extLst>
          </p:cNvPr>
          <p:cNvSpPr>
            <a:spLocks noGrp="1"/>
          </p:cNvSpPr>
          <p:nvPr/>
        </p:nvSpPr>
        <p:spPr>
          <a:xfrm>
            <a:off x="7524750" y="565785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9 件批次 · Debug x64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BAA1F856-D8E0-4F4D-808A-46F78B06EC1E}"/>
              </a:ext>
            </a:extLst>
          </p:cNvPr>
          <p:cNvSpPr>
            <a:spLocks noGrp="1"/>
          </p:cNvSpPr>
          <p:nvPr/>
        </p:nvSpPr>
        <p:spPr>
          <a:xfrm>
            <a:off x="9696450" y="5105400"/>
            <a:ext cx="1943100" cy="933450"/>
          </a:xfrm>
          <a:prstGeom prst="roundRect">
            <a:avLst>
              <a:gd name="adj" fmla="val 1224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67E4359-63D4-40AC-99EC-A6CA83276E1E}"/>
              </a:ext>
            </a:extLst>
          </p:cNvPr>
          <p:cNvSpPr>
            <a:spLocks noGrp="1"/>
          </p:cNvSpPr>
          <p:nvPr/>
        </p:nvSpPr>
        <p:spPr>
          <a:xfrm>
            <a:off x="9810750" y="521970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3738" lnSpcReduction="10000"/>
          </a:bodyPr>
          <a:lstStyle/>
          <a:p>
            <a:pPr algn="ctr">
              <a:lnSpc>
                <a:spcPct val="108000"/>
              </a:lnSpc>
              <a:buNone/>
              <a:defRPr sz="2550" b="1">
                <a:solidFill>
                  <a:srgbClr val="F7B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7BD3E"/>
                </a:solidFill>
                <a:latin typeface="Microsoft YaHei"/>
                <a:ea typeface="Microsoft YaHei"/>
                <a:cs typeface="Microsoft YaHei"/>
              </a:rPr>
              <a:t>合格 3 / 9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F2021543-66AE-41AF-8188-6F0383058FA9}"/>
              </a:ext>
            </a:extLst>
          </p:cNvPr>
          <p:cNvSpPr>
            <a:spLocks noGrp="1"/>
          </p:cNvSpPr>
          <p:nvPr/>
        </p:nvSpPr>
        <p:spPr>
          <a:xfrm>
            <a:off x="9810750" y="56578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NG 6 · 细线断裂 2 件</a:t>
            </a:r>
          </a:p>
        </p:txBody>
      </p:sp>
    </p:spTree>
    <p:extLst>
      <p:ext uri="{BB962C8B-B14F-4D97-AF65-F5344CB8AC3E}">
        <p14:creationId xmlns:p14="http://schemas.microsoft.com/office/powerpoint/2010/main" val="12189105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808910D4-738D-44F5-9660-0F6DCF1083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26EEFD8-496D-4395-9345-E0ABF92D0A04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8B310-3EB6-445E-92D9-047BE06B0F59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现场使用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71CB2D-5ED5-4B65-8BAB-405C9ABD3818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一个工作台覆盖采集、参数、结果与复核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47E373EC-EB01-4DC9-8CF0-6253ECD2F36C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273CBC-AC11-4949-893B-E684BDBE23A6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 WPF 工作台与参数设置流程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FDDA8B-76BA-4896-B6FE-7FBE607D33AD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6518A84-4A0D-41FE-A6B5-E8B071D90103}"/>
              </a:ext>
            </a:extLst>
          </p:cNvPr>
          <p:cNvSpPr>
            <a:spLocks noGrp="1"/>
          </p:cNvSpPr>
          <p:nvPr/>
        </p:nvSpPr>
        <p:spPr>
          <a:xfrm>
            <a:off x="514350" y="1409700"/>
            <a:ext cx="7772400" cy="4476750"/>
          </a:xfrm>
          <a:prstGeom prst="roundRect">
            <a:avLst>
              <a:gd name="adj" fmla="val 2553"/>
            </a:avLst>
          </a:prstGeom>
          <a:solidFill>
            <a:srgbClr val="141A2A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356716A-D1A6-4309-BB6B-610501CAC964}"/>
              </a:ext>
            </a:extLst>
          </p:cNvPr>
          <p:cNvSpPr>
            <a:spLocks noGrp="1"/>
          </p:cNvSpPr>
          <p:nvPr/>
        </p:nvSpPr>
        <p:spPr>
          <a:xfrm>
            <a:off x="580398" y="1581150"/>
            <a:ext cx="781050" cy="333375"/>
          </a:xfrm>
          <a:prstGeom prst="roundRect">
            <a:avLst>
              <a:gd name="adj" fmla="val 34286"/>
            </a:avLst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663D82-9BB5-454D-9D6B-4D8636BECC34}"/>
              </a:ext>
            </a:extLst>
          </p:cNvPr>
          <p:cNvSpPr>
            <a:spLocks noGrp="1"/>
          </p:cNvSpPr>
          <p:nvPr/>
        </p:nvSpPr>
        <p:spPr>
          <a:xfrm>
            <a:off x="580398" y="1619250"/>
            <a:ext cx="781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dirty="0" err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加载配置</a:t>
            </a:r>
            <a:endParaRPr sz="975" b="1" dirty="0">
              <a:solidFill>
                <a:srgbClr val="F5F9F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A7E94B1-FFF5-4D07-AC5D-9012DD81874D}"/>
              </a:ext>
            </a:extLst>
          </p:cNvPr>
          <p:cNvSpPr>
            <a:spLocks noGrp="1"/>
          </p:cNvSpPr>
          <p:nvPr/>
        </p:nvSpPr>
        <p:spPr>
          <a:xfrm>
            <a:off x="1456698" y="1581150"/>
            <a:ext cx="781050" cy="333375"/>
          </a:xfrm>
          <a:prstGeom prst="roundRect">
            <a:avLst>
              <a:gd name="adj" fmla="val 34286"/>
            </a:avLst>
          </a:prstGeom>
          <a:solidFill>
            <a:srgbClr val="7B61D9"/>
          </a:solidFill>
          <a:ln w="0">
            <a:solidFill>
              <a:srgbClr val="7B61D9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A134362-D90D-47DF-891C-822A2F47E683}"/>
              </a:ext>
            </a:extLst>
          </p:cNvPr>
          <p:cNvSpPr>
            <a:spLocks noGrp="1"/>
          </p:cNvSpPr>
          <p:nvPr/>
        </p:nvSpPr>
        <p:spPr>
          <a:xfrm>
            <a:off x="1456698" y="1619250"/>
            <a:ext cx="781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离线图库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242833A-9BD3-42E0-A1D4-3360BF716ABC}"/>
              </a:ext>
            </a:extLst>
          </p:cNvPr>
          <p:cNvSpPr>
            <a:spLocks noGrp="1"/>
          </p:cNvSpPr>
          <p:nvPr/>
        </p:nvSpPr>
        <p:spPr>
          <a:xfrm>
            <a:off x="2332998" y="1581150"/>
            <a:ext cx="781050" cy="333375"/>
          </a:xfrm>
          <a:prstGeom prst="roundRect">
            <a:avLst>
              <a:gd name="adj" fmla="val 34286"/>
            </a:avLst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78FB3DC-F129-4A40-9D35-AD9258627B4C}"/>
              </a:ext>
            </a:extLst>
          </p:cNvPr>
          <p:cNvSpPr>
            <a:spLocks noGrp="1"/>
          </p:cNvSpPr>
          <p:nvPr/>
        </p:nvSpPr>
        <p:spPr>
          <a:xfrm>
            <a:off x="2332998" y="1619250"/>
            <a:ext cx="781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开始采集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5906350-2BA8-4B06-8807-1B8A038C0901}"/>
              </a:ext>
            </a:extLst>
          </p:cNvPr>
          <p:cNvSpPr>
            <a:spLocks noGrp="1"/>
          </p:cNvSpPr>
          <p:nvPr/>
        </p:nvSpPr>
        <p:spPr>
          <a:xfrm>
            <a:off x="3209298" y="1581150"/>
            <a:ext cx="781050" cy="333375"/>
          </a:xfrm>
          <a:prstGeom prst="roundRect">
            <a:avLst>
              <a:gd name="adj" fmla="val 34286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227BA2E-E1B3-4E55-8EF5-4BB19B1189E3}"/>
              </a:ext>
            </a:extLst>
          </p:cNvPr>
          <p:cNvSpPr>
            <a:spLocks noGrp="1"/>
          </p:cNvSpPr>
          <p:nvPr/>
        </p:nvSpPr>
        <p:spPr>
          <a:xfrm>
            <a:off x="3209298" y="1619250"/>
            <a:ext cx="781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C7F42C6-D3DF-458D-B359-AB9C2F705D58}"/>
              </a:ext>
            </a:extLst>
          </p:cNvPr>
          <p:cNvSpPr>
            <a:spLocks noGrp="1"/>
          </p:cNvSpPr>
          <p:nvPr/>
        </p:nvSpPr>
        <p:spPr>
          <a:xfrm>
            <a:off x="4085598" y="1581150"/>
            <a:ext cx="781050" cy="333375"/>
          </a:xfrm>
          <a:prstGeom prst="roundRect">
            <a:avLst>
              <a:gd name="adj" fmla="val 34286"/>
            </a:avLst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29CA175-0375-4937-B55E-B886222DAAD1}"/>
              </a:ext>
            </a:extLst>
          </p:cNvPr>
          <p:cNvSpPr>
            <a:spLocks noGrp="1"/>
          </p:cNvSpPr>
          <p:nvPr/>
        </p:nvSpPr>
        <p:spPr>
          <a:xfrm>
            <a:off x="4085598" y="1619250"/>
            <a:ext cx="781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停止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3B0ED5A-54C5-4F98-B9CE-CDC8DB3E8AF0}"/>
              </a:ext>
            </a:extLst>
          </p:cNvPr>
          <p:cNvSpPr>
            <a:spLocks noGrp="1"/>
          </p:cNvSpPr>
          <p:nvPr/>
        </p:nvSpPr>
        <p:spPr>
          <a:xfrm>
            <a:off x="4961898" y="1581150"/>
            <a:ext cx="1000125" cy="333375"/>
          </a:xfrm>
          <a:prstGeom prst="roundRect">
            <a:avLst>
              <a:gd name="adj" fmla="val 34286"/>
            </a:avLst>
          </a:prstGeom>
          <a:solidFill>
            <a:srgbClr val="C63ACD"/>
          </a:solidFill>
          <a:ln w="0">
            <a:solidFill>
              <a:srgbClr val="C63ACD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A74DDCA-C88C-4CFD-A3F1-8A5FD7493DA7}"/>
              </a:ext>
            </a:extLst>
          </p:cNvPr>
          <p:cNvSpPr>
            <a:spLocks noGrp="1"/>
          </p:cNvSpPr>
          <p:nvPr/>
        </p:nvSpPr>
        <p:spPr>
          <a:xfrm>
            <a:off x="4961898" y="1619250"/>
            <a:ext cx="1000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采集卡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C4357FA-8963-4001-A1B4-C810CAD87FAC}"/>
              </a:ext>
            </a:extLst>
          </p:cNvPr>
          <p:cNvSpPr>
            <a:spLocks noGrp="1"/>
          </p:cNvSpPr>
          <p:nvPr/>
        </p:nvSpPr>
        <p:spPr>
          <a:xfrm>
            <a:off x="6057273" y="1581150"/>
            <a:ext cx="1000125" cy="333375"/>
          </a:xfrm>
          <a:prstGeom prst="roundRect">
            <a:avLst>
              <a:gd name="adj" fmla="val 34286"/>
            </a:avLst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263F2D7-B63B-4DA1-A0E4-05421EF87A80}"/>
              </a:ext>
            </a:extLst>
          </p:cNvPr>
          <p:cNvSpPr>
            <a:spLocks noGrp="1"/>
          </p:cNvSpPr>
          <p:nvPr/>
        </p:nvSpPr>
        <p:spPr>
          <a:xfrm>
            <a:off x="6057273" y="1619250"/>
            <a:ext cx="1000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相机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1F97132-3A26-4F58-AA3B-021E09D56663}"/>
              </a:ext>
            </a:extLst>
          </p:cNvPr>
          <p:cNvSpPr>
            <a:spLocks noGrp="1"/>
          </p:cNvSpPr>
          <p:nvPr/>
        </p:nvSpPr>
        <p:spPr>
          <a:xfrm>
            <a:off x="7152648" y="1581150"/>
            <a:ext cx="1000125" cy="333375"/>
          </a:xfrm>
          <a:prstGeom prst="roundRect">
            <a:avLst>
              <a:gd name="adj" fmla="val 34286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719F8A5-50BE-4131-BDCB-B566C89F4385}"/>
              </a:ext>
            </a:extLst>
          </p:cNvPr>
          <p:cNvSpPr>
            <a:spLocks noGrp="1"/>
          </p:cNvSpPr>
          <p:nvPr/>
        </p:nvSpPr>
        <p:spPr>
          <a:xfrm>
            <a:off x="7152648" y="1619250"/>
            <a:ext cx="1000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参数设置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BEEBCC0-04E8-417B-BFCD-93300D47DD8C}"/>
              </a:ext>
            </a:extLst>
          </p:cNvPr>
          <p:cNvSpPr>
            <a:spLocks noGrp="1"/>
          </p:cNvSpPr>
          <p:nvPr/>
        </p:nvSpPr>
        <p:spPr>
          <a:xfrm>
            <a:off x="742950" y="2133600"/>
            <a:ext cx="3409950" cy="2457450"/>
          </a:xfrm>
          <a:prstGeom prst="roundRect">
            <a:avLst>
              <a:gd name="adj" fmla="val 4651"/>
            </a:avLst>
          </a:prstGeom>
          <a:solidFill>
            <a:srgbClr val="090D17"/>
          </a:solidFill>
          <a:ln w="9525">
            <a:solidFill>
              <a:srgbClr val="222B43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E193432-5AF6-4F13-B248-A32A2E3AF9F0}"/>
              </a:ext>
            </a:extLst>
          </p:cNvPr>
          <p:cNvSpPr>
            <a:spLocks noGrp="1"/>
          </p:cNvSpPr>
          <p:nvPr/>
        </p:nvSpPr>
        <p:spPr>
          <a:xfrm>
            <a:off x="876300" y="22098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实时采集预览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A73C4749-28A5-4DE4-926C-7DDCD9B8EF4F}"/>
              </a:ext>
            </a:extLst>
          </p:cNvPr>
          <p:cNvSpPr>
            <a:spLocks noGrp="1"/>
          </p:cNvSpPr>
          <p:nvPr/>
        </p:nvSpPr>
        <p:spPr>
          <a:xfrm>
            <a:off x="4343400" y="2133600"/>
            <a:ext cx="3524250" cy="2457450"/>
          </a:xfrm>
          <a:prstGeom prst="roundRect">
            <a:avLst>
              <a:gd name="adj" fmla="val 4651"/>
            </a:avLst>
          </a:prstGeom>
          <a:solidFill>
            <a:srgbClr val="090D17"/>
          </a:solidFill>
          <a:ln w="9525">
            <a:solidFill>
              <a:srgbClr val="222B43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95F889-35EE-4ADD-AC81-1D7AB5E51CD0}"/>
              </a:ext>
            </a:extLst>
          </p:cNvPr>
          <p:cNvSpPr>
            <a:spLocks noGrp="1"/>
          </p:cNvSpPr>
          <p:nvPr/>
        </p:nvSpPr>
        <p:spPr>
          <a:xfrm>
            <a:off x="4495800" y="22098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拼接结果  |  全局缺陷图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64F0222-EA1C-4DFA-8710-77F5F45A4FD0}"/>
              </a:ext>
            </a:extLst>
          </p:cNvPr>
          <p:cNvSpPr>
            <a:spLocks noGrp="1"/>
          </p:cNvSpPr>
          <p:nvPr/>
        </p:nvSpPr>
        <p:spPr>
          <a:xfrm>
            <a:off x="742950" y="4762500"/>
            <a:ext cx="7124700" cy="781050"/>
          </a:xfrm>
          <a:prstGeom prst="roundRect">
            <a:avLst>
              <a:gd name="adj" fmla="val 14634"/>
            </a:avLst>
          </a:prstGeom>
          <a:solidFill>
            <a:srgbClr val="070A12"/>
          </a:solidFill>
          <a:ln w="9525">
            <a:solidFill>
              <a:srgbClr val="222B43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F7E3F2E-84CC-4B4A-A34A-6FAAE0230BFE}"/>
              </a:ext>
            </a:extLst>
          </p:cNvPr>
          <p:cNvSpPr>
            <a:spLocks noGrp="1"/>
          </p:cNvSpPr>
          <p:nvPr/>
        </p:nvSpPr>
        <p:spPr>
          <a:xfrm>
            <a:off x="876300" y="48387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50" b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实时日志与状态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190887A-7ECA-4A91-AB15-7798E724B9F6}"/>
              </a:ext>
            </a:extLst>
          </p:cNvPr>
          <p:cNvSpPr>
            <a:spLocks noGrp="1"/>
          </p:cNvSpPr>
          <p:nvPr/>
        </p:nvSpPr>
        <p:spPr>
          <a:xfrm>
            <a:off x="876300" y="560070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帧数 / 丢帧 / 当前阶段 / 对准模式 / 检测结果 / 输出目录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317C193-40D2-45C9-8365-C29E8D33B9D5}"/>
              </a:ext>
            </a:extLst>
          </p:cNvPr>
          <p:cNvSpPr>
            <a:spLocks noGrp="1"/>
          </p:cNvSpPr>
          <p:nvPr/>
        </p:nvSpPr>
        <p:spPr>
          <a:xfrm>
            <a:off x="781050" y="601980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4967"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现场人员在同一界面完成操作、观察和结果复核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1F42EC8-09E5-43BC-BBF3-73626B0958FC}"/>
              </a:ext>
            </a:extLst>
          </p:cNvPr>
          <p:cNvSpPr>
            <a:spLocks noGrp="1"/>
          </p:cNvSpPr>
          <p:nvPr/>
        </p:nvSpPr>
        <p:spPr>
          <a:xfrm>
            <a:off x="8420100" y="1409700"/>
            <a:ext cx="3219450" cy="2247900"/>
          </a:xfrm>
          <a:prstGeom prst="roundRect">
            <a:avLst>
              <a:gd name="adj" fmla="val 5085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872ED28-6210-41C9-BA64-7029C38C5825}"/>
              </a:ext>
            </a:extLst>
          </p:cNvPr>
          <p:cNvSpPr>
            <a:spLocks noGrp="1"/>
          </p:cNvSpPr>
          <p:nvPr/>
        </p:nvSpPr>
        <p:spPr>
          <a:xfrm>
            <a:off x="8420100" y="1409700"/>
            <a:ext cx="66675" cy="224790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00D8C29-AC76-4748-A585-76EE20836834}"/>
              </a:ext>
            </a:extLst>
          </p:cNvPr>
          <p:cNvSpPr>
            <a:spLocks noGrp="1"/>
          </p:cNvSpPr>
          <p:nvPr/>
        </p:nvSpPr>
        <p:spPr>
          <a:xfrm>
            <a:off x="8610600" y="1562100"/>
            <a:ext cx="2895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操作主线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53572D-89B0-4D2B-9BF3-593BFEB467DB}"/>
              </a:ext>
            </a:extLst>
          </p:cNvPr>
          <p:cNvSpPr>
            <a:spLocks noGrp="1"/>
          </p:cNvSpPr>
          <p:nvPr/>
        </p:nvSpPr>
        <p:spPr>
          <a:xfrm>
            <a:off x="8610600" y="1933575"/>
            <a:ext cx="289560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1. 加载在线配置或离线目录</a:t>
            </a: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2. 开始采集并观察实时预览</a:t>
            </a: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3. 自动形成拼接段</a:t>
            </a: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4. 离线模式后台生成检测结果</a:t>
            </a:r>
          </a:p>
          <a:p>
            <a:pPr algn="l">
              <a:lnSpc>
                <a:spcPct val="120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5. 在结果页和日志中复核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BE89E7B-E10E-48A6-8CA1-78A5EBD32223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1524000" cy="1981200"/>
          </a:xfrm>
          <a:prstGeom prst="roundRect">
            <a:avLst>
              <a:gd name="adj" fmla="val 7500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22E4C20-B61A-4A8C-B530-1EC449AE2916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66675" cy="19812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5DDEE64-0CE5-4E8C-8225-E572E2CDC649}"/>
              </a:ext>
            </a:extLst>
          </p:cNvPr>
          <p:cNvSpPr>
            <a:spLocks noGrp="1"/>
          </p:cNvSpPr>
          <p:nvPr/>
        </p:nvSpPr>
        <p:spPr>
          <a:xfrm>
            <a:off x="8610600" y="4057650"/>
            <a:ext cx="1200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参数结构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1BF5D54-2A8B-4B98-8F69-23D0B1F40C27}"/>
              </a:ext>
            </a:extLst>
          </p:cNvPr>
          <p:cNvSpPr>
            <a:spLocks noGrp="1"/>
          </p:cNvSpPr>
          <p:nvPr/>
        </p:nvSpPr>
        <p:spPr>
          <a:xfrm>
            <a:off x="8610600" y="4429125"/>
            <a:ext cx="12001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基础与目录</a:t>
            </a: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拼接与排版</a:t>
            </a: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标志点配准</a:t>
            </a: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缺陷检测</a:t>
            </a: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图像保存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20A94470-ECBA-4A29-8C33-294695A3CDA1}"/>
              </a:ext>
            </a:extLst>
          </p:cNvPr>
          <p:cNvSpPr>
            <a:spLocks noGrp="1"/>
          </p:cNvSpPr>
          <p:nvPr/>
        </p:nvSpPr>
        <p:spPr>
          <a:xfrm>
            <a:off x="10115550" y="3905250"/>
            <a:ext cx="1524000" cy="1981200"/>
          </a:xfrm>
          <a:prstGeom prst="roundRect">
            <a:avLst>
              <a:gd name="adj" fmla="val 7500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A882CE5-8A6E-4578-B732-58B77190E240}"/>
              </a:ext>
            </a:extLst>
          </p:cNvPr>
          <p:cNvSpPr>
            <a:spLocks noGrp="1"/>
          </p:cNvSpPr>
          <p:nvPr/>
        </p:nvSpPr>
        <p:spPr>
          <a:xfrm>
            <a:off x="10115550" y="3905250"/>
            <a:ext cx="66675" cy="19812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4E387CA-981E-4ECC-BC0B-372E1D5F01C1}"/>
              </a:ext>
            </a:extLst>
          </p:cNvPr>
          <p:cNvSpPr>
            <a:spLocks noGrp="1"/>
          </p:cNvSpPr>
          <p:nvPr/>
        </p:nvSpPr>
        <p:spPr>
          <a:xfrm>
            <a:off x="10306050" y="4057650"/>
            <a:ext cx="1200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下一步体验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DDC5319-9B66-410A-A95D-4037DC115CF4}"/>
              </a:ext>
            </a:extLst>
          </p:cNvPr>
          <p:cNvSpPr>
            <a:spLocks noGrp="1"/>
          </p:cNvSpPr>
          <p:nvPr/>
        </p:nvSpPr>
        <p:spPr>
          <a:xfrm>
            <a:off x="10306050" y="4429125"/>
            <a:ext cx="12001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141"/>
          </a:bodyPr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参数基础/高级分层</a:t>
            </a:r>
          </a:p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增加单位与范围校验</a:t>
            </a:r>
          </a:p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保存前联动检查</a:t>
            </a:r>
          </a:p>
          <a:p>
            <a:pPr algn="l">
              <a:lnSpc>
                <a:spcPct val="116000"/>
              </a:lnSpc>
              <a:buNone/>
              <a:def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输出目录权限提示</a:t>
            </a:r>
          </a:p>
        </p:txBody>
      </p:sp>
    </p:spTree>
    <p:extLst>
      <p:ext uri="{BB962C8B-B14F-4D97-AF65-F5344CB8AC3E}">
        <p14:creationId xmlns:p14="http://schemas.microsoft.com/office/powerpoint/2010/main" val="991829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>
            <a:extLst>
              <a:ext uri="{FF2B5EF4-FFF2-40B4-BE49-F238E27FC236}">
                <a16:creationId xmlns:a16="http://schemas.microsoft.com/office/drawing/2014/main" id="{12A5F6BB-6725-4640-ABB5-C118C2B90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49431B1-3B74-4A25-8C1D-79986736FA6F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312E87-128C-495D-B0BC-A96DAB9E0E6F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当前阶段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DEEA4A-41B5-4EFE-A0CF-A26ADDC784BC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已证明能运行、能检出、能追溯；规模化证据仍需补齐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D328C7F6-0580-4C59-8792-A4790C4BF458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6D8389-A6A5-4656-B34B-2C57F322A264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来源：当前代码、moreMarks\6 样例、构建与性能记录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AC9466-EC6D-47DA-B9E9-9948B15E4A16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69B459D-80BF-40CC-9B40-578621C33AAD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91F7DB-50E5-428D-826F-D45AC5D92CA4}"/>
              </a:ext>
            </a:extLst>
          </p:cNvPr>
          <p:cNvSpPr>
            <a:spLocks noGrp="1"/>
          </p:cNvSpPr>
          <p:nvPr/>
        </p:nvSpPr>
        <p:spPr>
          <a:xfrm>
            <a:off x="5524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已确认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095920D-02EA-4A01-AE83-8232F2E87CA6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B9401B-4D1F-4086-A317-D2EDA6AAD531}"/>
              </a:ext>
            </a:extLst>
          </p:cNvPr>
          <p:cNvSpPr>
            <a:spLocks noGrp="1"/>
          </p:cNvSpPr>
          <p:nvPr/>
        </p:nvSpPr>
        <p:spPr>
          <a:xfrm>
            <a:off x="552450" y="1866900"/>
            <a:ext cx="66675" cy="1066800"/>
          </a:xfrm>
          <a:prstGeom prst="rect">
            <a:avLst/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956AFF8-3FF3-4E60-8AFF-6CE525B6AC74}"/>
              </a:ext>
            </a:extLst>
          </p:cNvPr>
          <p:cNvSpPr>
            <a:spLocks noGrp="1"/>
          </p:cNvSpPr>
          <p:nvPr/>
        </p:nvSpPr>
        <p:spPr>
          <a:xfrm>
            <a:off x="742950" y="20193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离线闭环可运行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07B87B-485C-4828-962C-25E0F43B2E0E}"/>
              </a:ext>
            </a:extLst>
          </p:cNvPr>
          <p:cNvSpPr>
            <a:spLocks noGrp="1"/>
          </p:cNvSpPr>
          <p:nvPr/>
        </p:nvSpPr>
        <p:spPr>
          <a:xfrm>
            <a:off x="742950" y="23907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连续帧可完成分段、拼接、对准、裁切、检测与结果保存。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96DD7BD-BF7D-42E9-969B-75514B8D9B44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46D39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F8114B-FF70-411F-852B-FDE03EC8F9DD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66675" cy="10668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419EDE-FB9F-402B-A368-55380EA0555B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关键难例已覆盖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5E6CA3-1A05-422D-8D11-AC10F1C8D37C}"/>
              </a:ext>
            </a:extLst>
          </p:cNvPr>
          <p:cNvSpPr>
            <a:spLocks noGrp="1"/>
          </p:cNvSpPr>
          <p:nvPr/>
        </p:nvSpPr>
        <p:spPr>
          <a:xfrm>
            <a:off x="742950" y="362902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moreMarks\6 中多处细小轮廓断裂已进入正式检测逻辑。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9D1B86E-46A9-42CD-B8EE-49D7ACA27100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F7BD3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1AB0A5B-9592-4314-AEF9-72E9E150268E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66675" cy="1066800"/>
          </a:xfrm>
          <a:prstGeom prst="rect">
            <a:avLst/>
          </a:prstGeom>
          <a:solidFill>
            <a:srgbClr val="F7BD3E"/>
          </a:solidFill>
          <a:ln w="0">
            <a:solidFill>
              <a:srgbClr val="F7BD3E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BF165E-EF88-4716-BB99-7B2E279F9201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工程版本可构建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A0B9EC3-914A-4D08-9352-9C6BA3A2E1A3}"/>
              </a:ext>
            </a:extLst>
          </p:cNvPr>
          <p:cNvSpPr>
            <a:spLocks noGrp="1"/>
          </p:cNvSpPr>
          <p:nvPr/>
        </p:nvSpPr>
        <p:spPr>
          <a:xfrm>
            <a:off x="74295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2026-07-20 Debug / Release x64 均 0 警告、0 错误。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1A73DC6-D2FC-4D10-AE00-1A08AAC0F70D}"/>
              </a:ext>
            </a:extLst>
          </p:cNvPr>
          <p:cNvSpPr>
            <a:spLocks noGrp="1"/>
          </p:cNvSpPr>
          <p:nvPr/>
        </p:nvSpPr>
        <p:spPr>
          <a:xfrm>
            <a:off x="434340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CB9CAB-3021-4DA8-B000-E3FC9D03DBF5}"/>
              </a:ext>
            </a:extLst>
          </p:cNvPr>
          <p:cNvSpPr>
            <a:spLocks noGrp="1"/>
          </p:cNvSpPr>
          <p:nvPr/>
        </p:nvSpPr>
        <p:spPr>
          <a:xfrm>
            <a:off x="434340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正在优化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138172A-3FEE-48CD-8981-2FAAD47E9F74}"/>
              </a:ext>
            </a:extLst>
          </p:cNvPr>
          <p:cNvSpPr>
            <a:spLocks noGrp="1"/>
          </p:cNvSpPr>
          <p:nvPr/>
        </p:nvSpPr>
        <p:spPr>
          <a:xfrm>
            <a:off x="4343400" y="18669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35C9E8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0C4DB07-FB38-4367-B6D1-35BB5D24AAAC}"/>
              </a:ext>
            </a:extLst>
          </p:cNvPr>
          <p:cNvSpPr>
            <a:spLocks noGrp="1"/>
          </p:cNvSpPr>
          <p:nvPr/>
        </p:nvSpPr>
        <p:spPr>
          <a:xfrm>
            <a:off x="4343400" y="1866900"/>
            <a:ext cx="66675" cy="1066800"/>
          </a:xfrm>
          <a:prstGeom prst="rect">
            <a:avLst/>
          </a:prstGeom>
          <a:solidFill>
            <a:srgbClr val="35C9E8"/>
          </a:solidFill>
          <a:ln w="0">
            <a:solidFill>
              <a:srgbClr val="35C9E8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61808AB-0FE4-4BAC-ADA3-CA24F2AEEB1F}"/>
              </a:ext>
            </a:extLst>
          </p:cNvPr>
          <p:cNvSpPr>
            <a:spLocks noGrp="1"/>
          </p:cNvSpPr>
          <p:nvPr/>
        </p:nvSpPr>
        <p:spPr>
          <a:xfrm>
            <a:off x="4533900" y="20193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节拍与资源占用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A27E488-77D7-454F-829F-6F6C363E67C1}"/>
              </a:ext>
            </a:extLst>
          </p:cNvPr>
          <p:cNvSpPr>
            <a:spLocks noGrp="1"/>
          </p:cNvSpPr>
          <p:nvPr/>
        </p:nvSpPr>
        <p:spPr>
          <a:xfrm>
            <a:off x="4533900" y="23907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985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继续拆分 SIFT、细线检测和图像保存耗时，寻找无损提速空间。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FDEDA5E-6777-481C-8179-CF8FF199733C}"/>
              </a:ext>
            </a:extLst>
          </p:cNvPr>
          <p:cNvSpPr>
            <a:spLocks noGrp="1"/>
          </p:cNvSpPr>
          <p:nvPr/>
        </p:nvSpPr>
        <p:spPr>
          <a:xfrm>
            <a:off x="4343400" y="310515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CF376CC-B3D1-4AE6-95AC-70FC7BA8EA5A}"/>
              </a:ext>
            </a:extLst>
          </p:cNvPr>
          <p:cNvSpPr>
            <a:spLocks noGrp="1"/>
          </p:cNvSpPr>
          <p:nvPr/>
        </p:nvSpPr>
        <p:spPr>
          <a:xfrm>
            <a:off x="4343400" y="3105150"/>
            <a:ext cx="66675" cy="106680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08F4814-A10D-4BDB-88D1-6CF07142CCDB}"/>
              </a:ext>
            </a:extLst>
          </p:cNvPr>
          <p:cNvSpPr>
            <a:spLocks noGrp="1"/>
          </p:cNvSpPr>
          <p:nvPr/>
        </p:nvSpPr>
        <p:spPr>
          <a:xfrm>
            <a:off x="4533900" y="32575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参数使用体验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DF51A10-08DB-40AB-9930-5F2B5DBF0440}"/>
              </a:ext>
            </a:extLst>
          </p:cNvPr>
          <p:cNvSpPr>
            <a:spLocks noGrp="1"/>
          </p:cNvSpPr>
          <p:nvPr/>
        </p:nvSpPr>
        <p:spPr>
          <a:xfrm>
            <a:off x="4533900" y="362902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减少高级参数暴露，补充并行度入口、单位说明和范围校验。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72F446C-AD76-47E3-8014-53B2DC84E64A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337185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46D39A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9CC295-6C7C-4418-9404-54BD292715F5}"/>
              </a:ext>
            </a:extLst>
          </p:cNvPr>
          <p:cNvSpPr>
            <a:spLocks noGrp="1"/>
          </p:cNvSpPr>
          <p:nvPr/>
        </p:nvSpPr>
        <p:spPr>
          <a:xfrm>
            <a:off x="4343400" y="4343400"/>
            <a:ext cx="66675" cy="1066800"/>
          </a:xfrm>
          <a:prstGeom prst="rect">
            <a:avLst/>
          </a:prstGeom>
          <a:solidFill>
            <a:srgbClr val="46D39A"/>
          </a:solidFill>
          <a:ln w="0">
            <a:solidFill>
              <a:srgbClr val="46D39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C244B75-2C56-4103-B0E6-4AB28ED24EC9}"/>
              </a:ext>
            </a:extLst>
          </p:cNvPr>
          <p:cNvSpPr>
            <a:spLocks noGrp="1"/>
          </p:cNvSpPr>
          <p:nvPr/>
        </p:nvSpPr>
        <p:spPr>
          <a:xfrm>
            <a:off x="4533900" y="4495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增强算法择优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B3CA931-1F6C-492E-9BCB-E996E0526774}"/>
              </a:ext>
            </a:extLst>
          </p:cNvPr>
          <p:cNvSpPr>
            <a:spLocks noGrp="1"/>
          </p:cNvSpPr>
          <p:nvPr/>
        </p:nvSpPr>
        <p:spPr>
          <a:xfrm>
            <a:off x="4533900" y="4867275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侧边非线性校正继续保留开关，用固定回归数据决定是否启用。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873D3BB9-ADD2-4F6D-9039-5C82D915FCC8}"/>
              </a:ext>
            </a:extLst>
          </p:cNvPr>
          <p:cNvSpPr>
            <a:spLocks noGrp="1"/>
          </p:cNvSpPr>
          <p:nvPr/>
        </p:nvSpPr>
        <p:spPr>
          <a:xfrm>
            <a:off x="8134350" y="1428750"/>
            <a:ext cx="1333500" cy="285750"/>
          </a:xfrm>
          <a:prstGeom prst="roundRect">
            <a:avLst>
              <a:gd name="adj" fmla="val 40000"/>
            </a:avLst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7CFBD85-5FAE-433E-902C-4CDA0AED3CAB}"/>
              </a:ext>
            </a:extLst>
          </p:cNvPr>
          <p:cNvSpPr>
            <a:spLocks noGrp="1"/>
          </p:cNvSpPr>
          <p:nvPr/>
        </p:nvSpPr>
        <p:spPr>
          <a:xfrm>
            <a:off x="8134350" y="1438275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尚需验证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3CD9005-F807-4DBB-A642-0BAB2DAA45C8}"/>
              </a:ext>
            </a:extLst>
          </p:cNvPr>
          <p:cNvSpPr>
            <a:spLocks noGrp="1"/>
          </p:cNvSpPr>
          <p:nvPr/>
        </p:nvSpPr>
        <p:spPr>
          <a:xfrm>
            <a:off x="8134350" y="18669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383A1A5-97C2-45BF-999E-778A388813C2}"/>
              </a:ext>
            </a:extLst>
          </p:cNvPr>
          <p:cNvSpPr>
            <a:spLocks noGrp="1"/>
          </p:cNvSpPr>
          <p:nvPr/>
        </p:nvSpPr>
        <p:spPr>
          <a:xfrm>
            <a:off x="8134350" y="186690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5A9FAD3-2A6A-40E9-BA3F-2C2922ABB165}"/>
              </a:ext>
            </a:extLst>
          </p:cNvPr>
          <p:cNvSpPr>
            <a:spLocks noGrp="1"/>
          </p:cNvSpPr>
          <p:nvPr/>
        </p:nvSpPr>
        <p:spPr>
          <a:xfrm>
            <a:off x="8324850" y="20193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人工标注真值集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50CBAF6-65EB-4649-B002-AB8C3C33C600}"/>
              </a:ext>
            </a:extLst>
          </p:cNvPr>
          <p:cNvSpPr>
            <a:spLocks noGrp="1"/>
          </p:cNvSpPr>
          <p:nvPr/>
        </p:nvSpPr>
        <p:spPr>
          <a:xfrm>
            <a:off x="8324850" y="239077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建立准确率、召回率、误报率和最小可检尺寸的正式口径。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6D93A172-6268-4702-B89E-363769D8FFF1}"/>
              </a:ext>
            </a:extLst>
          </p:cNvPr>
          <p:cNvSpPr>
            <a:spLocks noGrp="1"/>
          </p:cNvSpPr>
          <p:nvPr/>
        </p:nvSpPr>
        <p:spPr>
          <a:xfrm>
            <a:off x="8134350" y="310515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F6EE8C8-672F-4302-8A93-E76E250A168A}"/>
              </a:ext>
            </a:extLst>
          </p:cNvPr>
          <p:cNvSpPr>
            <a:spLocks noGrp="1"/>
          </p:cNvSpPr>
          <p:nvPr/>
        </p:nvSpPr>
        <p:spPr>
          <a:xfrm>
            <a:off x="8134350" y="310515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FEFC8CD-1A69-4AEA-B1A6-E634B79E3872}"/>
              </a:ext>
            </a:extLst>
          </p:cNvPr>
          <p:cNvSpPr>
            <a:spLocks noGrp="1"/>
          </p:cNvSpPr>
          <p:nvPr/>
        </p:nvSpPr>
        <p:spPr>
          <a:xfrm>
            <a:off x="8324850" y="325755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24 小时硬件长稳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08FE6B6-97FD-4D6A-984E-6E2F1F53E260}"/>
              </a:ext>
            </a:extLst>
          </p:cNvPr>
          <p:cNvSpPr>
            <a:spLocks noGrp="1"/>
          </p:cNvSpPr>
          <p:nvPr/>
        </p:nvSpPr>
        <p:spPr>
          <a:xfrm>
            <a:off x="8324850" y="362902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验证相机、采集卡、驱动、非托管内存与异常恢复。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BE208D0-E5DB-4FA4-8215-4651C06817A5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3505200" cy="1066800"/>
          </a:xfrm>
          <a:prstGeom prst="roundRect">
            <a:avLst>
              <a:gd name="adj" fmla="val 10714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EEE50FC-0295-45DD-BF67-ADB401990C6B}"/>
              </a:ext>
            </a:extLst>
          </p:cNvPr>
          <p:cNvSpPr>
            <a:spLocks noGrp="1"/>
          </p:cNvSpPr>
          <p:nvPr/>
        </p:nvSpPr>
        <p:spPr>
          <a:xfrm>
            <a:off x="8134350" y="4343400"/>
            <a:ext cx="66675" cy="1066800"/>
          </a:xfrm>
          <a:prstGeom prst="rect">
            <a:avLst/>
          </a:prstGeom>
          <a:solidFill>
            <a:srgbClr val="4C8DFF"/>
          </a:solidFill>
          <a:ln w="0">
            <a:solidFill>
              <a:srgbClr val="4C8DFF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5A1C78F-9228-4618-B892-41A2EB36ED2D}"/>
              </a:ext>
            </a:extLst>
          </p:cNvPr>
          <p:cNvSpPr>
            <a:spLocks noGrp="1"/>
          </p:cNvSpPr>
          <p:nvPr/>
        </p:nvSpPr>
        <p:spPr>
          <a:xfrm>
            <a:off x="8324850" y="449580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在线闭环与下发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9096238-CCEF-4351-874B-C44923A93406}"/>
              </a:ext>
            </a:extLst>
          </p:cNvPr>
          <p:cNvSpPr>
            <a:spLocks noGrp="1"/>
          </p:cNvSpPr>
          <p:nvPr/>
        </p:nvSpPr>
        <p:spPr>
          <a:xfrm>
            <a:off x="8324850" y="4867275"/>
            <a:ext cx="3181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2016" lnSpcReduction="10000"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完成在线作业触发、结果下发、PLC/设备联动和版本追溯。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E12D92C-3D95-4D3E-A893-89EAD186CB15}"/>
              </a:ext>
            </a:extLst>
          </p:cNvPr>
          <p:cNvSpPr>
            <a:spLocks noGrp="1"/>
          </p:cNvSpPr>
          <p:nvPr/>
        </p:nvSpPr>
        <p:spPr>
          <a:xfrm>
            <a:off x="1047750" y="5695950"/>
            <a:ext cx="1009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EAF4"/>
                </a:solidFill>
                <a:latin typeface="Microsoft YaHei"/>
                <a:ea typeface="Microsoft YaHei"/>
                <a:cs typeface="Microsoft YaHei"/>
              </a:rPr>
              <a:t>不把样例检出等同于量产准确率；下一阶段用标注和长稳数据补齐证据。</a:t>
            </a:r>
          </a:p>
        </p:txBody>
      </p:sp>
    </p:spTree>
    <p:extLst>
      <p:ext uri="{BB962C8B-B14F-4D97-AF65-F5344CB8AC3E}">
        <p14:creationId xmlns:p14="http://schemas.microsoft.com/office/powerpoint/2010/main" val="1233650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1C897A9A-267D-487E-95B8-0F21DB9C55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5B1DB91-ABF4-4853-98B8-C5B7E2735912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CED10B2-9C03-4302-8D6A-7D3E04A7F43D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路线与总结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6868D6-680F-47DF-A12C-D74CCA62BD9D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长期价值：从算法验证走向可复制的质量平台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FF3BBDDB-E4D9-4262-88A6-34BDA0BD06CD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26AF31-4177-4692-BE8A-C9742BA6808E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来源：当前能力、证据缺口与业务演进目标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18EA87-F282-4027-9FBB-861A52203799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D51B31EC-54EB-44C5-ACD5-125C352D2D47}"/>
              </a:ext>
            </a:extLst>
          </p:cNvPr>
          <p:cNvSpPr>
            <a:spLocks noGrp="1"/>
          </p:cNvSpPr>
          <p:nvPr/>
        </p:nvSpPr>
        <p:spPr>
          <a:xfrm>
            <a:off x="1524000" y="2628900"/>
            <a:ext cx="9048750" cy="0"/>
          </a:xfrm>
          <a:prstGeom prst="line">
            <a:avLst/>
          </a:prstGeom>
          <a:noFill/>
          <a:ln w="47625">
            <a:solidFill>
              <a:srgbClr val="28506D"/>
            </a:solidFill>
            <a:prstDash val="solid"/>
          </a:ln>
        </p:spPr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4D260B0-789E-4FBB-B569-9B5F056D475F}"/>
              </a:ext>
            </a:extLst>
          </p:cNvPr>
          <p:cNvSpPr>
            <a:spLocks noGrp="1"/>
          </p:cNvSpPr>
          <p:nvPr/>
        </p:nvSpPr>
        <p:spPr>
          <a:xfrm>
            <a:off x="1885950" y="2514600"/>
            <a:ext cx="228600" cy="228600"/>
          </a:xfrm>
          <a:prstGeom prst="ellipse">
            <a:avLst/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B48A149-6209-4F3D-95CF-AF7A74DDFCB4}"/>
              </a:ext>
            </a:extLst>
          </p:cNvPr>
          <p:cNvSpPr>
            <a:spLocks noGrp="1"/>
          </p:cNvSpPr>
          <p:nvPr/>
        </p:nvSpPr>
        <p:spPr>
          <a:xfrm>
            <a:off x="4838700" y="2514600"/>
            <a:ext cx="228600" cy="228600"/>
          </a:xfrm>
          <a:prstGeom prst="ellipse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EC22F7B-DDB0-465E-AEC2-5B1662E7A604}"/>
              </a:ext>
            </a:extLst>
          </p:cNvPr>
          <p:cNvSpPr>
            <a:spLocks noGrp="1"/>
          </p:cNvSpPr>
          <p:nvPr/>
        </p:nvSpPr>
        <p:spPr>
          <a:xfrm>
            <a:off x="7791450" y="2514600"/>
            <a:ext cx="228600" cy="228600"/>
          </a:xfrm>
          <a:prstGeom prst="ellipse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4397FB3-6F89-48A7-88FB-57C6F995A4CF}"/>
              </a:ext>
            </a:extLst>
          </p:cNvPr>
          <p:cNvSpPr>
            <a:spLocks noGrp="1"/>
          </p:cNvSpPr>
          <p:nvPr/>
        </p:nvSpPr>
        <p:spPr>
          <a:xfrm>
            <a:off x="10458450" y="2514600"/>
            <a:ext cx="228600" cy="228600"/>
          </a:xfrm>
          <a:prstGeom prst="ellipse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561E250-B78C-4609-A01B-742679A6CF86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2705100" cy="2228850"/>
          </a:xfrm>
          <a:prstGeom prst="roundRect">
            <a:avLst>
              <a:gd name="adj" fmla="val 5128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4D80BF1-CF3A-405F-8B3C-93B2ABD4922E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66675" cy="2228850"/>
          </a:xfrm>
          <a:prstGeom prst="rect">
            <a:avLst/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F5B85E3-E996-4371-9BC3-D341D5502881}"/>
              </a:ext>
            </a:extLst>
          </p:cNvPr>
          <p:cNvSpPr>
            <a:spLocks noGrp="1"/>
          </p:cNvSpPr>
          <p:nvPr/>
        </p:nvSpPr>
        <p:spPr>
          <a:xfrm>
            <a:off x="742950" y="1581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1｜沉淀数据资产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ECF1B-8147-453B-9C17-5832029844C0}"/>
              </a:ext>
            </a:extLst>
          </p:cNvPr>
          <p:cNvSpPr>
            <a:spLocks noGrp="1"/>
          </p:cNvSpPr>
          <p:nvPr/>
        </p:nvSpPr>
        <p:spPr>
          <a:xfrm>
            <a:off x="742950" y="1952625"/>
            <a:ext cx="23812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标注正常/缺陷/边界样本</a:t>
            </a: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固化二维码、对准、零件与差分回归</a:t>
            </a: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定义准确率、误报率与节拍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9903002-89FA-4B4D-823D-79B2349A1B4C}"/>
              </a:ext>
            </a:extLst>
          </p:cNvPr>
          <p:cNvSpPr>
            <a:spLocks noGrp="1"/>
          </p:cNvSpPr>
          <p:nvPr/>
        </p:nvSpPr>
        <p:spPr>
          <a:xfrm>
            <a:off x="3467100" y="1428750"/>
            <a:ext cx="2705100" cy="2228850"/>
          </a:xfrm>
          <a:prstGeom prst="roundRect">
            <a:avLst>
              <a:gd name="adj" fmla="val 5128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4F38E00-403B-437D-A2AF-A13B31A00187}"/>
              </a:ext>
            </a:extLst>
          </p:cNvPr>
          <p:cNvSpPr>
            <a:spLocks noGrp="1"/>
          </p:cNvSpPr>
          <p:nvPr/>
        </p:nvSpPr>
        <p:spPr>
          <a:xfrm>
            <a:off x="3467100" y="1428750"/>
            <a:ext cx="66675" cy="22288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226CCD-39A7-4470-A932-655BBC61BA42}"/>
              </a:ext>
            </a:extLst>
          </p:cNvPr>
          <p:cNvSpPr>
            <a:spLocks noGrp="1"/>
          </p:cNvSpPr>
          <p:nvPr/>
        </p:nvSpPr>
        <p:spPr>
          <a:xfrm>
            <a:off x="3657600" y="1581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2｜完成产线闭环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054BE06-3768-4BE5-A707-6057EC2B73D9}"/>
              </a:ext>
            </a:extLst>
          </p:cNvPr>
          <p:cNvSpPr>
            <a:spLocks noGrp="1"/>
          </p:cNvSpPr>
          <p:nvPr/>
        </p:nvSpPr>
        <p:spPr>
          <a:xfrm>
            <a:off x="3657600" y="1952625"/>
            <a:ext cx="23812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已完成：有界队列 / 作业抽离</a:t>
            </a: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已完成：结果对象 / 过期取消</a:t>
            </a: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待完成：在线/离线统一状态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BDF3B27-8169-4E48-943E-44D67785691C}"/>
              </a:ext>
            </a:extLst>
          </p:cNvPr>
          <p:cNvSpPr>
            <a:spLocks noGrp="1"/>
          </p:cNvSpPr>
          <p:nvPr/>
        </p:nvSpPr>
        <p:spPr>
          <a:xfrm>
            <a:off x="6381750" y="1428750"/>
            <a:ext cx="2705100" cy="2228850"/>
          </a:xfrm>
          <a:prstGeom prst="roundRect">
            <a:avLst>
              <a:gd name="adj" fmla="val 5128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8207CB2-B4FE-452F-BF4C-3F5D7E74197B}"/>
              </a:ext>
            </a:extLst>
          </p:cNvPr>
          <p:cNvSpPr>
            <a:spLocks noGrp="1"/>
          </p:cNvSpPr>
          <p:nvPr/>
        </p:nvSpPr>
        <p:spPr>
          <a:xfrm>
            <a:off x="6381750" y="1428750"/>
            <a:ext cx="66675" cy="22288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E6D5D5A-A5E6-4592-8529-B0F8B5CB6357}"/>
              </a:ext>
            </a:extLst>
          </p:cNvPr>
          <p:cNvSpPr>
            <a:spLocks noGrp="1"/>
          </p:cNvSpPr>
          <p:nvPr/>
        </p:nvSpPr>
        <p:spPr>
          <a:xfrm>
            <a:off x="6572250" y="1581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5177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3｜收敛节拍与长稳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DD19435-C49C-4ED7-A579-FB62179F4C83}"/>
              </a:ext>
            </a:extLst>
          </p:cNvPr>
          <p:cNvSpPr>
            <a:spLocks noGrp="1"/>
          </p:cNvSpPr>
          <p:nvPr/>
        </p:nvSpPr>
        <p:spPr>
          <a:xfrm>
            <a:off x="6572250" y="1952625"/>
            <a:ext cx="23812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已完成：并行度可配</a:t>
            </a: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已完成：缓存/帧复制治理</a:t>
            </a: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待验证：现场最优值与长稳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B725D52-6249-4008-B082-E3FFC3D200BC}"/>
              </a:ext>
            </a:extLst>
          </p:cNvPr>
          <p:cNvSpPr>
            <a:spLocks noGrp="1"/>
          </p:cNvSpPr>
          <p:nvPr/>
        </p:nvSpPr>
        <p:spPr>
          <a:xfrm>
            <a:off x="9296400" y="1428750"/>
            <a:ext cx="2343150" cy="2228850"/>
          </a:xfrm>
          <a:prstGeom prst="roundRect">
            <a:avLst>
              <a:gd name="adj" fmla="val 5128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1575705-F79C-42A2-95CD-BF74FA54122C}"/>
              </a:ext>
            </a:extLst>
          </p:cNvPr>
          <p:cNvSpPr>
            <a:spLocks noGrp="1"/>
          </p:cNvSpPr>
          <p:nvPr/>
        </p:nvSpPr>
        <p:spPr>
          <a:xfrm>
            <a:off x="9296400" y="1428750"/>
            <a:ext cx="66675" cy="22288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0BEA892-F829-4CAC-8973-DBFA0184976B}"/>
              </a:ext>
            </a:extLst>
          </p:cNvPr>
          <p:cNvSpPr>
            <a:spLocks noGrp="1"/>
          </p:cNvSpPr>
          <p:nvPr/>
        </p:nvSpPr>
        <p:spPr>
          <a:xfrm>
            <a:off x="9486900" y="15811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578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4｜扩展检测能力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FC6E2CA-066D-4D3C-8B67-73801D9964AC}"/>
              </a:ext>
            </a:extLst>
          </p:cNvPr>
          <p:cNvSpPr>
            <a:spLocks noGrp="1"/>
          </p:cNvSpPr>
          <p:nvPr/>
        </p:nvSpPr>
        <p:spPr>
          <a:xfrm>
            <a:off x="9486900" y="1952625"/>
            <a:ext cx="201930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以标注数据决定侧边 Remap 收益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保留原 SIFT 路线做只拒绝门控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再评估模型化缺陷检测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5A77EDD-CD3E-449C-B572-CE8807A273FB}"/>
              </a:ext>
            </a:extLst>
          </p:cNvPr>
          <p:cNvSpPr>
            <a:spLocks noGrp="1"/>
          </p:cNvSpPr>
          <p:nvPr/>
        </p:nvSpPr>
        <p:spPr>
          <a:xfrm>
            <a:off x="552450" y="4095750"/>
            <a:ext cx="11087100" cy="1447800"/>
          </a:xfrm>
          <a:prstGeom prst="roundRect">
            <a:avLst>
              <a:gd name="adj" fmla="val 7895"/>
            </a:avLst>
          </a:prstGeom>
          <a:solidFill>
            <a:srgbClr val="16344F"/>
          </a:solidFill>
          <a:ln w="19050">
            <a:solidFill>
              <a:srgbClr val="27C2E6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4E9951B-4BD2-400C-A461-5A9654B52DF3}"/>
              </a:ext>
            </a:extLst>
          </p:cNvPr>
          <p:cNvSpPr>
            <a:spLocks noGrp="1"/>
          </p:cNvSpPr>
          <p:nvPr/>
        </p:nvSpPr>
        <p:spPr>
          <a:xfrm>
            <a:off x="819150" y="43053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683" lnSpcReduction="10000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长期价值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697C31C-DF9E-427D-9FE4-C42D9CF80B95}"/>
              </a:ext>
            </a:extLst>
          </p:cNvPr>
          <p:cNvSpPr>
            <a:spLocks noGrp="1"/>
          </p:cNvSpPr>
          <p:nvPr/>
        </p:nvSpPr>
        <p:spPr>
          <a:xfrm>
            <a:off x="2000250" y="4248150"/>
            <a:ext cx="9258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9859" lnSpcReduction="10000"/>
          </a:bodyPr>
          <a:lstStyle/>
          <a:p>
            <a:pPr algn="l">
              <a:lnSpc>
                <a:spcPct val="120000"/>
              </a:lnSpc>
              <a:buNone/>
              <a:def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项目的核心价值，是把“采集—拼接—排版—对准—裁切—检测—可视化”整合为可运行的离线闭环。</a:t>
            </a:r>
          </a:p>
          <a:p>
            <a:pPr algn="l">
              <a:lnSpc>
                <a:spcPct val="120000"/>
              </a:lnSpc>
              <a:buNone/>
              <a:def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下一步应先完成在线作业闭环、真值基线和原生稳定性，再用数据决定复杂算法是否值得上线。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3F836103-24D3-4A11-A2CD-AFEFEDAD2408}"/>
              </a:ext>
            </a:extLst>
          </p:cNvPr>
          <p:cNvSpPr>
            <a:spLocks noGrp="1"/>
          </p:cNvSpPr>
          <p:nvPr/>
        </p:nvSpPr>
        <p:spPr>
          <a:xfrm>
            <a:off x="3276600" y="5753100"/>
            <a:ext cx="5638800" cy="285750"/>
          </a:xfrm>
          <a:prstGeom prst="roundRect">
            <a:avLst>
              <a:gd name="adj" fmla="val 40000"/>
            </a:avLst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B32BF03-B7E9-443E-9529-D8728970AE2E}"/>
              </a:ext>
            </a:extLst>
          </p:cNvPr>
          <p:cNvSpPr>
            <a:spLocks noGrp="1"/>
          </p:cNvSpPr>
          <p:nvPr/>
        </p:nvSpPr>
        <p:spPr>
          <a:xfrm>
            <a:off x="3276600" y="5762625"/>
            <a:ext cx="5638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下一阶段建议：先完成真值数据与固定节拍，再推进在线闭环</a:t>
            </a:r>
          </a:p>
        </p:txBody>
      </p:sp>
    </p:spTree>
    <p:extLst>
      <p:ext uri="{BB962C8B-B14F-4D97-AF65-F5344CB8AC3E}">
        <p14:creationId xmlns:p14="http://schemas.microsoft.com/office/powerpoint/2010/main" val="19319898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1C897A9A-267D-487E-95B8-0F21DB9C55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05B1DB91-ABF4-4853-98B8-C5B7E2735912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028700" cy="285750"/>
          </a:xfrm>
          <a:prstGeom prst="roundRect">
            <a:avLst>
              <a:gd name="adj" fmla="val 40000"/>
            </a:avLst>
          </a:prstGeom>
          <a:solidFill>
            <a:srgbClr val="16344F"/>
          </a:solidFill>
          <a:ln w="0">
            <a:solidFill>
              <a:srgbClr val="16344F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CED10B2-9C03-4302-8D6A-7D3E04A7F43D}"/>
              </a:ext>
            </a:extLst>
          </p:cNvPr>
          <p:cNvSpPr>
            <a:spLocks noGrp="1"/>
          </p:cNvSpPr>
          <p:nvPr/>
        </p:nvSpPr>
        <p:spPr>
          <a:xfrm>
            <a:off x="514350" y="333375"/>
            <a:ext cx="1028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下一步行动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6868D6-680F-47DF-A12C-D74CCA62BD9D}"/>
              </a:ext>
            </a:extLst>
          </p:cNvPr>
          <p:cNvSpPr>
            <a:spLocks noGrp="1"/>
          </p:cNvSpPr>
          <p:nvPr/>
        </p:nvSpPr>
        <p:spPr>
          <a:xfrm>
            <a:off x="514350" y="685800"/>
            <a:ext cx="1066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1227" lnSpcReduction="10000"/>
          </a:bodyPr>
          <a:lstStyle/>
          <a:p>
            <a:pPr algn="l">
              <a:lnSpc>
                <a:spcPct val="108000"/>
              </a:lnSpc>
              <a:buNone/>
              <a:def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下一步：打通数据与接口，分阶段走向美国量产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FF3BBDDB-E4D9-4262-88A6-34BDA0BD06CD}"/>
              </a:ext>
            </a:extLst>
          </p:cNvPr>
          <p:cNvSpPr>
            <a:spLocks noGrp="1"/>
          </p:cNvSpPr>
          <p:nvPr/>
        </p:nvSpPr>
        <p:spPr>
          <a:xfrm>
            <a:off x="514350" y="6334125"/>
            <a:ext cx="11163300" cy="0"/>
          </a:xfrm>
          <a:prstGeom prst="line">
            <a:avLst/>
          </a:prstGeom>
          <a:noFill/>
          <a:ln w="9525">
            <a:solidFill>
              <a:srgbClr val="28506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26AF31-4177-4692-BE8A-C9742BA6808E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来源：项目下一阶段部署需求、数据链路与跨组协同规划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18EA87-F282-4027-9FBB-861A52203799}"/>
              </a:ext>
            </a:extLst>
          </p:cNvPr>
          <p:cNvSpPr>
            <a:spLocks noGrp="1"/>
          </p:cNvSpPr>
          <p:nvPr/>
        </p:nvSpPr>
        <p:spPr>
          <a:xfrm>
            <a:off x="11068050" y="6381750"/>
            <a:ext cx="628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r">
              <a:lnSpc>
                <a:spcPct val="108000"/>
              </a:lnSpc>
              <a:buNone/>
              <a:def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D51B31EC-54EB-44C5-ACD5-125C352D2D47}"/>
              </a:ext>
            </a:extLst>
          </p:cNvPr>
          <p:cNvSpPr>
            <a:spLocks noGrp="1"/>
          </p:cNvSpPr>
          <p:nvPr/>
        </p:nvSpPr>
        <p:spPr>
          <a:xfrm>
            <a:off x="1524000" y="2628900"/>
            <a:ext cx="9048750" cy="0"/>
          </a:xfrm>
          <a:prstGeom prst="line">
            <a:avLst/>
          </a:prstGeom>
          <a:noFill/>
          <a:ln w="47625">
            <a:solidFill>
              <a:srgbClr val="28506D"/>
            </a:solidFill>
            <a:prstDash val="solid"/>
          </a:ln>
        </p:spPr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4D260B0-789E-4FBB-B569-9B5F056D475F}"/>
              </a:ext>
            </a:extLst>
          </p:cNvPr>
          <p:cNvSpPr>
            <a:spLocks noGrp="1"/>
          </p:cNvSpPr>
          <p:nvPr/>
        </p:nvSpPr>
        <p:spPr>
          <a:xfrm>
            <a:off x="1885950" y="2514600"/>
            <a:ext cx="228600" cy="228600"/>
          </a:xfrm>
          <a:prstGeom prst="ellipse">
            <a:avLst/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B48A149-6209-4F3D-95CF-AF7A74DDFCB4}"/>
              </a:ext>
            </a:extLst>
          </p:cNvPr>
          <p:cNvSpPr>
            <a:spLocks noGrp="1"/>
          </p:cNvSpPr>
          <p:nvPr/>
        </p:nvSpPr>
        <p:spPr>
          <a:xfrm>
            <a:off x="4838700" y="2514600"/>
            <a:ext cx="228600" cy="228600"/>
          </a:xfrm>
          <a:prstGeom prst="ellipse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EC22F7B-DDB0-465E-AEC2-5B1662E7A604}"/>
              </a:ext>
            </a:extLst>
          </p:cNvPr>
          <p:cNvSpPr>
            <a:spLocks noGrp="1"/>
          </p:cNvSpPr>
          <p:nvPr/>
        </p:nvSpPr>
        <p:spPr>
          <a:xfrm>
            <a:off x="7791450" y="2514600"/>
            <a:ext cx="228600" cy="228600"/>
          </a:xfrm>
          <a:prstGeom prst="ellipse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4397FB3-6F89-48A7-88FB-57C6F995A4CF}"/>
              </a:ext>
            </a:extLst>
          </p:cNvPr>
          <p:cNvSpPr>
            <a:spLocks noGrp="1"/>
          </p:cNvSpPr>
          <p:nvPr/>
        </p:nvSpPr>
        <p:spPr>
          <a:xfrm>
            <a:off x="10458450" y="2514600"/>
            <a:ext cx="228600" cy="228600"/>
          </a:xfrm>
          <a:prstGeom prst="ellipse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561E250-B78C-4609-A01B-742679A6CF86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2705100" cy="2228850"/>
          </a:xfrm>
          <a:prstGeom prst="roundRect">
            <a:avLst>
              <a:gd name="adj" fmla="val 5128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4D80BF1-CF3A-405F-8B3C-93B2ABD4922E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66675" cy="2228850"/>
          </a:xfrm>
          <a:prstGeom prst="rect">
            <a:avLst/>
          </a:prstGeom>
          <a:solidFill>
            <a:srgbClr val="F06D6D"/>
          </a:solidFill>
          <a:ln w="0">
            <a:solidFill>
              <a:srgbClr val="F06D6D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F5B85E3-E996-4371-9BC3-D341D5502881}"/>
              </a:ext>
            </a:extLst>
          </p:cNvPr>
          <p:cNvSpPr>
            <a:spLocks noGrp="1"/>
          </p:cNvSpPr>
          <p:nvPr/>
        </p:nvSpPr>
        <p:spPr>
          <a:xfrm>
            <a:off x="742950" y="1581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5177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1｜南京实验室验证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ECF1B-8147-453B-9C17-5832029844C0}"/>
              </a:ext>
            </a:extLst>
          </p:cNvPr>
          <p:cNvSpPr>
            <a:spLocks noGrp="1"/>
          </p:cNvSpPr>
          <p:nvPr/>
        </p:nvSpPr>
        <p:spPr>
          <a:xfrm>
            <a:off x="742950" y="1952625"/>
            <a:ext cx="23812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批量离线闭环回归</a:t>
            </a:r>
            <a:endParaRPr sz="1350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覆盖正常、缺陷与边界样本</a:t>
            </a:r>
            <a:endParaRPr sz="1350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量化漏检</a:t>
            </a:r>
            <a:r>
              <a:rPr sz="1350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误检、节拍与资源</a:t>
            </a:r>
            <a:endParaRPr sz="1350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沉淀与验收门槛</a:t>
            </a:r>
            <a:endParaRPr sz="1350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9903002-89FA-4B4D-823D-79B2349A1B4C}"/>
              </a:ext>
            </a:extLst>
          </p:cNvPr>
          <p:cNvSpPr>
            <a:spLocks noGrp="1"/>
          </p:cNvSpPr>
          <p:nvPr/>
        </p:nvSpPr>
        <p:spPr>
          <a:xfrm>
            <a:off x="3467100" y="1428750"/>
            <a:ext cx="2705100" cy="2228850"/>
          </a:xfrm>
          <a:prstGeom prst="roundRect">
            <a:avLst>
              <a:gd name="adj" fmla="val 5128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4F38E00-403B-437D-A2AF-A13B31A00187}"/>
              </a:ext>
            </a:extLst>
          </p:cNvPr>
          <p:cNvSpPr>
            <a:spLocks noGrp="1"/>
          </p:cNvSpPr>
          <p:nvPr/>
        </p:nvSpPr>
        <p:spPr>
          <a:xfrm>
            <a:off x="3467100" y="1428750"/>
            <a:ext cx="66675" cy="2228850"/>
          </a:xfrm>
          <a:prstGeom prst="rect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C226CCD-39A7-4470-A932-655BBC61BA42}"/>
              </a:ext>
            </a:extLst>
          </p:cNvPr>
          <p:cNvSpPr>
            <a:spLocks noGrp="1"/>
          </p:cNvSpPr>
          <p:nvPr/>
        </p:nvSpPr>
        <p:spPr>
          <a:xfrm>
            <a:off x="3657600" y="1581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2｜数据供给落地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054BE06-3768-4BE5-A707-6057EC2B73D9}"/>
              </a:ext>
            </a:extLst>
          </p:cNvPr>
          <p:cNvSpPr>
            <a:spLocks noGrp="1"/>
          </p:cNvSpPr>
          <p:nvPr/>
        </p:nvSpPr>
        <p:spPr>
          <a:xfrm>
            <a:off x="3657600" y="1952625"/>
            <a:ext cx="23812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集中数据服务</a:t>
            </a:r>
            <a:r>
              <a:rPr sz="1350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35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万兆网预取</a:t>
            </a:r>
            <a:endParaRPr sz="1350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按任务获取排版日志与</a:t>
            </a:r>
            <a:r>
              <a:rPr sz="1350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 TIFF</a:t>
            </a: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IPC </a:t>
            </a:r>
            <a:r>
              <a:rPr sz="135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NVMe</a:t>
            </a:r>
            <a:r>
              <a:rPr sz="1350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5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校验缓存、同版复用</a:t>
            </a:r>
            <a:endParaRPr sz="1350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定义断网、版本与清理策略</a:t>
            </a:r>
            <a:endParaRPr sz="1350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BDF3B27-8169-4E48-943E-44D67785691C}"/>
              </a:ext>
            </a:extLst>
          </p:cNvPr>
          <p:cNvSpPr>
            <a:spLocks noGrp="1"/>
          </p:cNvSpPr>
          <p:nvPr/>
        </p:nvSpPr>
        <p:spPr>
          <a:xfrm>
            <a:off x="6381750" y="1428750"/>
            <a:ext cx="2705100" cy="2228850"/>
          </a:xfrm>
          <a:prstGeom prst="roundRect">
            <a:avLst>
              <a:gd name="adj" fmla="val 5128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8207CB2-B4FE-452F-BF4C-3F5D7E74197B}"/>
              </a:ext>
            </a:extLst>
          </p:cNvPr>
          <p:cNvSpPr>
            <a:spLocks noGrp="1"/>
          </p:cNvSpPr>
          <p:nvPr/>
        </p:nvSpPr>
        <p:spPr>
          <a:xfrm>
            <a:off x="6381750" y="1428750"/>
            <a:ext cx="66675" cy="2228850"/>
          </a:xfrm>
          <a:prstGeom prst="rect">
            <a:avLst/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E6D5D5A-A5E6-4592-8529-B0F8B5CB6357}"/>
              </a:ext>
            </a:extLst>
          </p:cNvPr>
          <p:cNvSpPr>
            <a:spLocks noGrp="1"/>
          </p:cNvSpPr>
          <p:nvPr/>
        </p:nvSpPr>
        <p:spPr>
          <a:xfrm>
            <a:off x="6572250" y="1581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645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3｜跨组接口联调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DD19435-C49C-4ED7-A579-FB62179F4C83}"/>
              </a:ext>
            </a:extLst>
          </p:cNvPr>
          <p:cNvSpPr>
            <a:spLocks noGrp="1"/>
          </p:cNvSpPr>
          <p:nvPr/>
        </p:nvSpPr>
        <p:spPr>
          <a:xfrm>
            <a:off x="6572250" y="1952625"/>
            <a:ext cx="23812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DCS：任务、QR、版型与数据索引</a:t>
            </a:r>
            <a:endParaRPr sz="1350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下游：缺陷、二维码、白墨状态</a:t>
            </a:r>
            <a:endParaRPr sz="1350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PLC：报警</a:t>
            </a:r>
            <a:r>
              <a:rPr sz="1350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停机</a:t>
            </a:r>
            <a:r>
              <a:rPr sz="1350" b="0" dirty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放行与心跳</a:t>
            </a:r>
            <a:endParaRPr sz="1350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16000"/>
              </a:lnSpc>
              <a:buNone/>
              <a:defRPr sz="1350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统一超时、重试、和追溯</a:t>
            </a:r>
            <a:endParaRPr sz="1350" b="0" dirty="0">
              <a:solidFill>
                <a:srgbClr val="9CB1C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B725D52-6249-4008-B082-E3FFC3D200BC}"/>
              </a:ext>
            </a:extLst>
          </p:cNvPr>
          <p:cNvSpPr>
            <a:spLocks noGrp="1"/>
          </p:cNvSpPr>
          <p:nvPr/>
        </p:nvSpPr>
        <p:spPr>
          <a:xfrm>
            <a:off x="9296400" y="1428750"/>
            <a:ext cx="2343150" cy="2228850"/>
          </a:xfrm>
          <a:prstGeom prst="roundRect">
            <a:avLst>
              <a:gd name="adj" fmla="val 5128"/>
            </a:avLst>
          </a:prstGeom>
          <a:solidFill>
            <a:srgbClr val="10263C"/>
          </a:solidFill>
          <a:ln w="9525">
            <a:solidFill>
              <a:srgbClr val="28506D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1575705-F79C-42A2-95CD-BF74FA54122C}"/>
              </a:ext>
            </a:extLst>
          </p:cNvPr>
          <p:cNvSpPr>
            <a:spLocks noGrp="1"/>
          </p:cNvSpPr>
          <p:nvPr/>
        </p:nvSpPr>
        <p:spPr>
          <a:xfrm>
            <a:off x="9296400" y="1428750"/>
            <a:ext cx="66675" cy="2228850"/>
          </a:xfrm>
          <a:prstGeom prst="rect">
            <a:avLst/>
          </a:prstGeom>
          <a:solidFill>
            <a:srgbClr val="3CD486"/>
          </a:solidFill>
          <a:ln w="0">
            <a:solidFill>
              <a:srgbClr val="3CD486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0BEA892-F829-4CAC-8973-DBFA0184976B}"/>
              </a:ext>
            </a:extLst>
          </p:cNvPr>
          <p:cNvSpPr>
            <a:spLocks noGrp="1"/>
          </p:cNvSpPr>
          <p:nvPr/>
        </p:nvSpPr>
        <p:spPr>
          <a:xfrm>
            <a:off x="9486900" y="1581150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85781"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阶段 4｜美国现场上线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FC6E2CA-066D-4D3C-8B67-73801D9964AC}"/>
              </a:ext>
            </a:extLst>
          </p:cNvPr>
          <p:cNvSpPr>
            <a:spLocks noGrp="1"/>
          </p:cNvSpPr>
          <p:nvPr/>
        </p:nvSpPr>
        <p:spPr>
          <a:xfrm>
            <a:off x="9486900" y="1952625"/>
            <a:ext cx="201930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先影子运行，不影响生产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再报警提示，核对现场真值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最后受控联锁，保留回退开关</a:t>
            </a:r>
          </a:p>
          <a:p>
            <a:pPr algn="l">
              <a:lnSpc>
                <a:spcPct val="116000"/>
              </a:lnSpc>
              <a:buNone/>
              <a:def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CB1C6"/>
                </a:solidFill>
                <a:latin typeface="Microsoft YaHei"/>
                <a:ea typeface="Microsoft YaHei"/>
                <a:cs typeface="Microsoft YaHei"/>
              </a:rPr>
              <a:t>持续收敛节拍、阈值与长稳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A5A77EDD-CD3E-449C-B572-CE8807A273FB}"/>
              </a:ext>
            </a:extLst>
          </p:cNvPr>
          <p:cNvSpPr>
            <a:spLocks noGrp="1"/>
          </p:cNvSpPr>
          <p:nvPr/>
        </p:nvSpPr>
        <p:spPr>
          <a:xfrm>
            <a:off x="552450" y="4095750"/>
            <a:ext cx="11087100" cy="1447800"/>
          </a:xfrm>
          <a:prstGeom prst="roundRect">
            <a:avLst>
              <a:gd name="adj" fmla="val 7895"/>
            </a:avLst>
          </a:prstGeom>
          <a:solidFill>
            <a:srgbClr val="16344F"/>
          </a:solidFill>
          <a:ln w="19050">
            <a:solidFill>
              <a:srgbClr val="27C2E6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4E9951B-4BD2-400C-A461-5A9654B52DF3}"/>
              </a:ext>
            </a:extLst>
          </p:cNvPr>
          <p:cNvSpPr>
            <a:spLocks noGrp="1"/>
          </p:cNvSpPr>
          <p:nvPr/>
        </p:nvSpPr>
        <p:spPr>
          <a:xfrm>
            <a:off x="819150" y="43053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5683" lnSpcReduction="10000"/>
          </a:bodyPr>
          <a:lstStyle/>
          <a:p>
            <a:pPr algn="l">
              <a:lnSpc>
                <a:spcPct val="108000"/>
              </a:lnSpc>
              <a:buNone/>
              <a:defRPr sz="21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C2E6"/>
                </a:solidFill>
                <a:latin typeface="Microsoft YaHei"/>
                <a:ea typeface="Microsoft YaHei"/>
                <a:cs typeface="Microsoft YaHei"/>
              </a:rPr>
              <a:t>推荐方案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697C31C-DF9E-427D-9FE4-C42D9CF80B95}"/>
              </a:ext>
            </a:extLst>
          </p:cNvPr>
          <p:cNvSpPr>
            <a:spLocks noGrp="1"/>
          </p:cNvSpPr>
          <p:nvPr/>
        </p:nvSpPr>
        <p:spPr>
          <a:xfrm>
            <a:off x="2000250" y="4248150"/>
            <a:ext cx="92583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fontScale="90580"/>
          </a:bodyPr>
          <a:lstStyle/>
          <a:p>
            <a:pPr algn="l">
              <a:lnSpc>
                <a:spcPct val="120000"/>
              </a:lnSpc>
              <a:buNone/>
              <a:def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数据端集中管理排版日志与</a:t>
            </a:r>
            <a:r>
              <a:rPr sz="1725" b="1" dirty="0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1" dirty="0" err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TIFF，经万兆网按任务</a:t>
            </a:r>
            <a:r>
              <a:rPr sz="1725" b="1" dirty="0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725" b="1" dirty="0" err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版型预取到工控机NVMe缓存；同一版型只在首次或版本变化时传输</a:t>
            </a:r>
            <a:r>
              <a:rPr sz="1725" b="1" dirty="0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ct val="120000"/>
              </a:lnSpc>
              <a:buNone/>
              <a:defRPr sz="1725" b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不建议优先合并工位，避免</a:t>
            </a:r>
            <a:r>
              <a:rPr sz="1725" b="1" dirty="0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25" b="1" dirty="0" err="1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CPU、内存与磁盘争用；同时落实校验、版本、断网续用和自动清理</a:t>
            </a:r>
            <a:r>
              <a:rPr sz="1725" b="1" dirty="0">
                <a:solidFill>
                  <a:srgbClr val="F5F9FD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3F836103-24D3-4A11-A2CD-AFEFEDAD2408}"/>
              </a:ext>
            </a:extLst>
          </p:cNvPr>
          <p:cNvSpPr>
            <a:spLocks noGrp="1"/>
          </p:cNvSpPr>
          <p:nvPr/>
        </p:nvSpPr>
        <p:spPr>
          <a:xfrm>
            <a:off x="3276600" y="5753100"/>
            <a:ext cx="5638800" cy="285750"/>
          </a:xfrm>
          <a:prstGeom prst="roundRect">
            <a:avLst>
              <a:gd name="adj" fmla="val 40000"/>
            </a:avLst>
          </a:prstGeom>
          <a:solidFill>
            <a:srgbClr val="27C2E6"/>
          </a:solidFill>
          <a:ln w="0">
            <a:solidFill>
              <a:srgbClr val="27C2E6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B32BF03-B7E9-443E-9529-D8728970AE2E}"/>
              </a:ext>
            </a:extLst>
          </p:cNvPr>
          <p:cNvSpPr>
            <a:spLocks noGrp="1"/>
          </p:cNvSpPr>
          <p:nvPr/>
        </p:nvSpPr>
        <p:spPr>
          <a:xfrm>
            <a:off x="3276600" y="5762625"/>
            <a:ext cx="5638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71421"/>
                </a:solidFill>
                <a:latin typeface="Microsoft YaHei"/>
                <a:ea typeface="Microsoft YaHei"/>
                <a:cs typeface="Microsoft YaHei"/>
              </a:rPr>
              <a:t>上线关口：实验室验收 → 数据链路 → 接口联调 → 美国影子运行 → 受控闭环</a:t>
            </a:r>
          </a:p>
        </p:txBody>
      </p:sp>
    </p:spTree>
    <p:extLst>
      <p:ext uri="{BB962C8B-B14F-4D97-AF65-F5344CB8AC3E}">
        <p14:creationId xmlns:p14="http://schemas.microsoft.com/office/powerpoint/2010/main" val="19319898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2886</Words>
  <Application>Microsoft Office PowerPoint</Application>
  <DocSecurity>0</DocSecurity>
  <PresentationFormat>宽屏</PresentationFormat>
  <Paragraphs>631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7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杨凯歌</cp:lastModifiedBy>
  <cp:revision>6</cp:revision>
  <dcterms:created xsi:type="dcterms:W3CDTF">2026-08-04T03:58:04Z</dcterms:created>
  <dcterms:modified xsi:type="dcterms:W3CDTF">2026-08-05T03:17:12Z</dcterms:modified>
</cp:coreProperties>
</file>